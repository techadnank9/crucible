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do not read this slide. One line, then move.]
SAY: "This is Crucible."
Then go straight to the next slide. Five seconds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SAY: "AI has moved out of the chat window and into the decision. Diagnosis. Underwriting. Sentencing. Trade execution. It used to answer questions — now it makes calls."
PACE: One breath. Don't linger — the next slide is the punch.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 — SLOW DOWN. Three numbers, three beats.]
SAY: "Every year, diagnostic error kills or permanently disables seven hundred and ninety-five thousand Americans. It costs a hundred billion dollars. And as of January 2026, the FDA opened the door to AI making those diagnoses."
PACE: Pause after each number. The FDA date is the 'why now' — this is not a future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
SAY: "The FDA's safety net is clinician review. But clinicians defer to confident machines. And a single AI model is confidently wrong the same way a rushed doctor is — there's no one in the room to challenge it."
PACE: Pause on 'no one in the room.' That silence sets up the whole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the conceptual turn of the talk]
SAY: "Trust isn't produced by confidence. Trust is what survives disagreement. Every high-stakes human system already knows this — peer review, tumor boards, adversarial law, red teams. Medicine solved this socially. The tumor board exists because one radiologist alone isn't enough."
THEN: "We built the tumor board out of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START THE LIVE RUN NOW, then talk over it]
SAY: "This is Crucible. Give it any high-stakes decision — or a diagnostic report — and it builds its own expert team, then makes those agents argue over the answer before you ever see it."
ACTION: Hit submit on the live demo NOW. Do not wait for it. Keep talking through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 the run is executing while you narrate this]
SAY: "Watch what it's doing. It's designing the specialist team for this specific problem — nobody told it which experts to use. Now it's researching live. Writing a first answer. And now the part that matters — the attack."
KEY LINE, say it slowly: "The Attacker FAILS its task if it agrees. Disagreement isn't requested here. It's structural. You cannot get that from one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 use this slide only if the run is still going. It's your time-filler.]
SAY: "Three critics, and none of them can agree with each other. The Defender argues the answer is right. The Attacker has to prove it's wrong, quoting exact claims. The Skeptic has to find what both of them missed — and fails if it just repeats them."
IF ASKED 'why not one prompt?': these constraints are enforced at the task level, not requested.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 also a time-filler slide]
SAY: "Then a Judge rules which objections are real and which are noise. And critically, it can't just summarise the debate — it has to issue one concrete directive: fix this exact claim, change it to this. Then the answer gets rebuilt around that one objection."
NOTE: one rewrite pass, not an infinite loop. Say that if asked about cost or runtime.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
SAY: "And it doesn't just hand you the answer. A reliability auditor scores it zero to a hundred, and names the strongest claim and the weakest claim in the final answer."
IF A JUDGE ASKS 'is it calibrated?' — answer honestly: "Not yet. It's a reliability signal from a dedicated auditor, not a validated probability. Calibrating it against known outcomes is the next step." That honest answer earns more credit than a dodge.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 — THE slide. Everything builds to this.]
ACTION: Scroll to the rebuilt answer and the trust score in the live run.
SAY: "There. It caught that its own recommendation broke the user's hard constraint — and rebuilt the answer around the objection. Nobody prompted that. It found it by attacking itself."
PAUSE. Then, slowly: "Now swap 'budget' for 'the patient's biopsy result.' That's a caught misdiagnosis."
DISCIPLINE: say the SWAP line. Do not claim you caught a real cancer case — you caught a budget error. The swap is honest and lands just as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SAY: "You paste a report, or drop in a PDF. It pulls the text out server-side — and if it's a scan with no text layer, it tells you, rather than quietly guessing. Then an intake agent frames the problem: stated diagnosis, what supports it, what contradicts it, what's left open."
IMPORTANT: the disclaimer is on the slide and in the product. Point at it if a judge raises safety — it shows you thought about it before they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
SAY: "And you're not staring at a spinner. There's a live rail showing exactly where it is in the pipeline. When it lands, the trust score comes up with the strongest and weakest claim named, and the rebuilt answer underneath."
IF ASKED about the stack: Next.js front end, every crew call proxied server-side, token never reaches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 use only if a technical judge asks, or if you have spare time]
SAY: "The browser only ever talks to our own server. The bearer token lives in server-side environment variables and never reaches the client — so there's no CORS problem and nothing to leak."
The three bullets are the defensive-engineering answers. Use whichever one gets asked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 — this directly answers the judges' 'effective use of agents and models' note]
SAY: "Strong reasoning models where the thinking is hard — the Report Analyst, the Attacker, the Skeptic, the Judge. Lean models everywhere else. That's a deliberate cost and latency choice, and we can show you why: on a lean model the Judge rubber-stamped every single objection as valid. The debate went flat."
HONEST FOLLOW-UP if pressed: only one agent holds a tool — the Research Lead, with web search. The justification for ten agents is the adversarial structure, not tool count. Say that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 — Studio usage is 30% of the score. Make sure they SEE the canvas.]
ACTION: switch to the Studio canvas tab for 3–4 seconds.
SAY: "Ten agents, all wired on the Studio canvas — agents, tasks, context, and the model choice on each node. Deployed and live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
ACTION: show the second saved run with its different team.
SAY: "Same system, any problem. It built a completely different expert team for a sales question — automotive analysts for one, deal-risk assessors for the other. No reconfiguration between them."
This is what proves it isn't a hardcoded medical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only if you have spare time, or in Q&amp;A]
Do not read the table aloud. If you use it at all, say one line:
"It runs live, it stacks four patterns, and it's entirely built in Studio."
Then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 — optional, only if running long on time]
SAY: "The FDA's guidance assumes someone challenges the AI. Today, nobody does. This is that control — and the pattern generalises well past medicine."
DISCIPLINE: say 'a large share.' Do NOT put a fabricated preventable-harm number on screen or in the air. That's the exact stat a judge googles mid-pitch.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slide — leave it up while taking questions]
The calibration item is what technical judges care about most. Owning that the score is not yet calibrated buys you more credibility than any claim you could make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 — the last thing you say]
SAY: "The FDA's guidance assumes someone challenges the AI. Today, nobody does. Crucible is an AI that doubts itself on purpose — and that's the one thing that makes it safe to act."
THEN STOP TALKING. Do not add anything.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210"/>
        </a:solidFill>
      </p:bgPr>
    </p:bg>
    <p:spTree>
      <p:nvGrpSpPr>
        <p:cNvPr id="1" name=""/>
        <p:cNvGrpSpPr/>
        <p:nvPr/>
      </p:nvGrpSpPr>
      <p:grpSpPr>
        <a:xfrm>
          <a:off x="0" y="0"/>
          <a:ext cx="0" cy="0"/>
          <a:chOff x="0" y="0"/>
          <a:chExt cx="0" cy="0"/>
        </a:xfrm>
      </p:grpSpPr>
      <p:sp>
        <p:nvSpPr>
          <p:cNvPr id="2" name="Text 0"/>
          <p:cNvSpPr/>
          <p:nvPr/>
        </p:nvSpPr>
        <p:spPr>
          <a:xfrm>
            <a:off x="777240" y="1600200"/>
            <a:ext cx="10634472" cy="274320"/>
          </a:xfrm>
          <a:prstGeom prst="rect">
            <a:avLst/>
          </a:prstGeom>
          <a:noFill/>
          <a:ln/>
        </p:spPr>
        <p:txBody>
          <a:bodyPr wrap="square" lIns="0" tIns="0" rIns="0" bIns="0" rtlCol="0" anchor="ctr"/>
          <a:lstStyle/>
          <a:p>
            <a:pPr indent="0" marL="0">
              <a:buNone/>
            </a:pPr>
            <a:r>
              <a:rPr lang="en-US" sz="1000" b="1" spc="500" kern="0" dirty="0">
                <a:solidFill>
                  <a:srgbClr val="E2571F"/>
                </a:solidFill>
                <a:latin typeface="Courier New" pitchFamily="34" charset="0"/>
                <a:ea typeface="Courier New" pitchFamily="34" charset="-122"/>
                <a:cs typeface="Courier New" pitchFamily="34" charset="-120"/>
              </a:rPr>
              <a:t>CREWAI  ·  ADVERSARIAL MULTI-AGENT SYSTEM</a:t>
            </a:r>
            <a:endParaRPr lang="en-US" sz="1000" dirty="0"/>
          </a:p>
        </p:txBody>
      </p:sp>
      <p:sp>
        <p:nvSpPr>
          <p:cNvPr id="3" name="Text 1"/>
          <p:cNvSpPr/>
          <p:nvPr/>
        </p:nvSpPr>
        <p:spPr>
          <a:xfrm>
            <a:off x="777240" y="2057400"/>
            <a:ext cx="10634472" cy="1554480"/>
          </a:xfrm>
          <a:prstGeom prst="rect">
            <a:avLst/>
          </a:prstGeom>
          <a:noFill/>
          <a:ln/>
        </p:spPr>
        <p:txBody>
          <a:bodyPr wrap="square" lIns="0" tIns="0" rIns="0" bIns="0" rtlCol="0" anchor="ctr"/>
          <a:lstStyle/>
          <a:p>
            <a:pPr indent="0" marL="0">
              <a:buNone/>
            </a:pPr>
            <a:r>
              <a:rPr lang="en-US" sz="9600" b="1" dirty="0">
                <a:solidFill>
                  <a:srgbClr val="F3ECE2"/>
                </a:solidFill>
                <a:latin typeface="Bookman Old Style" pitchFamily="34" charset="0"/>
                <a:ea typeface="Bookman Old Style" pitchFamily="34" charset="-122"/>
                <a:cs typeface="Bookman Old Style" pitchFamily="34" charset="-120"/>
              </a:rPr>
              <a:t>CRUCIBLE</a:t>
            </a:r>
            <a:endParaRPr lang="en-US" sz="9600" dirty="0"/>
          </a:p>
        </p:txBody>
      </p:sp>
      <p:sp>
        <p:nvSpPr>
          <p:cNvPr id="4" name="Text 2"/>
          <p:cNvSpPr/>
          <p:nvPr/>
        </p:nvSpPr>
        <p:spPr>
          <a:xfrm>
            <a:off x="777240" y="3703320"/>
            <a:ext cx="7315200" cy="594360"/>
          </a:xfrm>
          <a:prstGeom prst="rect">
            <a:avLst/>
          </a:prstGeom>
          <a:noFill/>
          <a:ln/>
        </p:spPr>
        <p:txBody>
          <a:bodyPr wrap="square" lIns="0" tIns="0" rIns="0" bIns="0" rtlCol="0" anchor="ctr"/>
          <a:lstStyle/>
          <a:p>
            <a:pPr indent="0" marL="0">
              <a:buNone/>
            </a:pPr>
            <a:r>
              <a:rPr lang="en-US" sz="3000" i="1" dirty="0">
                <a:solidFill>
                  <a:srgbClr val="E2571F"/>
                </a:solidFill>
                <a:latin typeface="Bookman Old Style" pitchFamily="34" charset="0"/>
                <a:ea typeface="Bookman Old Style" pitchFamily="34" charset="-122"/>
                <a:cs typeface="Bookman Old Style" pitchFamily="34" charset="-120"/>
              </a:rPr>
              <a:t>Tested by fire.</a:t>
            </a:r>
            <a:endParaRPr lang="en-US" sz="3000" dirty="0"/>
          </a:p>
        </p:txBody>
      </p:sp>
      <p:sp>
        <p:nvSpPr>
          <p:cNvPr id="5" name="Text 3"/>
          <p:cNvSpPr/>
          <p:nvPr/>
        </p:nvSpPr>
        <p:spPr>
          <a:xfrm>
            <a:off x="777240" y="4526280"/>
            <a:ext cx="8778240" cy="548640"/>
          </a:xfrm>
          <a:prstGeom prst="rect">
            <a:avLst/>
          </a:prstGeom>
          <a:noFill/>
          <a:ln/>
        </p:spPr>
        <p:txBody>
          <a:bodyPr wrap="square" lIns="0" tIns="0" rIns="0" bIns="0" rtlCol="0" anchor="ctr"/>
          <a:lstStyle/>
          <a:p>
            <a:pPr indent="0" marL="0">
              <a:buNone/>
            </a:pPr>
            <a:r>
              <a:rPr lang="en-US" sz="1700" dirty="0">
                <a:solidFill>
                  <a:srgbClr val="9A8F86"/>
                </a:solidFill>
                <a:latin typeface="Calibri" pitchFamily="34" charset="0"/>
                <a:ea typeface="Calibri" pitchFamily="34" charset="-122"/>
                <a:cs typeface="Calibri" pitchFamily="34" charset="-120"/>
              </a:rPr>
              <a:t>An AI that argues with itself — and tells you how far to trust the result.</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210"/>
        </a:solidFill>
      </p:bgPr>
    </p:bg>
    <p:spTree>
      <p:nvGrpSpPr>
        <p:cNvPr id="1" name=""/>
        <p:cNvGrpSpPr/>
        <p:nvPr/>
      </p:nvGrpSpPr>
      <p:grpSpPr>
        <a:xfrm>
          <a:off x="0" y="0"/>
          <a:ext cx="0" cy="0"/>
          <a:chOff x="0" y="0"/>
          <a:chExt cx="0" cy="0"/>
        </a:xfrm>
      </p:grpSpPr>
      <p:sp>
        <p:nvSpPr>
          <p:cNvPr id="2" name="Text 0"/>
          <p:cNvSpPr/>
          <p:nvPr/>
        </p:nvSpPr>
        <p:spPr>
          <a:xfrm>
            <a:off x="10954512" y="6291072"/>
            <a:ext cx="548640" cy="237744"/>
          </a:xfrm>
          <a:prstGeom prst="rect">
            <a:avLst/>
          </a:prstGeom>
          <a:noFill/>
          <a:ln/>
        </p:spPr>
        <p:txBody>
          <a:bodyPr wrap="square" lIns="0" tIns="0" rIns="0" bIns="0" rtlCol="0" anchor="ctr"/>
          <a:lstStyle/>
          <a:p>
            <a:pPr algn="r" indent="0" marL="0">
              <a:buNone/>
            </a:pPr>
            <a:r>
              <a:rPr lang="en-US" sz="900" dirty="0">
                <a:solidFill>
                  <a:srgbClr val="9A8F86"/>
                </a:solidFill>
                <a:latin typeface="Courier New" pitchFamily="34" charset="0"/>
                <a:ea typeface="Courier New" pitchFamily="34" charset="-122"/>
                <a:cs typeface="Courier New" pitchFamily="34" charset="-120"/>
              </a:rPr>
              <a:t>01</a:t>
            </a:r>
            <a:endParaRPr lang="en-US" sz="900" dirty="0"/>
          </a:p>
        </p:txBody>
      </p:sp>
      <p:sp>
        <p:nvSpPr>
          <p:cNvPr id="3" name="Text 1"/>
          <p:cNvSpPr/>
          <p:nvPr/>
        </p:nvSpPr>
        <p:spPr>
          <a:xfrm>
            <a:off x="8348472" y="3657600"/>
            <a:ext cx="3291840" cy="2651760"/>
          </a:xfrm>
          <a:prstGeom prst="rect">
            <a:avLst/>
          </a:prstGeom>
          <a:noFill/>
          <a:ln/>
        </p:spPr>
        <p:txBody>
          <a:bodyPr wrap="square" lIns="0" tIns="0" rIns="0" bIns="0" rtlCol="0" anchor="ctr"/>
          <a:lstStyle/>
          <a:p>
            <a:pPr algn="r" indent="0" marL="0">
              <a:buNone/>
            </a:pPr>
            <a:r>
              <a:rPr lang="en-US" sz="15000" b="1" dirty="0">
                <a:solidFill>
                  <a:srgbClr val="1D1713"/>
                </a:solidFill>
                <a:latin typeface="Bookman Old Style" pitchFamily="34" charset="0"/>
                <a:ea typeface="Bookman Old Style" pitchFamily="34" charset="-122"/>
                <a:cs typeface="Bookman Old Style" pitchFamily="34" charset="-120"/>
              </a:rPr>
              <a:t>01</a:t>
            </a:r>
            <a:endParaRPr lang="en-US" sz="15000" dirty="0"/>
          </a:p>
        </p:txBody>
      </p:sp>
      <p:sp>
        <p:nvSpPr>
          <p:cNvPr id="4" name="Text 2"/>
          <p:cNvSpPr/>
          <p:nvPr/>
        </p:nvSpPr>
        <p:spPr>
          <a:xfrm>
            <a:off x="777240" y="475488"/>
            <a:ext cx="10634472" cy="237744"/>
          </a:xfrm>
          <a:prstGeom prst="rect">
            <a:avLst/>
          </a:prstGeom>
          <a:noFill/>
          <a:ln/>
        </p:spPr>
        <p:txBody>
          <a:bodyPr wrap="square" lIns="0" tIns="0" rIns="0" bIns="0" rtlCol="0" anchor="ctr"/>
          <a:lstStyle/>
          <a:p>
            <a:pPr indent="0" marL="0">
              <a:buNone/>
            </a:pPr>
            <a:r>
              <a:rPr lang="en-US" sz="950" b="1" spc="400" kern="0" dirty="0">
                <a:solidFill>
                  <a:srgbClr val="E2571F"/>
                </a:solidFill>
                <a:latin typeface="Courier New" pitchFamily="34" charset="0"/>
                <a:ea typeface="Courier New" pitchFamily="34" charset="-122"/>
                <a:cs typeface="Courier New" pitchFamily="34" charset="-120"/>
              </a:rPr>
              <a:t>THE SHIFT</a:t>
            </a:r>
            <a:endParaRPr lang="en-US" sz="950" dirty="0"/>
          </a:p>
        </p:txBody>
      </p:sp>
      <p:sp>
        <p:nvSpPr>
          <p:cNvPr id="5" name="Text 3"/>
          <p:cNvSpPr/>
          <p:nvPr/>
        </p:nvSpPr>
        <p:spPr>
          <a:xfrm>
            <a:off x="777240" y="896112"/>
            <a:ext cx="10634472" cy="1554480"/>
          </a:xfrm>
          <a:prstGeom prst="rect">
            <a:avLst/>
          </a:prstGeom>
          <a:noFill/>
          <a:ln/>
        </p:spPr>
        <p:txBody>
          <a:bodyPr wrap="square" lIns="0" tIns="0" rIns="0" bIns="0" rtlCol="0" anchor="t"/>
          <a:lstStyle/>
          <a:p>
            <a:pPr indent="0" marL="0">
              <a:lnSpc>
                <a:spcPts val="4600"/>
              </a:lnSpc>
              <a:buNone/>
            </a:pPr>
            <a:r>
              <a:rPr lang="en-US" sz="3400" b="1" dirty="0">
                <a:solidFill>
                  <a:srgbClr val="F3ECE2"/>
                </a:solidFill>
                <a:latin typeface="Bookman Old Style" pitchFamily="34" charset="0"/>
                <a:ea typeface="Bookman Old Style" pitchFamily="34" charset="-122"/>
                <a:cs typeface="Bookman Old Style" pitchFamily="34" charset="-120"/>
              </a:rPr>
              <a:t>AI has moved out of the chat window</a:t>
            </a:r>
            <a:endParaRPr lang="en-US" sz="3400" dirty="0"/>
          </a:p>
          <a:p>
            <a:pPr indent="0" marL="0">
              <a:lnSpc>
                <a:spcPts val="4600"/>
              </a:lnSpc>
              <a:buNone/>
            </a:pPr>
            <a:r>
              <a:rPr lang="en-US" sz="3400" b="1" dirty="0">
                <a:solidFill>
                  <a:srgbClr val="F3ECE2"/>
                </a:solidFill>
                <a:latin typeface="Bookman Old Style" pitchFamily="34" charset="0"/>
                <a:ea typeface="Bookman Old Style" pitchFamily="34" charset="-122"/>
                <a:cs typeface="Bookman Old Style" pitchFamily="34" charset="-120"/>
              </a:rPr>
              <a:t>and into the decision.</a:t>
            </a:r>
            <a:endParaRPr lang="en-US" sz="3400" dirty="0"/>
          </a:p>
        </p:txBody>
      </p:sp>
      <p:sp>
        <p:nvSpPr>
          <p:cNvPr id="6" name="Shape 4"/>
          <p:cNvSpPr/>
          <p:nvPr/>
        </p:nvSpPr>
        <p:spPr>
          <a:xfrm>
            <a:off x="777240" y="3246120"/>
            <a:ext cx="2404872" cy="1143000"/>
          </a:xfrm>
          <a:prstGeom prst="roundRect">
            <a:avLst>
              <a:gd name="adj" fmla="val 3200"/>
            </a:avLst>
          </a:prstGeom>
          <a:solidFill>
            <a:srgbClr val="221C18"/>
          </a:solidFill>
          <a:ln/>
          <a:effectLst>
            <a:outerShdw sx="100000" sy="100000" kx="0" ky="0" algn="bl" rotWithShape="0" blurRad="152400" dist="38100" dir="5400000">
              <a:srgbClr val="000000">
                <a:alpha val="28000"/>
              </a:srgbClr>
            </a:outerShdw>
          </a:effectLst>
        </p:spPr>
      </p:sp>
      <p:sp>
        <p:nvSpPr>
          <p:cNvPr id="7" name="Text 5"/>
          <p:cNvSpPr/>
          <p:nvPr/>
        </p:nvSpPr>
        <p:spPr>
          <a:xfrm>
            <a:off x="1033272" y="3246120"/>
            <a:ext cx="1947672" cy="1143000"/>
          </a:xfrm>
          <a:prstGeom prst="rect">
            <a:avLst/>
          </a:prstGeom>
          <a:noFill/>
          <a:ln/>
        </p:spPr>
        <p:txBody>
          <a:bodyPr wrap="square" lIns="0" tIns="0" rIns="0" bIns="0" rtlCol="0" anchor="ctr"/>
          <a:lstStyle/>
          <a:p>
            <a:pPr indent="0" marL="0">
              <a:buNone/>
            </a:pPr>
            <a:r>
              <a:rPr lang="en-US" sz="1700" b="1" dirty="0">
                <a:solidFill>
                  <a:srgbClr val="F3ECE2"/>
                </a:solidFill>
                <a:latin typeface="Calibri" pitchFamily="34" charset="0"/>
                <a:ea typeface="Calibri" pitchFamily="34" charset="-122"/>
                <a:cs typeface="Calibri" pitchFamily="34" charset="-120"/>
              </a:rPr>
              <a:t>Diagnosis</a:t>
            </a:r>
            <a:endParaRPr lang="en-US" sz="1700" dirty="0"/>
          </a:p>
        </p:txBody>
      </p:sp>
      <p:sp>
        <p:nvSpPr>
          <p:cNvPr id="8" name="Shape 6"/>
          <p:cNvSpPr/>
          <p:nvPr/>
        </p:nvSpPr>
        <p:spPr>
          <a:xfrm>
            <a:off x="3447288" y="3246120"/>
            <a:ext cx="2404872" cy="1143000"/>
          </a:xfrm>
          <a:prstGeom prst="roundRect">
            <a:avLst>
              <a:gd name="adj" fmla="val 3200"/>
            </a:avLst>
          </a:prstGeom>
          <a:solidFill>
            <a:srgbClr val="221C18"/>
          </a:solidFill>
          <a:ln/>
          <a:effectLst>
            <a:outerShdw sx="100000" sy="100000" kx="0" ky="0" algn="bl" rotWithShape="0" blurRad="152400" dist="38100" dir="5400000">
              <a:srgbClr val="000000">
                <a:alpha val="28000"/>
              </a:srgbClr>
            </a:outerShdw>
          </a:effectLst>
        </p:spPr>
      </p:sp>
      <p:sp>
        <p:nvSpPr>
          <p:cNvPr id="9" name="Text 7"/>
          <p:cNvSpPr/>
          <p:nvPr/>
        </p:nvSpPr>
        <p:spPr>
          <a:xfrm>
            <a:off x="3703320" y="3246120"/>
            <a:ext cx="1947672" cy="1143000"/>
          </a:xfrm>
          <a:prstGeom prst="rect">
            <a:avLst/>
          </a:prstGeom>
          <a:noFill/>
          <a:ln/>
        </p:spPr>
        <p:txBody>
          <a:bodyPr wrap="square" lIns="0" tIns="0" rIns="0" bIns="0" rtlCol="0" anchor="ctr"/>
          <a:lstStyle/>
          <a:p>
            <a:pPr indent="0" marL="0">
              <a:buNone/>
            </a:pPr>
            <a:r>
              <a:rPr lang="en-US" sz="1700" b="1" dirty="0">
                <a:solidFill>
                  <a:srgbClr val="F3ECE2"/>
                </a:solidFill>
                <a:latin typeface="Calibri" pitchFamily="34" charset="0"/>
                <a:ea typeface="Calibri" pitchFamily="34" charset="-122"/>
                <a:cs typeface="Calibri" pitchFamily="34" charset="-120"/>
              </a:rPr>
              <a:t>Underwriting</a:t>
            </a:r>
            <a:endParaRPr lang="en-US" sz="1700" dirty="0"/>
          </a:p>
        </p:txBody>
      </p:sp>
      <p:sp>
        <p:nvSpPr>
          <p:cNvPr id="10" name="Shape 8"/>
          <p:cNvSpPr/>
          <p:nvPr/>
        </p:nvSpPr>
        <p:spPr>
          <a:xfrm>
            <a:off x="6117336" y="3246120"/>
            <a:ext cx="2404872" cy="1143000"/>
          </a:xfrm>
          <a:prstGeom prst="roundRect">
            <a:avLst>
              <a:gd name="adj" fmla="val 3200"/>
            </a:avLst>
          </a:prstGeom>
          <a:solidFill>
            <a:srgbClr val="221C18"/>
          </a:solidFill>
          <a:ln/>
          <a:effectLst>
            <a:outerShdw sx="100000" sy="100000" kx="0" ky="0" algn="bl" rotWithShape="0" blurRad="152400" dist="38100" dir="5400000">
              <a:srgbClr val="000000">
                <a:alpha val="28000"/>
              </a:srgbClr>
            </a:outerShdw>
          </a:effectLst>
        </p:spPr>
      </p:sp>
      <p:sp>
        <p:nvSpPr>
          <p:cNvPr id="11" name="Text 9"/>
          <p:cNvSpPr/>
          <p:nvPr/>
        </p:nvSpPr>
        <p:spPr>
          <a:xfrm>
            <a:off x="6373368" y="3246120"/>
            <a:ext cx="1947672" cy="1143000"/>
          </a:xfrm>
          <a:prstGeom prst="rect">
            <a:avLst/>
          </a:prstGeom>
          <a:noFill/>
          <a:ln/>
        </p:spPr>
        <p:txBody>
          <a:bodyPr wrap="square" lIns="0" tIns="0" rIns="0" bIns="0" rtlCol="0" anchor="ctr"/>
          <a:lstStyle/>
          <a:p>
            <a:pPr indent="0" marL="0">
              <a:buNone/>
            </a:pPr>
            <a:r>
              <a:rPr lang="en-US" sz="1700" b="1" dirty="0">
                <a:solidFill>
                  <a:srgbClr val="F3ECE2"/>
                </a:solidFill>
                <a:latin typeface="Calibri" pitchFamily="34" charset="0"/>
                <a:ea typeface="Calibri" pitchFamily="34" charset="-122"/>
                <a:cs typeface="Calibri" pitchFamily="34" charset="-120"/>
              </a:rPr>
              <a:t>Sentencing</a:t>
            </a:r>
            <a:endParaRPr lang="en-US" sz="1700" dirty="0"/>
          </a:p>
        </p:txBody>
      </p:sp>
      <p:sp>
        <p:nvSpPr>
          <p:cNvPr id="12" name="Shape 10"/>
          <p:cNvSpPr/>
          <p:nvPr/>
        </p:nvSpPr>
        <p:spPr>
          <a:xfrm>
            <a:off x="8787384" y="3246120"/>
            <a:ext cx="2404872" cy="1143000"/>
          </a:xfrm>
          <a:prstGeom prst="roundRect">
            <a:avLst>
              <a:gd name="adj" fmla="val 3200"/>
            </a:avLst>
          </a:prstGeom>
          <a:solidFill>
            <a:srgbClr val="221C18"/>
          </a:solidFill>
          <a:ln/>
          <a:effectLst>
            <a:outerShdw sx="100000" sy="100000" kx="0" ky="0" algn="bl" rotWithShape="0" blurRad="152400" dist="38100" dir="5400000">
              <a:srgbClr val="000000">
                <a:alpha val="28000"/>
              </a:srgbClr>
            </a:outerShdw>
          </a:effectLst>
        </p:spPr>
      </p:sp>
      <p:sp>
        <p:nvSpPr>
          <p:cNvPr id="13" name="Text 11"/>
          <p:cNvSpPr/>
          <p:nvPr/>
        </p:nvSpPr>
        <p:spPr>
          <a:xfrm>
            <a:off x="9043416" y="3246120"/>
            <a:ext cx="1947672" cy="1143000"/>
          </a:xfrm>
          <a:prstGeom prst="rect">
            <a:avLst/>
          </a:prstGeom>
          <a:noFill/>
          <a:ln/>
        </p:spPr>
        <p:txBody>
          <a:bodyPr wrap="square" lIns="0" tIns="0" rIns="0" bIns="0" rtlCol="0" anchor="ctr"/>
          <a:lstStyle/>
          <a:p>
            <a:pPr indent="0" marL="0">
              <a:buNone/>
            </a:pPr>
            <a:r>
              <a:rPr lang="en-US" sz="1700" b="1" dirty="0">
                <a:solidFill>
                  <a:srgbClr val="F3ECE2"/>
                </a:solidFill>
                <a:latin typeface="Calibri" pitchFamily="34" charset="0"/>
                <a:ea typeface="Calibri" pitchFamily="34" charset="-122"/>
                <a:cs typeface="Calibri" pitchFamily="34" charset="-120"/>
              </a:rPr>
              <a:t>Trade execution</a:t>
            </a:r>
            <a:endParaRPr lang="en-US" sz="1700" dirty="0"/>
          </a:p>
        </p:txBody>
      </p:sp>
      <p:sp>
        <p:nvSpPr>
          <p:cNvPr id="14" name="Text 12"/>
          <p:cNvSpPr/>
          <p:nvPr/>
        </p:nvSpPr>
        <p:spPr>
          <a:xfrm>
            <a:off x="777240" y="4892040"/>
            <a:ext cx="10634472" cy="365760"/>
          </a:xfrm>
          <a:prstGeom prst="rect">
            <a:avLst/>
          </a:prstGeom>
          <a:noFill/>
          <a:ln/>
        </p:spPr>
        <p:txBody>
          <a:bodyPr wrap="square" lIns="0" tIns="0" rIns="0" bIns="0" rtlCol="0" anchor="ctr"/>
          <a:lstStyle/>
          <a:p>
            <a:pPr indent="0" marL="0">
              <a:buNone/>
            </a:pPr>
            <a:r>
              <a:rPr lang="en-US" sz="1500" i="1" dirty="0">
                <a:solidFill>
                  <a:srgbClr val="9A8F86"/>
                </a:solidFill>
                <a:latin typeface="Calibri" pitchFamily="34" charset="0"/>
                <a:ea typeface="Calibri" pitchFamily="34" charset="-122"/>
                <a:cs typeface="Calibri" pitchFamily="34" charset="-120"/>
              </a:rPr>
              <a:t>It used to answer questions. Now it makes calls.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210"/>
        </a:solidFill>
      </p:bgPr>
    </p:bg>
    <p:spTree>
      <p:nvGrpSpPr>
        <p:cNvPr id="1" name=""/>
        <p:cNvGrpSpPr/>
        <p:nvPr/>
      </p:nvGrpSpPr>
      <p:grpSpPr>
        <a:xfrm>
          <a:off x="0" y="0"/>
          <a:ext cx="0" cy="0"/>
          <a:chOff x="0" y="0"/>
          <a:chExt cx="0" cy="0"/>
        </a:xfrm>
      </p:grpSpPr>
      <p:sp>
        <p:nvSpPr>
          <p:cNvPr id="2" name="Text 0"/>
          <p:cNvSpPr/>
          <p:nvPr/>
        </p:nvSpPr>
        <p:spPr>
          <a:xfrm>
            <a:off x="10954512" y="6291072"/>
            <a:ext cx="548640" cy="237744"/>
          </a:xfrm>
          <a:prstGeom prst="rect">
            <a:avLst/>
          </a:prstGeom>
          <a:noFill/>
          <a:ln/>
        </p:spPr>
        <p:txBody>
          <a:bodyPr wrap="square" lIns="0" tIns="0" rIns="0" bIns="0" rtlCol="0" anchor="ctr"/>
          <a:lstStyle/>
          <a:p>
            <a:pPr algn="r" indent="0" marL="0">
              <a:buNone/>
            </a:pPr>
            <a:r>
              <a:rPr lang="en-US" sz="900" dirty="0">
                <a:solidFill>
                  <a:srgbClr val="9A8F86"/>
                </a:solidFill>
                <a:latin typeface="Courier New" pitchFamily="34" charset="0"/>
                <a:ea typeface="Courier New" pitchFamily="34" charset="-122"/>
                <a:cs typeface="Courier New" pitchFamily="34" charset="-120"/>
              </a:rPr>
              <a:t>02</a:t>
            </a:r>
            <a:endParaRPr lang="en-US" sz="900" dirty="0"/>
          </a:p>
        </p:txBody>
      </p:sp>
      <p:sp>
        <p:nvSpPr>
          <p:cNvPr id="3" name="Text 1"/>
          <p:cNvSpPr/>
          <p:nvPr/>
        </p:nvSpPr>
        <p:spPr>
          <a:xfrm>
            <a:off x="777240" y="475488"/>
            <a:ext cx="10634472" cy="237744"/>
          </a:xfrm>
          <a:prstGeom prst="rect">
            <a:avLst/>
          </a:prstGeom>
          <a:noFill/>
          <a:ln/>
        </p:spPr>
        <p:txBody>
          <a:bodyPr wrap="square" lIns="0" tIns="0" rIns="0" bIns="0" rtlCol="0" anchor="ctr"/>
          <a:lstStyle/>
          <a:p>
            <a:pPr indent="0" marL="0">
              <a:buNone/>
            </a:pPr>
            <a:r>
              <a:rPr lang="en-US" sz="950" b="1" spc="400" kern="0" dirty="0">
                <a:solidFill>
                  <a:srgbClr val="E2571F"/>
                </a:solidFill>
                <a:latin typeface="Courier New" pitchFamily="34" charset="0"/>
                <a:ea typeface="Courier New" pitchFamily="34" charset="-122"/>
                <a:cs typeface="Courier New" pitchFamily="34" charset="-120"/>
              </a:rPr>
              <a:t>THE PROBLEM</a:t>
            </a:r>
            <a:endParaRPr lang="en-US" sz="950" dirty="0"/>
          </a:p>
        </p:txBody>
      </p:sp>
      <p:sp>
        <p:nvSpPr>
          <p:cNvPr id="4" name="Text 2"/>
          <p:cNvSpPr/>
          <p:nvPr/>
        </p:nvSpPr>
        <p:spPr>
          <a:xfrm>
            <a:off x="777240" y="896112"/>
            <a:ext cx="10634472" cy="914400"/>
          </a:xfrm>
          <a:prstGeom prst="rect">
            <a:avLst/>
          </a:prstGeom>
          <a:noFill/>
          <a:ln/>
        </p:spPr>
        <p:txBody>
          <a:bodyPr wrap="square" lIns="0" tIns="0" rIns="0" bIns="0" rtlCol="0" anchor="t"/>
          <a:lstStyle/>
          <a:p>
            <a:pPr indent="0" marL="0">
              <a:buNone/>
            </a:pPr>
            <a:r>
              <a:rPr lang="en-US" sz="3600" b="1" dirty="0">
                <a:solidFill>
                  <a:srgbClr val="F3ECE2"/>
                </a:solidFill>
                <a:latin typeface="Bookman Old Style" pitchFamily="34" charset="0"/>
                <a:ea typeface="Bookman Old Style" pitchFamily="34" charset="-122"/>
                <a:cs typeface="Bookman Old Style" pitchFamily="34" charset="-120"/>
              </a:rPr>
              <a:t>The deadliest mistake in medicine</a:t>
            </a:r>
            <a:endParaRPr lang="en-US" sz="3600" dirty="0"/>
          </a:p>
        </p:txBody>
      </p:sp>
      <p:sp>
        <p:nvSpPr>
          <p:cNvPr id="5" name="Shape 3"/>
          <p:cNvSpPr/>
          <p:nvPr/>
        </p:nvSpPr>
        <p:spPr>
          <a:xfrm>
            <a:off x="777240" y="2240280"/>
            <a:ext cx="3319272" cy="2423160"/>
          </a:xfrm>
          <a:prstGeom prst="roundRect">
            <a:avLst>
              <a:gd name="adj" fmla="val 1509"/>
            </a:avLst>
          </a:prstGeom>
          <a:solidFill>
            <a:srgbClr val="E2571F"/>
          </a:solidFill>
          <a:ln/>
          <a:effectLst>
            <a:outerShdw sx="100000" sy="100000" kx="0" ky="0" algn="bl" rotWithShape="0" blurRad="152400" dist="38100" dir="5400000">
              <a:srgbClr val="000000">
                <a:alpha val="28000"/>
              </a:srgbClr>
            </a:outerShdw>
          </a:effectLst>
        </p:spPr>
      </p:sp>
      <p:sp>
        <p:nvSpPr>
          <p:cNvPr id="6" name="Text 4"/>
          <p:cNvSpPr/>
          <p:nvPr/>
        </p:nvSpPr>
        <p:spPr>
          <a:xfrm>
            <a:off x="1069848" y="2560320"/>
            <a:ext cx="2734056" cy="868680"/>
          </a:xfrm>
          <a:prstGeom prst="rect">
            <a:avLst/>
          </a:prstGeom>
          <a:noFill/>
          <a:ln/>
        </p:spPr>
        <p:txBody>
          <a:bodyPr wrap="square" lIns="0" tIns="0" rIns="0" bIns="0" rtlCol="0" anchor="ctr"/>
          <a:lstStyle/>
          <a:p>
            <a:pPr indent="0" marL="0">
              <a:buNone/>
            </a:pPr>
            <a:r>
              <a:rPr lang="en-US" sz="3800" b="1" dirty="0">
                <a:solidFill>
                  <a:srgbClr val="F3ECE2"/>
                </a:solidFill>
                <a:latin typeface="Bookman Old Style" pitchFamily="34" charset="0"/>
                <a:ea typeface="Bookman Old Style" pitchFamily="34" charset="-122"/>
                <a:cs typeface="Bookman Old Style" pitchFamily="34" charset="-120"/>
              </a:rPr>
              <a:t>795,000</a:t>
            </a:r>
            <a:endParaRPr lang="en-US" sz="3800" dirty="0"/>
          </a:p>
        </p:txBody>
      </p:sp>
      <p:sp>
        <p:nvSpPr>
          <p:cNvPr id="7" name="Text 5"/>
          <p:cNvSpPr/>
          <p:nvPr/>
        </p:nvSpPr>
        <p:spPr>
          <a:xfrm>
            <a:off x="1069848" y="3520440"/>
            <a:ext cx="2734056" cy="914400"/>
          </a:xfrm>
          <a:prstGeom prst="rect">
            <a:avLst/>
          </a:prstGeom>
          <a:noFill/>
          <a:ln/>
        </p:spPr>
        <p:txBody>
          <a:bodyPr wrap="square" lIns="0" tIns="0" rIns="0" bIns="0" rtlCol="0" anchor="ctr"/>
          <a:lstStyle/>
          <a:p>
            <a:pPr indent="0" marL="0">
              <a:lnSpc>
                <a:spcPts val="1800"/>
              </a:lnSpc>
              <a:buNone/>
            </a:pPr>
            <a:r>
              <a:rPr lang="en-US" sz="1250" dirty="0">
                <a:solidFill>
                  <a:srgbClr val="F6DDD0"/>
                </a:solidFill>
                <a:latin typeface="Calibri" pitchFamily="34" charset="0"/>
                <a:ea typeface="Calibri" pitchFamily="34" charset="-122"/>
                <a:cs typeface="Calibri" pitchFamily="34" charset="-120"/>
              </a:rPr>
              <a:t>Americans killed or permanently disabled</a:t>
            </a:r>
            <a:endParaRPr lang="en-US" sz="1250" dirty="0"/>
          </a:p>
          <a:p>
            <a:pPr indent="0" marL="0">
              <a:lnSpc>
                <a:spcPts val="1800"/>
              </a:lnSpc>
              <a:buNone/>
            </a:pPr>
            <a:r>
              <a:rPr lang="en-US" sz="1250" dirty="0">
                <a:solidFill>
                  <a:srgbClr val="F6DDD0"/>
                </a:solidFill>
                <a:latin typeface="Calibri" pitchFamily="34" charset="0"/>
                <a:ea typeface="Calibri" pitchFamily="34" charset="-122"/>
                <a:cs typeface="Calibri" pitchFamily="34" charset="-120"/>
              </a:rPr>
              <a:t>every year by diagnostic error</a:t>
            </a:r>
            <a:endParaRPr lang="en-US" sz="1250" dirty="0"/>
          </a:p>
        </p:txBody>
      </p:sp>
      <p:sp>
        <p:nvSpPr>
          <p:cNvPr id="8" name="Shape 6"/>
          <p:cNvSpPr/>
          <p:nvPr/>
        </p:nvSpPr>
        <p:spPr>
          <a:xfrm>
            <a:off x="4434840" y="2240280"/>
            <a:ext cx="3319272" cy="2423160"/>
          </a:xfrm>
          <a:prstGeom prst="roundRect">
            <a:avLst>
              <a:gd name="adj" fmla="val 1509"/>
            </a:avLst>
          </a:prstGeom>
          <a:solidFill>
            <a:srgbClr val="221C18"/>
          </a:solidFill>
          <a:ln/>
          <a:effectLst>
            <a:outerShdw sx="100000" sy="100000" kx="0" ky="0" algn="bl" rotWithShape="0" blurRad="152400" dist="38100" dir="5400000">
              <a:srgbClr val="000000">
                <a:alpha val="28000"/>
              </a:srgbClr>
            </a:outerShdw>
          </a:effectLst>
        </p:spPr>
      </p:sp>
      <p:sp>
        <p:nvSpPr>
          <p:cNvPr id="9" name="Text 7"/>
          <p:cNvSpPr/>
          <p:nvPr/>
        </p:nvSpPr>
        <p:spPr>
          <a:xfrm>
            <a:off x="4727448" y="2560320"/>
            <a:ext cx="2734056" cy="868680"/>
          </a:xfrm>
          <a:prstGeom prst="rect">
            <a:avLst/>
          </a:prstGeom>
          <a:noFill/>
          <a:ln/>
        </p:spPr>
        <p:txBody>
          <a:bodyPr wrap="square" lIns="0" tIns="0" rIns="0" bIns="0" rtlCol="0" anchor="ctr"/>
          <a:lstStyle/>
          <a:p>
            <a:pPr indent="0" marL="0">
              <a:buNone/>
            </a:pPr>
            <a:r>
              <a:rPr lang="en-US" sz="3800" b="1" dirty="0">
                <a:solidFill>
                  <a:srgbClr val="F3ECE2"/>
                </a:solidFill>
                <a:latin typeface="Bookman Old Style" pitchFamily="34" charset="0"/>
                <a:ea typeface="Bookman Old Style" pitchFamily="34" charset="-122"/>
                <a:cs typeface="Bookman Old Style" pitchFamily="34" charset="-120"/>
              </a:rPr>
              <a:t>$100B+</a:t>
            </a:r>
            <a:endParaRPr lang="en-US" sz="3800" dirty="0"/>
          </a:p>
        </p:txBody>
      </p:sp>
      <p:sp>
        <p:nvSpPr>
          <p:cNvPr id="10" name="Text 8"/>
          <p:cNvSpPr/>
          <p:nvPr/>
        </p:nvSpPr>
        <p:spPr>
          <a:xfrm>
            <a:off x="4727448" y="3520440"/>
            <a:ext cx="2734056" cy="914400"/>
          </a:xfrm>
          <a:prstGeom prst="rect">
            <a:avLst/>
          </a:prstGeom>
          <a:noFill/>
          <a:ln/>
        </p:spPr>
        <p:txBody>
          <a:bodyPr wrap="square" lIns="0" tIns="0" rIns="0" bIns="0" rtlCol="0" anchor="ctr"/>
          <a:lstStyle/>
          <a:p>
            <a:pPr indent="0" marL="0">
              <a:lnSpc>
                <a:spcPts val="1800"/>
              </a:lnSpc>
              <a:buNone/>
            </a:pPr>
            <a:r>
              <a:rPr lang="en-US" sz="1250" dirty="0">
                <a:solidFill>
                  <a:srgbClr val="9A8F86"/>
                </a:solidFill>
                <a:latin typeface="Calibri" pitchFamily="34" charset="0"/>
                <a:ea typeface="Calibri" pitchFamily="34" charset="-122"/>
                <a:cs typeface="Calibri" pitchFamily="34" charset="-120"/>
              </a:rPr>
              <a:t>Annual cost to U.S. healthcare</a:t>
            </a:r>
            <a:endParaRPr lang="en-US" sz="1250" dirty="0"/>
          </a:p>
        </p:txBody>
      </p:sp>
      <p:sp>
        <p:nvSpPr>
          <p:cNvPr id="11" name="Shape 9"/>
          <p:cNvSpPr/>
          <p:nvPr/>
        </p:nvSpPr>
        <p:spPr>
          <a:xfrm>
            <a:off x="8092440" y="2240280"/>
            <a:ext cx="3319272" cy="2423160"/>
          </a:xfrm>
          <a:prstGeom prst="roundRect">
            <a:avLst>
              <a:gd name="adj" fmla="val 1509"/>
            </a:avLst>
          </a:prstGeom>
          <a:solidFill>
            <a:srgbClr val="221C18"/>
          </a:solidFill>
          <a:ln/>
          <a:effectLst>
            <a:outerShdw sx="100000" sy="100000" kx="0" ky="0" algn="bl" rotWithShape="0" blurRad="152400" dist="38100" dir="5400000">
              <a:srgbClr val="000000">
                <a:alpha val="28000"/>
              </a:srgbClr>
            </a:outerShdw>
          </a:effectLst>
        </p:spPr>
      </p:sp>
      <p:sp>
        <p:nvSpPr>
          <p:cNvPr id="12" name="Text 10"/>
          <p:cNvSpPr/>
          <p:nvPr/>
        </p:nvSpPr>
        <p:spPr>
          <a:xfrm>
            <a:off x="8385048" y="2560320"/>
            <a:ext cx="2734056" cy="868680"/>
          </a:xfrm>
          <a:prstGeom prst="rect">
            <a:avLst/>
          </a:prstGeom>
          <a:noFill/>
          <a:ln/>
        </p:spPr>
        <p:txBody>
          <a:bodyPr wrap="square" lIns="0" tIns="0" rIns="0" bIns="0" rtlCol="0" anchor="ctr"/>
          <a:lstStyle/>
          <a:p>
            <a:pPr indent="0" marL="0">
              <a:buNone/>
            </a:pPr>
            <a:r>
              <a:rPr lang="en-US" sz="3800" b="1" dirty="0">
                <a:solidFill>
                  <a:srgbClr val="F3ECE2"/>
                </a:solidFill>
                <a:latin typeface="Bookman Old Style" pitchFamily="34" charset="0"/>
                <a:ea typeface="Bookman Old Style" pitchFamily="34" charset="-122"/>
                <a:cs typeface="Bookman Old Style" pitchFamily="34" charset="-120"/>
              </a:rPr>
              <a:t>Jan 2026</a:t>
            </a:r>
            <a:endParaRPr lang="en-US" sz="3800" dirty="0"/>
          </a:p>
        </p:txBody>
      </p:sp>
      <p:sp>
        <p:nvSpPr>
          <p:cNvPr id="13" name="Text 11"/>
          <p:cNvSpPr/>
          <p:nvPr/>
        </p:nvSpPr>
        <p:spPr>
          <a:xfrm>
            <a:off x="8385048" y="3520440"/>
            <a:ext cx="2734056" cy="914400"/>
          </a:xfrm>
          <a:prstGeom prst="rect">
            <a:avLst/>
          </a:prstGeom>
          <a:noFill/>
          <a:ln/>
        </p:spPr>
        <p:txBody>
          <a:bodyPr wrap="square" lIns="0" tIns="0" rIns="0" bIns="0" rtlCol="0" anchor="ctr"/>
          <a:lstStyle/>
          <a:p>
            <a:pPr indent="0" marL="0">
              <a:lnSpc>
                <a:spcPts val="1800"/>
              </a:lnSpc>
              <a:buNone/>
            </a:pPr>
            <a:r>
              <a:rPr lang="en-US" sz="1250" dirty="0">
                <a:solidFill>
                  <a:srgbClr val="9A8F86"/>
                </a:solidFill>
                <a:latin typeface="Calibri" pitchFamily="34" charset="0"/>
                <a:ea typeface="Calibri" pitchFamily="34" charset="-122"/>
                <a:cs typeface="Calibri" pitchFamily="34" charset="-120"/>
              </a:rPr>
              <a:t>FDA loosened oversight of AI clinical</a:t>
            </a:r>
            <a:endParaRPr lang="en-US" sz="1250" dirty="0"/>
          </a:p>
          <a:p>
            <a:pPr indent="0" marL="0">
              <a:lnSpc>
                <a:spcPts val="1800"/>
              </a:lnSpc>
              <a:buNone/>
            </a:pPr>
            <a:r>
              <a:rPr lang="en-US" sz="1250" dirty="0">
                <a:solidFill>
                  <a:srgbClr val="9A8F86"/>
                </a:solidFill>
                <a:latin typeface="Calibri" pitchFamily="34" charset="0"/>
                <a:ea typeface="Calibri" pitchFamily="34" charset="-122"/>
                <a:cs typeface="Calibri" pitchFamily="34" charset="-120"/>
              </a:rPr>
              <a:t>decision support</a:t>
            </a:r>
            <a:endParaRPr lang="en-US" sz="1250" dirty="0"/>
          </a:p>
        </p:txBody>
      </p:sp>
      <p:sp>
        <p:nvSpPr>
          <p:cNvPr id="14" name="Text 12"/>
          <p:cNvSpPr/>
          <p:nvPr/>
        </p:nvSpPr>
        <p:spPr>
          <a:xfrm>
            <a:off x="777240" y="4983480"/>
            <a:ext cx="10634472" cy="274320"/>
          </a:xfrm>
          <a:prstGeom prst="rect">
            <a:avLst/>
          </a:prstGeom>
          <a:noFill/>
          <a:ln/>
        </p:spPr>
        <p:txBody>
          <a:bodyPr wrap="square" lIns="0" tIns="0" rIns="0" bIns="0" rtlCol="0" anchor="ctr"/>
          <a:lstStyle/>
          <a:p>
            <a:pPr indent="0" marL="0">
              <a:buNone/>
            </a:pPr>
            <a:r>
              <a:rPr lang="en-US" sz="950" dirty="0">
                <a:solidFill>
                  <a:srgbClr val="9A8F86"/>
                </a:solidFill>
                <a:latin typeface="Courier New" pitchFamily="34" charset="0"/>
                <a:ea typeface="Courier New" pitchFamily="34" charset="-122"/>
                <a:cs typeface="Courier New" pitchFamily="34" charset="-120"/>
              </a:rPr>
              <a:t>BMJ Quality &amp; Safety / Johns Hopkins, 2023  ·  AHRQ</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CE2"/>
        </a:solidFill>
      </p:bgPr>
    </p:bg>
    <p:spTree>
      <p:nvGrpSpPr>
        <p:cNvPr id="1" name=""/>
        <p:cNvGrpSpPr/>
        <p:nvPr/>
      </p:nvGrpSpPr>
      <p:grpSpPr>
        <a:xfrm>
          <a:off x="0" y="0"/>
          <a:ext cx="0" cy="0"/>
          <a:chOff x="0" y="0"/>
          <a:chExt cx="0" cy="0"/>
        </a:xfrm>
      </p:grpSpPr>
      <p:sp>
        <p:nvSpPr>
          <p:cNvPr id="2" name="Text 0"/>
          <p:cNvSpPr/>
          <p:nvPr/>
        </p:nvSpPr>
        <p:spPr>
          <a:xfrm>
            <a:off x="10954512" y="6291072"/>
            <a:ext cx="548640" cy="237744"/>
          </a:xfrm>
          <a:prstGeom prst="rect">
            <a:avLst/>
          </a:prstGeom>
          <a:noFill/>
          <a:ln/>
        </p:spPr>
        <p:txBody>
          <a:bodyPr wrap="square" lIns="0" tIns="0" rIns="0" bIns="0" rtlCol="0" anchor="ctr"/>
          <a:lstStyle/>
          <a:p>
            <a:pPr algn="r" indent="0" marL="0">
              <a:buNone/>
            </a:pPr>
            <a:r>
              <a:rPr lang="en-US" sz="900" dirty="0">
                <a:solidFill>
                  <a:srgbClr val="7A6E64"/>
                </a:solidFill>
                <a:latin typeface="Courier New" pitchFamily="34" charset="0"/>
                <a:ea typeface="Courier New" pitchFamily="34" charset="-122"/>
                <a:cs typeface="Courier New" pitchFamily="34" charset="-120"/>
              </a:rPr>
              <a:t>03</a:t>
            </a:r>
            <a:endParaRPr lang="en-US" sz="900" dirty="0"/>
          </a:p>
        </p:txBody>
      </p:sp>
      <p:sp>
        <p:nvSpPr>
          <p:cNvPr id="3" name="Text 1"/>
          <p:cNvSpPr/>
          <p:nvPr/>
        </p:nvSpPr>
        <p:spPr>
          <a:xfrm>
            <a:off x="777240" y="475488"/>
            <a:ext cx="10634472" cy="237744"/>
          </a:xfrm>
          <a:prstGeom prst="rect">
            <a:avLst/>
          </a:prstGeom>
          <a:noFill/>
          <a:ln/>
        </p:spPr>
        <p:txBody>
          <a:bodyPr wrap="square" lIns="0" tIns="0" rIns="0" bIns="0" rtlCol="0" anchor="ctr"/>
          <a:lstStyle/>
          <a:p>
            <a:pPr indent="0" marL="0">
              <a:buNone/>
            </a:pPr>
            <a:r>
              <a:rPr lang="en-US" sz="950" b="1" spc="400" kern="0" dirty="0">
                <a:solidFill>
                  <a:srgbClr val="E2571F"/>
                </a:solidFill>
                <a:latin typeface="Courier New" pitchFamily="34" charset="0"/>
                <a:ea typeface="Courier New" pitchFamily="34" charset="-122"/>
                <a:cs typeface="Courier New" pitchFamily="34" charset="-120"/>
              </a:rPr>
              <a:t>THE DANGEROUS GAP</a:t>
            </a:r>
            <a:endParaRPr lang="en-US" sz="950" dirty="0"/>
          </a:p>
        </p:txBody>
      </p:sp>
      <p:sp>
        <p:nvSpPr>
          <p:cNvPr id="4" name="Text 2"/>
          <p:cNvSpPr/>
          <p:nvPr/>
        </p:nvSpPr>
        <p:spPr>
          <a:xfrm>
            <a:off x="777240" y="896112"/>
            <a:ext cx="10634472" cy="1463040"/>
          </a:xfrm>
          <a:prstGeom prst="rect">
            <a:avLst/>
          </a:prstGeom>
          <a:noFill/>
          <a:ln/>
        </p:spPr>
        <p:txBody>
          <a:bodyPr wrap="square" lIns="0" tIns="0" rIns="0" bIns="0" rtlCol="0" anchor="t"/>
          <a:lstStyle/>
          <a:p>
            <a:pPr indent="0" marL="0">
              <a:lnSpc>
                <a:spcPts val="4600"/>
              </a:lnSpc>
              <a:buNone/>
            </a:pPr>
            <a:r>
              <a:rPr lang="en-US" sz="3600" b="1" dirty="0">
                <a:solidFill>
                  <a:srgbClr val="161210"/>
                </a:solidFill>
                <a:latin typeface="Bookman Old Style" pitchFamily="34" charset="0"/>
                <a:ea typeface="Bookman Old Style" pitchFamily="34" charset="-122"/>
                <a:cs typeface="Bookman Old Style" pitchFamily="34" charset="-120"/>
              </a:rPr>
              <a:t>The safety net assumes</a:t>
            </a:r>
            <a:endParaRPr lang="en-US" sz="3600" dirty="0"/>
          </a:p>
          <a:p>
            <a:pPr indent="0" marL="0">
              <a:lnSpc>
                <a:spcPts val="4600"/>
              </a:lnSpc>
              <a:buNone/>
            </a:pPr>
            <a:r>
              <a:rPr lang="en-US" sz="3600" b="1" dirty="0">
                <a:solidFill>
                  <a:srgbClr val="161210"/>
                </a:solidFill>
                <a:latin typeface="Bookman Old Style" pitchFamily="34" charset="0"/>
                <a:ea typeface="Bookman Old Style" pitchFamily="34" charset="-122"/>
                <a:cs typeface="Bookman Old Style" pitchFamily="34" charset="-120"/>
              </a:rPr>
              <a:t>someone pushes back.</a:t>
            </a:r>
            <a:endParaRPr lang="en-US" sz="3600" dirty="0"/>
          </a:p>
        </p:txBody>
      </p:sp>
      <p:sp>
        <p:nvSpPr>
          <p:cNvPr id="5" name="Shape 3"/>
          <p:cNvSpPr/>
          <p:nvPr/>
        </p:nvSpPr>
        <p:spPr>
          <a:xfrm>
            <a:off x="777240" y="2971800"/>
            <a:ext cx="5120640" cy="2148840"/>
          </a:xfrm>
          <a:prstGeom prst="roundRect">
            <a:avLst>
              <a:gd name="adj" fmla="val 1702"/>
            </a:avLst>
          </a:prstGeom>
          <a:solidFill>
            <a:srgbClr val="E6DBCB"/>
          </a:solidFill>
          <a:ln/>
          <a:effectLst>
            <a:outerShdw sx="100000" sy="100000" kx="0" ky="0" algn="bl" rotWithShape="0" blurRad="152400" dist="38100" dir="5400000">
              <a:srgbClr val="000000">
                <a:alpha val="16000"/>
              </a:srgbClr>
            </a:outerShdw>
          </a:effectLst>
        </p:spPr>
      </p:sp>
      <p:sp>
        <p:nvSpPr>
          <p:cNvPr id="6" name="Text 4"/>
          <p:cNvSpPr/>
          <p:nvPr/>
        </p:nvSpPr>
        <p:spPr>
          <a:xfrm>
            <a:off x="1088136" y="3246120"/>
            <a:ext cx="4498848" cy="237744"/>
          </a:xfrm>
          <a:prstGeom prst="rect">
            <a:avLst/>
          </a:prstGeom>
          <a:noFill/>
          <a:ln/>
        </p:spPr>
        <p:txBody>
          <a:bodyPr wrap="square" lIns="0" tIns="0" rIns="0" bIns="0" rtlCol="0" anchor="ctr"/>
          <a:lstStyle/>
          <a:p>
            <a:pPr indent="0" marL="0">
              <a:buNone/>
            </a:pPr>
            <a:r>
              <a:rPr lang="en-US" sz="950" b="1" spc="300" kern="0" dirty="0">
                <a:solidFill>
                  <a:srgbClr val="7A6E64"/>
                </a:solidFill>
                <a:latin typeface="Courier New" pitchFamily="34" charset="0"/>
                <a:ea typeface="Courier New" pitchFamily="34" charset="-122"/>
                <a:cs typeface="Courier New" pitchFamily="34" charset="-120"/>
              </a:rPr>
              <a:t>WHAT THE RULE ASSUMES</a:t>
            </a:r>
            <a:endParaRPr lang="en-US" sz="950" dirty="0"/>
          </a:p>
        </p:txBody>
      </p:sp>
      <p:sp>
        <p:nvSpPr>
          <p:cNvPr id="7" name="Text 5"/>
          <p:cNvSpPr/>
          <p:nvPr/>
        </p:nvSpPr>
        <p:spPr>
          <a:xfrm>
            <a:off x="1088136" y="3611880"/>
            <a:ext cx="4498848" cy="1280160"/>
          </a:xfrm>
          <a:prstGeom prst="rect">
            <a:avLst/>
          </a:prstGeom>
          <a:noFill/>
          <a:ln/>
        </p:spPr>
        <p:txBody>
          <a:bodyPr wrap="square" lIns="0" tIns="0" rIns="0" bIns="0" rtlCol="0" anchor="ctr"/>
          <a:lstStyle/>
          <a:p>
            <a:pPr indent="0" marL="0">
              <a:lnSpc>
                <a:spcPts val="2500"/>
              </a:lnSpc>
              <a:buNone/>
            </a:pPr>
            <a:r>
              <a:rPr lang="en-US" sz="1600" dirty="0">
                <a:solidFill>
                  <a:srgbClr val="161210"/>
                </a:solidFill>
                <a:latin typeface="Calibri" pitchFamily="34" charset="0"/>
                <a:ea typeface="Calibri" pitchFamily="34" charset="-122"/>
                <a:cs typeface="Calibri" pitchFamily="34" charset="-120"/>
              </a:rPr>
              <a:t>A clinician reviews the AI's reading and catches what it gets wrong.</a:t>
            </a:r>
            <a:endParaRPr lang="en-US" sz="1600" dirty="0"/>
          </a:p>
        </p:txBody>
      </p:sp>
      <p:sp>
        <p:nvSpPr>
          <p:cNvPr id="8" name="Shape 6"/>
          <p:cNvSpPr/>
          <p:nvPr/>
        </p:nvSpPr>
        <p:spPr>
          <a:xfrm>
            <a:off x="6291072" y="2971800"/>
            <a:ext cx="5120640" cy="2148840"/>
          </a:xfrm>
          <a:prstGeom prst="roundRect">
            <a:avLst>
              <a:gd name="adj" fmla="val 1702"/>
            </a:avLst>
          </a:prstGeom>
          <a:solidFill>
            <a:srgbClr val="161210"/>
          </a:solidFill>
          <a:ln/>
          <a:effectLst>
            <a:outerShdw sx="100000" sy="100000" kx="0" ky="0" algn="bl" rotWithShape="0" blurRad="152400" dist="38100" dir="5400000">
              <a:srgbClr val="000000">
                <a:alpha val="16000"/>
              </a:srgbClr>
            </a:outerShdw>
          </a:effectLst>
        </p:spPr>
      </p:sp>
      <p:sp>
        <p:nvSpPr>
          <p:cNvPr id="9" name="Text 7"/>
          <p:cNvSpPr/>
          <p:nvPr/>
        </p:nvSpPr>
        <p:spPr>
          <a:xfrm>
            <a:off x="6601968" y="3246120"/>
            <a:ext cx="4498848" cy="237744"/>
          </a:xfrm>
          <a:prstGeom prst="rect">
            <a:avLst/>
          </a:prstGeom>
          <a:noFill/>
          <a:ln/>
        </p:spPr>
        <p:txBody>
          <a:bodyPr wrap="square" lIns="0" tIns="0" rIns="0" bIns="0" rtlCol="0" anchor="ctr"/>
          <a:lstStyle/>
          <a:p>
            <a:pPr indent="0" marL="0">
              <a:buNone/>
            </a:pPr>
            <a:r>
              <a:rPr lang="en-US" sz="950" b="1" spc="300" kern="0" dirty="0">
                <a:solidFill>
                  <a:srgbClr val="E2571F"/>
                </a:solidFill>
                <a:latin typeface="Courier New" pitchFamily="34" charset="0"/>
                <a:ea typeface="Courier New" pitchFamily="34" charset="-122"/>
                <a:cs typeface="Courier New" pitchFamily="34" charset="-120"/>
              </a:rPr>
              <a:t>WHAT ACTUALLY HAPPENS</a:t>
            </a:r>
            <a:endParaRPr lang="en-US" sz="950" dirty="0"/>
          </a:p>
        </p:txBody>
      </p:sp>
      <p:sp>
        <p:nvSpPr>
          <p:cNvPr id="10" name="Text 8"/>
          <p:cNvSpPr/>
          <p:nvPr/>
        </p:nvSpPr>
        <p:spPr>
          <a:xfrm>
            <a:off x="6601968" y="3611880"/>
            <a:ext cx="4498848" cy="1280160"/>
          </a:xfrm>
          <a:prstGeom prst="rect">
            <a:avLst/>
          </a:prstGeom>
          <a:noFill/>
          <a:ln/>
        </p:spPr>
        <p:txBody>
          <a:bodyPr wrap="square" lIns="0" tIns="0" rIns="0" bIns="0" rtlCol="0" anchor="ctr"/>
          <a:lstStyle/>
          <a:p>
            <a:pPr indent="0" marL="0">
              <a:lnSpc>
                <a:spcPts val="2500"/>
              </a:lnSpc>
              <a:buNone/>
            </a:pPr>
            <a:r>
              <a:rPr lang="en-US" sz="1600" dirty="0">
                <a:solidFill>
                  <a:srgbClr val="F3ECE2"/>
                </a:solidFill>
                <a:latin typeface="Calibri" pitchFamily="34" charset="0"/>
                <a:ea typeface="Calibri" pitchFamily="34" charset="-122"/>
                <a:cs typeface="Calibri" pitchFamily="34" charset="-120"/>
              </a:rPr>
              <a:t>Clinicians defer to confident machines. And LLMs fail in one specific way — clinically plausible, factually wrong.</a:t>
            </a:r>
            <a:endParaRPr lang="en-US" sz="1600" dirty="0"/>
          </a:p>
        </p:txBody>
      </p:sp>
      <p:sp>
        <p:nvSpPr>
          <p:cNvPr id="11" name="Text 9"/>
          <p:cNvSpPr/>
          <p:nvPr/>
        </p:nvSpPr>
        <p:spPr>
          <a:xfrm>
            <a:off x="777240" y="5394960"/>
            <a:ext cx="10634472" cy="365760"/>
          </a:xfrm>
          <a:prstGeom prst="rect">
            <a:avLst/>
          </a:prstGeom>
          <a:noFill/>
          <a:ln/>
        </p:spPr>
        <p:txBody>
          <a:bodyPr wrap="square" lIns="0" tIns="0" rIns="0" bIns="0" rtlCol="0" anchor="ctr"/>
          <a:lstStyle/>
          <a:p>
            <a:pPr indent="0" marL="0">
              <a:buNone/>
            </a:pPr>
            <a:r>
              <a:rPr lang="en-US" sz="1500" i="1" dirty="0">
                <a:solidFill>
                  <a:srgbClr val="7A6E64"/>
                </a:solidFill>
                <a:latin typeface="Calibri" pitchFamily="34" charset="0"/>
                <a:ea typeface="Calibri" pitchFamily="34" charset="-122"/>
                <a:cs typeface="Calibri" pitchFamily="34" charset="-120"/>
              </a:rPr>
              <a:t>A single confident model is documented as unsafe for diagnosis.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210"/>
        </a:solidFill>
      </p:bgPr>
    </p:bg>
    <p:spTree>
      <p:nvGrpSpPr>
        <p:cNvPr id="1" name=""/>
        <p:cNvGrpSpPr/>
        <p:nvPr/>
      </p:nvGrpSpPr>
      <p:grpSpPr>
        <a:xfrm>
          <a:off x="0" y="0"/>
          <a:ext cx="0" cy="0"/>
          <a:chOff x="0" y="0"/>
          <a:chExt cx="0" cy="0"/>
        </a:xfrm>
      </p:grpSpPr>
      <p:sp>
        <p:nvSpPr>
          <p:cNvPr id="2" name="Text 0"/>
          <p:cNvSpPr/>
          <p:nvPr/>
        </p:nvSpPr>
        <p:spPr>
          <a:xfrm>
            <a:off x="10954512" y="6291072"/>
            <a:ext cx="548640" cy="237744"/>
          </a:xfrm>
          <a:prstGeom prst="rect">
            <a:avLst/>
          </a:prstGeom>
          <a:noFill/>
          <a:ln/>
        </p:spPr>
        <p:txBody>
          <a:bodyPr wrap="square" lIns="0" tIns="0" rIns="0" bIns="0" rtlCol="0" anchor="ctr"/>
          <a:lstStyle/>
          <a:p>
            <a:pPr algn="r" indent="0" marL="0">
              <a:buNone/>
            </a:pPr>
            <a:r>
              <a:rPr lang="en-US" sz="900" dirty="0">
                <a:solidFill>
                  <a:srgbClr val="9A8F86"/>
                </a:solidFill>
                <a:latin typeface="Courier New" pitchFamily="34" charset="0"/>
                <a:ea typeface="Courier New" pitchFamily="34" charset="-122"/>
                <a:cs typeface="Courier New" pitchFamily="34" charset="-120"/>
              </a:rPr>
              <a:t>04</a:t>
            </a:r>
            <a:endParaRPr lang="en-US" sz="900" dirty="0"/>
          </a:p>
        </p:txBody>
      </p:sp>
      <p:sp>
        <p:nvSpPr>
          <p:cNvPr id="3" name="Text 1"/>
          <p:cNvSpPr/>
          <p:nvPr/>
        </p:nvSpPr>
        <p:spPr>
          <a:xfrm>
            <a:off x="777240" y="475488"/>
            <a:ext cx="10634472" cy="237744"/>
          </a:xfrm>
          <a:prstGeom prst="rect">
            <a:avLst/>
          </a:prstGeom>
          <a:noFill/>
          <a:ln/>
        </p:spPr>
        <p:txBody>
          <a:bodyPr wrap="square" lIns="0" tIns="0" rIns="0" bIns="0" rtlCol="0" anchor="ctr"/>
          <a:lstStyle/>
          <a:p>
            <a:pPr indent="0" marL="0">
              <a:buNone/>
            </a:pPr>
            <a:r>
              <a:rPr lang="en-US" sz="950" b="1" spc="400" kern="0" dirty="0">
                <a:solidFill>
                  <a:srgbClr val="E2571F"/>
                </a:solidFill>
                <a:latin typeface="Courier New" pitchFamily="34" charset="0"/>
                <a:ea typeface="Courier New" pitchFamily="34" charset="-122"/>
                <a:cs typeface="Courier New" pitchFamily="34" charset="-120"/>
              </a:rPr>
              <a:t>THE INSIGHT</a:t>
            </a:r>
            <a:endParaRPr lang="en-US" sz="950" dirty="0"/>
          </a:p>
        </p:txBody>
      </p:sp>
      <p:sp>
        <p:nvSpPr>
          <p:cNvPr id="4" name="Text 2"/>
          <p:cNvSpPr/>
          <p:nvPr/>
        </p:nvSpPr>
        <p:spPr>
          <a:xfrm>
            <a:off x="777240" y="1965960"/>
            <a:ext cx="10058400" cy="685800"/>
          </a:xfrm>
          <a:prstGeom prst="rect">
            <a:avLst/>
          </a:prstGeom>
          <a:noFill/>
          <a:ln/>
        </p:spPr>
        <p:txBody>
          <a:bodyPr wrap="square" lIns="0" tIns="0" rIns="0" bIns="0" rtlCol="0" anchor="ctr"/>
          <a:lstStyle/>
          <a:p>
            <a:pPr indent="0" marL="0">
              <a:buNone/>
            </a:pPr>
            <a:r>
              <a:rPr lang="en-US" sz="2800" dirty="0">
                <a:solidFill>
                  <a:srgbClr val="9A8F86"/>
                </a:solidFill>
                <a:latin typeface="Bookman Old Style" pitchFamily="34" charset="0"/>
                <a:ea typeface="Bookman Old Style" pitchFamily="34" charset="-122"/>
                <a:cs typeface="Bookman Old Style" pitchFamily="34" charset="-120"/>
              </a:rPr>
              <a:t>Trust is not produced by confidence.</a:t>
            </a:r>
            <a:endParaRPr lang="en-US" sz="2800" dirty="0"/>
          </a:p>
        </p:txBody>
      </p:sp>
      <p:sp>
        <p:nvSpPr>
          <p:cNvPr id="5" name="Text 3"/>
          <p:cNvSpPr/>
          <p:nvPr/>
        </p:nvSpPr>
        <p:spPr>
          <a:xfrm>
            <a:off x="777240" y="2743200"/>
            <a:ext cx="10424160" cy="1691640"/>
          </a:xfrm>
          <a:prstGeom prst="rect">
            <a:avLst/>
          </a:prstGeom>
          <a:noFill/>
          <a:ln/>
        </p:spPr>
        <p:txBody>
          <a:bodyPr wrap="square" lIns="0" tIns="0" rIns="0" bIns="0" rtlCol="0" anchor="ctr"/>
          <a:lstStyle/>
          <a:p>
            <a:pPr indent="0" marL="0">
              <a:lnSpc>
                <a:spcPts val="6400"/>
              </a:lnSpc>
              <a:buNone/>
            </a:pPr>
            <a:r>
              <a:rPr lang="en-US" sz="5200" b="1" dirty="0">
                <a:solidFill>
                  <a:srgbClr val="F3ECE2"/>
                </a:solidFill>
                <a:latin typeface="Bookman Old Style" pitchFamily="34" charset="0"/>
                <a:ea typeface="Bookman Old Style" pitchFamily="34" charset="-122"/>
                <a:cs typeface="Bookman Old Style" pitchFamily="34" charset="-120"/>
              </a:rPr>
              <a:t>Trust is what survives</a:t>
            </a:r>
            <a:endParaRPr lang="en-US" sz="5200" dirty="0"/>
          </a:p>
          <a:p>
            <a:pPr indent="0" marL="0">
              <a:lnSpc>
                <a:spcPts val="6400"/>
              </a:lnSpc>
              <a:buNone/>
            </a:pPr>
            <a:r>
              <a:rPr lang="en-US" sz="5200" b="1" dirty="0">
                <a:solidFill>
                  <a:srgbClr val="F3ECE2"/>
                </a:solidFill>
                <a:latin typeface="Bookman Old Style" pitchFamily="34" charset="0"/>
                <a:ea typeface="Bookman Old Style" pitchFamily="34" charset="-122"/>
                <a:cs typeface="Bookman Old Style" pitchFamily="34" charset="-120"/>
              </a:rPr>
              <a:t>disagreement.</a:t>
            </a:r>
            <a:endParaRPr lang="en-US" sz="5200" dirty="0"/>
          </a:p>
        </p:txBody>
      </p:sp>
      <p:sp>
        <p:nvSpPr>
          <p:cNvPr id="6" name="Shape 4"/>
          <p:cNvSpPr/>
          <p:nvPr/>
        </p:nvSpPr>
        <p:spPr>
          <a:xfrm>
            <a:off x="777240" y="4892040"/>
            <a:ext cx="2404872" cy="566928"/>
          </a:xfrm>
          <a:prstGeom prst="roundRect">
            <a:avLst>
              <a:gd name="adj" fmla="val 50000"/>
            </a:avLst>
          </a:prstGeom>
          <a:solidFill>
            <a:srgbClr val="221C18"/>
          </a:solidFill>
          <a:ln/>
        </p:spPr>
      </p:sp>
      <p:sp>
        <p:nvSpPr>
          <p:cNvPr id="7" name="Text 5"/>
          <p:cNvSpPr/>
          <p:nvPr/>
        </p:nvSpPr>
        <p:spPr>
          <a:xfrm>
            <a:off x="777240" y="4892040"/>
            <a:ext cx="2404872" cy="566928"/>
          </a:xfrm>
          <a:prstGeom prst="rect">
            <a:avLst/>
          </a:prstGeom>
          <a:noFill/>
          <a:ln/>
        </p:spPr>
        <p:txBody>
          <a:bodyPr wrap="square" lIns="0" tIns="0" rIns="0" bIns="0" rtlCol="0" anchor="ctr"/>
          <a:lstStyle/>
          <a:p>
            <a:pPr algn="ctr" indent="0" marL="0">
              <a:buNone/>
            </a:pPr>
            <a:r>
              <a:rPr lang="en-US" sz="1250" dirty="0">
                <a:solidFill>
                  <a:srgbClr val="E8A33D"/>
                </a:solidFill>
                <a:latin typeface="Courier New" pitchFamily="34" charset="0"/>
                <a:ea typeface="Courier New" pitchFamily="34" charset="-122"/>
                <a:cs typeface="Courier New" pitchFamily="34" charset="-120"/>
              </a:rPr>
              <a:t>Peer review</a:t>
            </a:r>
            <a:endParaRPr lang="en-US" sz="1250" dirty="0"/>
          </a:p>
        </p:txBody>
      </p:sp>
      <p:sp>
        <p:nvSpPr>
          <p:cNvPr id="8" name="Shape 6"/>
          <p:cNvSpPr/>
          <p:nvPr/>
        </p:nvSpPr>
        <p:spPr>
          <a:xfrm>
            <a:off x="3447288" y="4892040"/>
            <a:ext cx="2404872" cy="566928"/>
          </a:xfrm>
          <a:prstGeom prst="roundRect">
            <a:avLst>
              <a:gd name="adj" fmla="val 50000"/>
            </a:avLst>
          </a:prstGeom>
          <a:solidFill>
            <a:srgbClr val="221C18"/>
          </a:solidFill>
          <a:ln/>
        </p:spPr>
      </p:sp>
      <p:sp>
        <p:nvSpPr>
          <p:cNvPr id="9" name="Text 7"/>
          <p:cNvSpPr/>
          <p:nvPr/>
        </p:nvSpPr>
        <p:spPr>
          <a:xfrm>
            <a:off x="3447288" y="4892040"/>
            <a:ext cx="2404872" cy="566928"/>
          </a:xfrm>
          <a:prstGeom prst="rect">
            <a:avLst/>
          </a:prstGeom>
          <a:noFill/>
          <a:ln/>
        </p:spPr>
        <p:txBody>
          <a:bodyPr wrap="square" lIns="0" tIns="0" rIns="0" bIns="0" rtlCol="0" anchor="ctr"/>
          <a:lstStyle/>
          <a:p>
            <a:pPr algn="ctr" indent="0" marL="0">
              <a:buNone/>
            </a:pPr>
            <a:r>
              <a:rPr lang="en-US" sz="1250" dirty="0">
                <a:solidFill>
                  <a:srgbClr val="E8A33D"/>
                </a:solidFill>
                <a:latin typeface="Courier New" pitchFamily="34" charset="0"/>
                <a:ea typeface="Courier New" pitchFamily="34" charset="-122"/>
                <a:cs typeface="Courier New" pitchFamily="34" charset="-120"/>
              </a:rPr>
              <a:t>Tumor boards</a:t>
            </a:r>
            <a:endParaRPr lang="en-US" sz="1250" dirty="0"/>
          </a:p>
        </p:txBody>
      </p:sp>
      <p:sp>
        <p:nvSpPr>
          <p:cNvPr id="10" name="Shape 8"/>
          <p:cNvSpPr/>
          <p:nvPr/>
        </p:nvSpPr>
        <p:spPr>
          <a:xfrm>
            <a:off x="6117336" y="4892040"/>
            <a:ext cx="2404872" cy="566928"/>
          </a:xfrm>
          <a:prstGeom prst="roundRect">
            <a:avLst>
              <a:gd name="adj" fmla="val 50000"/>
            </a:avLst>
          </a:prstGeom>
          <a:solidFill>
            <a:srgbClr val="221C18"/>
          </a:solidFill>
          <a:ln/>
        </p:spPr>
      </p:sp>
      <p:sp>
        <p:nvSpPr>
          <p:cNvPr id="11" name="Text 9"/>
          <p:cNvSpPr/>
          <p:nvPr/>
        </p:nvSpPr>
        <p:spPr>
          <a:xfrm>
            <a:off x="6117336" y="4892040"/>
            <a:ext cx="2404872" cy="566928"/>
          </a:xfrm>
          <a:prstGeom prst="rect">
            <a:avLst/>
          </a:prstGeom>
          <a:noFill/>
          <a:ln/>
        </p:spPr>
        <p:txBody>
          <a:bodyPr wrap="square" lIns="0" tIns="0" rIns="0" bIns="0" rtlCol="0" anchor="ctr"/>
          <a:lstStyle/>
          <a:p>
            <a:pPr algn="ctr" indent="0" marL="0">
              <a:buNone/>
            </a:pPr>
            <a:r>
              <a:rPr lang="en-US" sz="1250" dirty="0">
                <a:solidFill>
                  <a:srgbClr val="E8A33D"/>
                </a:solidFill>
                <a:latin typeface="Courier New" pitchFamily="34" charset="0"/>
                <a:ea typeface="Courier New" pitchFamily="34" charset="-122"/>
                <a:cs typeface="Courier New" pitchFamily="34" charset="-120"/>
              </a:rPr>
              <a:t>Adversarial law</a:t>
            </a:r>
            <a:endParaRPr lang="en-US" sz="1250" dirty="0"/>
          </a:p>
        </p:txBody>
      </p:sp>
      <p:sp>
        <p:nvSpPr>
          <p:cNvPr id="12" name="Shape 10"/>
          <p:cNvSpPr/>
          <p:nvPr/>
        </p:nvSpPr>
        <p:spPr>
          <a:xfrm>
            <a:off x="8787384" y="4892040"/>
            <a:ext cx="2404872" cy="566928"/>
          </a:xfrm>
          <a:prstGeom prst="roundRect">
            <a:avLst>
              <a:gd name="adj" fmla="val 50000"/>
            </a:avLst>
          </a:prstGeom>
          <a:solidFill>
            <a:srgbClr val="221C18"/>
          </a:solidFill>
          <a:ln/>
        </p:spPr>
      </p:sp>
      <p:sp>
        <p:nvSpPr>
          <p:cNvPr id="13" name="Text 11"/>
          <p:cNvSpPr/>
          <p:nvPr/>
        </p:nvSpPr>
        <p:spPr>
          <a:xfrm>
            <a:off x="8787384" y="4892040"/>
            <a:ext cx="2404872" cy="566928"/>
          </a:xfrm>
          <a:prstGeom prst="rect">
            <a:avLst/>
          </a:prstGeom>
          <a:noFill/>
          <a:ln/>
        </p:spPr>
        <p:txBody>
          <a:bodyPr wrap="square" lIns="0" tIns="0" rIns="0" bIns="0" rtlCol="0" anchor="ctr"/>
          <a:lstStyle/>
          <a:p>
            <a:pPr algn="ctr" indent="0" marL="0">
              <a:buNone/>
            </a:pPr>
            <a:r>
              <a:rPr lang="en-US" sz="1250" dirty="0">
                <a:solidFill>
                  <a:srgbClr val="E8A33D"/>
                </a:solidFill>
                <a:latin typeface="Courier New" pitchFamily="34" charset="0"/>
                <a:ea typeface="Courier New" pitchFamily="34" charset="-122"/>
                <a:cs typeface="Courier New" pitchFamily="34" charset="-120"/>
              </a:rPr>
              <a:t>Red teams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210"/>
        </a:solidFill>
      </p:bgPr>
    </p:bg>
    <p:spTree>
      <p:nvGrpSpPr>
        <p:cNvPr id="1" name=""/>
        <p:cNvGrpSpPr/>
        <p:nvPr/>
      </p:nvGrpSpPr>
      <p:grpSpPr>
        <a:xfrm>
          <a:off x="0" y="0"/>
          <a:ext cx="0" cy="0"/>
          <a:chOff x="0" y="0"/>
          <a:chExt cx="0" cy="0"/>
        </a:xfrm>
      </p:grpSpPr>
      <p:sp>
        <p:nvSpPr>
          <p:cNvPr id="2" name="Text 0"/>
          <p:cNvSpPr/>
          <p:nvPr/>
        </p:nvSpPr>
        <p:spPr>
          <a:xfrm>
            <a:off x="10954512" y="6291072"/>
            <a:ext cx="548640" cy="237744"/>
          </a:xfrm>
          <a:prstGeom prst="rect">
            <a:avLst/>
          </a:prstGeom>
          <a:noFill/>
          <a:ln/>
        </p:spPr>
        <p:txBody>
          <a:bodyPr wrap="square" lIns="0" tIns="0" rIns="0" bIns="0" rtlCol="0" anchor="ctr"/>
          <a:lstStyle/>
          <a:p>
            <a:pPr algn="r" indent="0" marL="0">
              <a:buNone/>
            </a:pPr>
            <a:r>
              <a:rPr lang="en-US" sz="900" dirty="0">
                <a:solidFill>
                  <a:srgbClr val="9A8F86"/>
                </a:solidFill>
                <a:latin typeface="Courier New" pitchFamily="34" charset="0"/>
                <a:ea typeface="Courier New" pitchFamily="34" charset="-122"/>
                <a:cs typeface="Courier New" pitchFamily="34" charset="-120"/>
              </a:rPr>
              <a:t>05</a:t>
            </a:r>
            <a:endParaRPr lang="en-US" sz="900" dirty="0"/>
          </a:p>
        </p:txBody>
      </p:sp>
      <p:sp>
        <p:nvSpPr>
          <p:cNvPr id="3" name="Text 1"/>
          <p:cNvSpPr/>
          <p:nvPr/>
        </p:nvSpPr>
        <p:spPr>
          <a:xfrm>
            <a:off x="777240" y="475488"/>
            <a:ext cx="10634472" cy="237744"/>
          </a:xfrm>
          <a:prstGeom prst="rect">
            <a:avLst/>
          </a:prstGeom>
          <a:noFill/>
          <a:ln/>
        </p:spPr>
        <p:txBody>
          <a:bodyPr wrap="square" lIns="0" tIns="0" rIns="0" bIns="0" rtlCol="0" anchor="ctr"/>
          <a:lstStyle/>
          <a:p>
            <a:pPr indent="0" marL="0">
              <a:buNone/>
            </a:pPr>
            <a:r>
              <a:rPr lang="en-US" sz="950" b="1" spc="400" kern="0" dirty="0">
                <a:solidFill>
                  <a:srgbClr val="E2571F"/>
                </a:solidFill>
                <a:latin typeface="Courier New" pitchFamily="34" charset="0"/>
                <a:ea typeface="Courier New" pitchFamily="34" charset="-122"/>
                <a:cs typeface="Courier New" pitchFamily="34" charset="-120"/>
              </a:rPr>
              <a:t>MEET CRUCIBLE</a:t>
            </a:r>
            <a:endParaRPr lang="en-US" sz="950" dirty="0"/>
          </a:p>
        </p:txBody>
      </p:sp>
      <p:sp>
        <p:nvSpPr>
          <p:cNvPr id="4" name="Text 2"/>
          <p:cNvSpPr/>
          <p:nvPr/>
        </p:nvSpPr>
        <p:spPr>
          <a:xfrm>
            <a:off x="777240" y="896112"/>
            <a:ext cx="10634472" cy="1463040"/>
          </a:xfrm>
          <a:prstGeom prst="rect">
            <a:avLst/>
          </a:prstGeom>
          <a:noFill/>
          <a:ln/>
        </p:spPr>
        <p:txBody>
          <a:bodyPr wrap="square" lIns="0" tIns="0" rIns="0" bIns="0" rtlCol="0" anchor="t"/>
          <a:lstStyle/>
          <a:p>
            <a:pPr indent="0" marL="0">
              <a:lnSpc>
                <a:spcPts val="4400"/>
              </a:lnSpc>
              <a:buNone/>
            </a:pPr>
            <a:r>
              <a:rPr lang="en-US" sz="3400" b="1" dirty="0">
                <a:solidFill>
                  <a:srgbClr val="F3ECE2"/>
                </a:solidFill>
                <a:latin typeface="Bookman Old Style" pitchFamily="34" charset="0"/>
                <a:ea typeface="Bookman Old Style" pitchFamily="34" charset="-122"/>
                <a:cs typeface="Bookman Old Style" pitchFamily="34" charset="-120"/>
              </a:rPr>
              <a:t>Give it a report. It fights itself</a:t>
            </a:r>
            <a:endParaRPr lang="en-US" sz="3400" dirty="0"/>
          </a:p>
          <a:p>
            <a:pPr indent="0" marL="0">
              <a:lnSpc>
                <a:spcPts val="4400"/>
              </a:lnSpc>
              <a:buNone/>
            </a:pPr>
            <a:r>
              <a:rPr lang="en-US" sz="3400" b="1" dirty="0">
                <a:solidFill>
                  <a:srgbClr val="F3ECE2"/>
                </a:solidFill>
                <a:latin typeface="Bookman Old Style" pitchFamily="34" charset="0"/>
                <a:ea typeface="Bookman Old Style" pitchFamily="34" charset="-122"/>
                <a:cs typeface="Bookman Old Style" pitchFamily="34" charset="-120"/>
              </a:rPr>
              <a:t>over the answer.</a:t>
            </a:r>
            <a:endParaRPr lang="en-US" sz="3400" dirty="0"/>
          </a:p>
        </p:txBody>
      </p:sp>
      <p:sp>
        <p:nvSpPr>
          <p:cNvPr id="5" name="Shape 3"/>
          <p:cNvSpPr/>
          <p:nvPr/>
        </p:nvSpPr>
        <p:spPr>
          <a:xfrm>
            <a:off x="777240" y="2606040"/>
            <a:ext cx="384048" cy="384048"/>
          </a:xfrm>
          <a:prstGeom prst="ellipse">
            <a:avLst/>
          </a:prstGeom>
          <a:solidFill>
            <a:srgbClr val="2C2420"/>
          </a:solidFill>
          <a:ln/>
        </p:spPr>
      </p:sp>
      <p:sp>
        <p:nvSpPr>
          <p:cNvPr id="6" name="Text 4"/>
          <p:cNvSpPr/>
          <p:nvPr/>
        </p:nvSpPr>
        <p:spPr>
          <a:xfrm>
            <a:off x="777240" y="2606040"/>
            <a:ext cx="384048" cy="384048"/>
          </a:xfrm>
          <a:prstGeom prst="rect">
            <a:avLst/>
          </a:prstGeom>
          <a:noFill/>
          <a:ln/>
        </p:spPr>
        <p:txBody>
          <a:bodyPr wrap="square" lIns="0" tIns="0" rIns="0" bIns="0" rtlCol="0" anchor="ctr"/>
          <a:lstStyle/>
          <a:p>
            <a:pPr algn="ctr" indent="0" marL="0">
              <a:buNone/>
            </a:pPr>
            <a:r>
              <a:rPr lang="en-US" sz="1200" b="1" dirty="0">
                <a:solidFill>
                  <a:srgbClr val="F3ECE2"/>
                </a:solidFill>
                <a:latin typeface="Courier New" pitchFamily="34" charset="0"/>
                <a:ea typeface="Courier New" pitchFamily="34" charset="-122"/>
                <a:cs typeface="Courier New" pitchFamily="34" charset="-120"/>
              </a:rPr>
              <a:t>1</a:t>
            </a:r>
            <a:endParaRPr lang="en-US" sz="1200" dirty="0"/>
          </a:p>
        </p:txBody>
      </p:sp>
      <p:sp>
        <p:nvSpPr>
          <p:cNvPr id="7" name="Text 5"/>
          <p:cNvSpPr/>
          <p:nvPr/>
        </p:nvSpPr>
        <p:spPr>
          <a:xfrm>
            <a:off x="1435608" y="2587752"/>
            <a:ext cx="9692640" cy="420624"/>
          </a:xfrm>
          <a:prstGeom prst="rect">
            <a:avLst/>
          </a:prstGeom>
          <a:noFill/>
          <a:ln/>
        </p:spPr>
        <p:txBody>
          <a:bodyPr wrap="square" lIns="0" tIns="0" rIns="0" bIns="0" rtlCol="0" anchor="ctr"/>
          <a:lstStyle/>
          <a:p>
            <a:pPr indent="0" marL="0">
              <a:buNone/>
            </a:pPr>
            <a:r>
              <a:rPr lang="en-US" sz="1700" dirty="0">
                <a:solidFill>
                  <a:srgbClr val="9A8F86"/>
                </a:solidFill>
                <a:latin typeface="Calibri" pitchFamily="34" charset="0"/>
                <a:ea typeface="Calibri" pitchFamily="34" charset="-122"/>
                <a:cs typeface="Calibri" pitchFamily="34" charset="-120"/>
              </a:rPr>
              <a:t>Builds its own specialist team for that exact problem</a:t>
            </a:r>
            <a:endParaRPr lang="en-US" sz="1700" dirty="0"/>
          </a:p>
        </p:txBody>
      </p:sp>
      <p:sp>
        <p:nvSpPr>
          <p:cNvPr id="8" name="Shape 6"/>
          <p:cNvSpPr/>
          <p:nvPr/>
        </p:nvSpPr>
        <p:spPr>
          <a:xfrm>
            <a:off x="777240" y="3227832"/>
            <a:ext cx="384048" cy="384048"/>
          </a:xfrm>
          <a:prstGeom prst="ellipse">
            <a:avLst/>
          </a:prstGeom>
          <a:solidFill>
            <a:srgbClr val="2C2420"/>
          </a:solidFill>
          <a:ln/>
        </p:spPr>
      </p:sp>
      <p:sp>
        <p:nvSpPr>
          <p:cNvPr id="9" name="Text 7"/>
          <p:cNvSpPr/>
          <p:nvPr/>
        </p:nvSpPr>
        <p:spPr>
          <a:xfrm>
            <a:off x="777240" y="3227832"/>
            <a:ext cx="384048" cy="384048"/>
          </a:xfrm>
          <a:prstGeom prst="rect">
            <a:avLst/>
          </a:prstGeom>
          <a:noFill/>
          <a:ln/>
        </p:spPr>
        <p:txBody>
          <a:bodyPr wrap="square" lIns="0" tIns="0" rIns="0" bIns="0" rtlCol="0" anchor="ctr"/>
          <a:lstStyle/>
          <a:p>
            <a:pPr algn="ctr" indent="0" marL="0">
              <a:buNone/>
            </a:pPr>
            <a:r>
              <a:rPr lang="en-US" sz="1200" b="1" dirty="0">
                <a:solidFill>
                  <a:srgbClr val="F3ECE2"/>
                </a:solidFill>
                <a:latin typeface="Courier New" pitchFamily="34" charset="0"/>
                <a:ea typeface="Courier New" pitchFamily="34" charset="-122"/>
                <a:cs typeface="Courier New" pitchFamily="34" charset="-120"/>
              </a:rPr>
              <a:t>2</a:t>
            </a:r>
            <a:endParaRPr lang="en-US" sz="1200" dirty="0"/>
          </a:p>
        </p:txBody>
      </p:sp>
      <p:sp>
        <p:nvSpPr>
          <p:cNvPr id="10" name="Text 8"/>
          <p:cNvSpPr/>
          <p:nvPr/>
        </p:nvSpPr>
        <p:spPr>
          <a:xfrm>
            <a:off x="1435608" y="3209544"/>
            <a:ext cx="9692640" cy="420624"/>
          </a:xfrm>
          <a:prstGeom prst="rect">
            <a:avLst/>
          </a:prstGeom>
          <a:noFill/>
          <a:ln/>
        </p:spPr>
        <p:txBody>
          <a:bodyPr wrap="square" lIns="0" tIns="0" rIns="0" bIns="0" rtlCol="0" anchor="ctr"/>
          <a:lstStyle/>
          <a:p>
            <a:pPr indent="0" marL="0">
              <a:buNone/>
            </a:pPr>
            <a:r>
              <a:rPr lang="en-US" sz="1700" dirty="0">
                <a:solidFill>
                  <a:srgbClr val="9A8F86"/>
                </a:solidFill>
                <a:latin typeface="Calibri" pitchFamily="34" charset="0"/>
                <a:ea typeface="Calibri" pitchFamily="34" charset="-122"/>
                <a:cs typeface="Calibri" pitchFamily="34" charset="-120"/>
              </a:rPr>
              <a:t>Researches it live on the web</a:t>
            </a:r>
            <a:endParaRPr lang="en-US" sz="1700" dirty="0"/>
          </a:p>
        </p:txBody>
      </p:sp>
      <p:sp>
        <p:nvSpPr>
          <p:cNvPr id="11" name="Shape 9"/>
          <p:cNvSpPr/>
          <p:nvPr/>
        </p:nvSpPr>
        <p:spPr>
          <a:xfrm>
            <a:off x="777240" y="3849624"/>
            <a:ext cx="384048" cy="384048"/>
          </a:xfrm>
          <a:prstGeom prst="ellipse">
            <a:avLst/>
          </a:prstGeom>
          <a:solidFill>
            <a:srgbClr val="E2571F"/>
          </a:solidFill>
          <a:ln/>
        </p:spPr>
      </p:sp>
      <p:sp>
        <p:nvSpPr>
          <p:cNvPr id="12" name="Text 10"/>
          <p:cNvSpPr/>
          <p:nvPr/>
        </p:nvSpPr>
        <p:spPr>
          <a:xfrm>
            <a:off x="777240" y="3849624"/>
            <a:ext cx="384048" cy="384048"/>
          </a:xfrm>
          <a:prstGeom prst="rect">
            <a:avLst/>
          </a:prstGeom>
          <a:noFill/>
          <a:ln/>
        </p:spPr>
        <p:txBody>
          <a:bodyPr wrap="square" lIns="0" tIns="0" rIns="0" bIns="0" rtlCol="0" anchor="ctr"/>
          <a:lstStyle/>
          <a:p>
            <a:pPr algn="ctr" indent="0" marL="0">
              <a:buNone/>
            </a:pPr>
            <a:r>
              <a:rPr lang="en-US" sz="1200" b="1" dirty="0">
                <a:solidFill>
                  <a:srgbClr val="F3ECE2"/>
                </a:solidFill>
                <a:latin typeface="Courier New" pitchFamily="34" charset="0"/>
                <a:ea typeface="Courier New" pitchFamily="34" charset="-122"/>
                <a:cs typeface="Courier New" pitchFamily="34" charset="-120"/>
              </a:rPr>
              <a:t>3</a:t>
            </a:r>
            <a:endParaRPr lang="en-US" sz="1200" dirty="0"/>
          </a:p>
        </p:txBody>
      </p:sp>
      <p:sp>
        <p:nvSpPr>
          <p:cNvPr id="13" name="Text 11"/>
          <p:cNvSpPr/>
          <p:nvPr/>
        </p:nvSpPr>
        <p:spPr>
          <a:xfrm>
            <a:off x="1435608" y="3831336"/>
            <a:ext cx="9692640" cy="420624"/>
          </a:xfrm>
          <a:prstGeom prst="rect">
            <a:avLst/>
          </a:prstGeom>
          <a:noFill/>
          <a:ln/>
        </p:spPr>
        <p:txBody>
          <a:bodyPr wrap="square" lIns="0" tIns="0" rIns="0" bIns="0" rtlCol="0" anchor="ctr"/>
          <a:lstStyle/>
          <a:p>
            <a:pPr indent="0" marL="0">
              <a:buNone/>
            </a:pPr>
            <a:r>
              <a:rPr lang="en-US" sz="1700" b="1" dirty="0">
                <a:solidFill>
                  <a:srgbClr val="F3ECE2"/>
                </a:solidFill>
                <a:latin typeface="Calibri" pitchFamily="34" charset="0"/>
                <a:ea typeface="Calibri" pitchFamily="34" charset="-122"/>
                <a:cs typeface="Calibri" pitchFamily="34" charset="-120"/>
              </a:rPr>
              <a:t>Writes an answer — then attacks its own answer</a:t>
            </a:r>
            <a:endParaRPr lang="en-US" sz="1700" dirty="0"/>
          </a:p>
        </p:txBody>
      </p:sp>
      <p:sp>
        <p:nvSpPr>
          <p:cNvPr id="14" name="Shape 12"/>
          <p:cNvSpPr/>
          <p:nvPr/>
        </p:nvSpPr>
        <p:spPr>
          <a:xfrm>
            <a:off x="777240" y="4471416"/>
            <a:ext cx="384048" cy="384048"/>
          </a:xfrm>
          <a:prstGeom prst="ellipse">
            <a:avLst/>
          </a:prstGeom>
          <a:solidFill>
            <a:srgbClr val="2C2420"/>
          </a:solidFill>
          <a:ln/>
        </p:spPr>
      </p:sp>
      <p:sp>
        <p:nvSpPr>
          <p:cNvPr id="15" name="Text 13"/>
          <p:cNvSpPr/>
          <p:nvPr/>
        </p:nvSpPr>
        <p:spPr>
          <a:xfrm>
            <a:off x="777240" y="4471416"/>
            <a:ext cx="384048" cy="384048"/>
          </a:xfrm>
          <a:prstGeom prst="rect">
            <a:avLst/>
          </a:prstGeom>
          <a:noFill/>
          <a:ln/>
        </p:spPr>
        <p:txBody>
          <a:bodyPr wrap="square" lIns="0" tIns="0" rIns="0" bIns="0" rtlCol="0" anchor="ctr"/>
          <a:lstStyle/>
          <a:p>
            <a:pPr algn="ctr" indent="0" marL="0">
              <a:buNone/>
            </a:pPr>
            <a:r>
              <a:rPr lang="en-US" sz="1200" b="1" dirty="0">
                <a:solidFill>
                  <a:srgbClr val="F3ECE2"/>
                </a:solidFill>
                <a:latin typeface="Courier New" pitchFamily="34" charset="0"/>
                <a:ea typeface="Courier New" pitchFamily="34" charset="-122"/>
                <a:cs typeface="Courier New" pitchFamily="34" charset="-120"/>
              </a:rPr>
              <a:t>4</a:t>
            </a:r>
            <a:endParaRPr lang="en-US" sz="1200" dirty="0"/>
          </a:p>
        </p:txBody>
      </p:sp>
      <p:sp>
        <p:nvSpPr>
          <p:cNvPr id="16" name="Text 14"/>
          <p:cNvSpPr/>
          <p:nvPr/>
        </p:nvSpPr>
        <p:spPr>
          <a:xfrm>
            <a:off x="1435608" y="4453128"/>
            <a:ext cx="9692640" cy="420624"/>
          </a:xfrm>
          <a:prstGeom prst="rect">
            <a:avLst/>
          </a:prstGeom>
          <a:noFill/>
          <a:ln/>
        </p:spPr>
        <p:txBody>
          <a:bodyPr wrap="square" lIns="0" tIns="0" rIns="0" bIns="0" rtlCol="0" anchor="ctr"/>
          <a:lstStyle/>
          <a:p>
            <a:pPr indent="0" marL="0">
              <a:buNone/>
            </a:pPr>
            <a:r>
              <a:rPr lang="en-US" sz="1700" dirty="0">
                <a:solidFill>
                  <a:srgbClr val="9A8F86"/>
                </a:solidFill>
                <a:latin typeface="Calibri" pitchFamily="34" charset="0"/>
                <a:ea typeface="Calibri" pitchFamily="34" charset="-122"/>
                <a:cs typeface="Calibri" pitchFamily="34" charset="-120"/>
              </a:rPr>
              <a:t>Rebuilds from the strongest surviving objection</a:t>
            </a:r>
            <a:endParaRPr lang="en-US" sz="1700" dirty="0"/>
          </a:p>
        </p:txBody>
      </p:sp>
      <p:sp>
        <p:nvSpPr>
          <p:cNvPr id="17" name="Shape 15"/>
          <p:cNvSpPr/>
          <p:nvPr/>
        </p:nvSpPr>
        <p:spPr>
          <a:xfrm>
            <a:off x="777240" y="5093208"/>
            <a:ext cx="384048" cy="384048"/>
          </a:xfrm>
          <a:prstGeom prst="ellipse">
            <a:avLst/>
          </a:prstGeom>
          <a:solidFill>
            <a:srgbClr val="E8A33D"/>
          </a:solidFill>
          <a:ln/>
        </p:spPr>
      </p:sp>
      <p:sp>
        <p:nvSpPr>
          <p:cNvPr id="18" name="Text 16"/>
          <p:cNvSpPr/>
          <p:nvPr/>
        </p:nvSpPr>
        <p:spPr>
          <a:xfrm>
            <a:off x="777240" y="5093208"/>
            <a:ext cx="384048" cy="384048"/>
          </a:xfrm>
          <a:prstGeom prst="rect">
            <a:avLst/>
          </a:prstGeom>
          <a:noFill/>
          <a:ln/>
        </p:spPr>
        <p:txBody>
          <a:bodyPr wrap="square" lIns="0" tIns="0" rIns="0" bIns="0" rtlCol="0" anchor="ctr"/>
          <a:lstStyle/>
          <a:p>
            <a:pPr algn="ctr" indent="0" marL="0">
              <a:buNone/>
            </a:pPr>
            <a:r>
              <a:rPr lang="en-US" sz="1200" b="1" dirty="0">
                <a:solidFill>
                  <a:srgbClr val="161210"/>
                </a:solidFill>
                <a:latin typeface="Courier New" pitchFamily="34" charset="0"/>
                <a:ea typeface="Courier New" pitchFamily="34" charset="-122"/>
                <a:cs typeface="Courier New" pitchFamily="34" charset="-120"/>
              </a:rPr>
              <a:t>5</a:t>
            </a:r>
            <a:endParaRPr lang="en-US" sz="1200" dirty="0"/>
          </a:p>
        </p:txBody>
      </p:sp>
      <p:sp>
        <p:nvSpPr>
          <p:cNvPr id="19" name="Text 17"/>
          <p:cNvSpPr/>
          <p:nvPr/>
        </p:nvSpPr>
        <p:spPr>
          <a:xfrm>
            <a:off x="1435608" y="5074920"/>
            <a:ext cx="9692640" cy="420624"/>
          </a:xfrm>
          <a:prstGeom prst="rect">
            <a:avLst/>
          </a:prstGeom>
          <a:noFill/>
          <a:ln/>
        </p:spPr>
        <p:txBody>
          <a:bodyPr wrap="square" lIns="0" tIns="0" rIns="0" bIns="0" rtlCol="0" anchor="ctr"/>
          <a:lstStyle/>
          <a:p>
            <a:pPr indent="0" marL="0">
              <a:buNone/>
            </a:pPr>
            <a:r>
              <a:rPr lang="en-US" sz="1700" b="1" dirty="0">
                <a:solidFill>
                  <a:srgbClr val="F3ECE2"/>
                </a:solidFill>
                <a:latin typeface="Calibri" pitchFamily="34" charset="0"/>
                <a:ea typeface="Calibri" pitchFamily="34" charset="-122"/>
                <a:cs typeface="Calibri" pitchFamily="34" charset="-120"/>
              </a:rPr>
              <a:t>Returns a trust score, 0 to 100</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ECE2"/>
        </a:solidFill>
      </p:bgPr>
    </p:bg>
    <p:spTree>
      <p:nvGrpSpPr>
        <p:cNvPr id="1" name=""/>
        <p:cNvGrpSpPr/>
        <p:nvPr/>
      </p:nvGrpSpPr>
      <p:grpSpPr>
        <a:xfrm>
          <a:off x="0" y="0"/>
          <a:ext cx="0" cy="0"/>
          <a:chOff x="0" y="0"/>
          <a:chExt cx="0" cy="0"/>
        </a:xfrm>
      </p:grpSpPr>
      <p:sp>
        <p:nvSpPr>
          <p:cNvPr id="2" name="Text 0"/>
          <p:cNvSpPr/>
          <p:nvPr/>
        </p:nvSpPr>
        <p:spPr>
          <a:xfrm>
            <a:off x="10954512" y="6291072"/>
            <a:ext cx="548640" cy="237744"/>
          </a:xfrm>
          <a:prstGeom prst="rect">
            <a:avLst/>
          </a:prstGeom>
          <a:noFill/>
          <a:ln/>
        </p:spPr>
        <p:txBody>
          <a:bodyPr wrap="square" lIns="0" tIns="0" rIns="0" bIns="0" rtlCol="0" anchor="ctr"/>
          <a:lstStyle/>
          <a:p>
            <a:pPr algn="r" indent="0" marL="0">
              <a:buNone/>
            </a:pPr>
            <a:r>
              <a:rPr lang="en-US" sz="900" dirty="0">
                <a:solidFill>
                  <a:srgbClr val="7A6E64"/>
                </a:solidFill>
                <a:latin typeface="Courier New" pitchFamily="34" charset="0"/>
                <a:ea typeface="Courier New" pitchFamily="34" charset="-122"/>
                <a:cs typeface="Courier New" pitchFamily="34" charset="-120"/>
              </a:rPr>
              <a:t>06</a:t>
            </a:r>
            <a:endParaRPr lang="en-US" sz="900" dirty="0"/>
          </a:p>
        </p:txBody>
      </p:sp>
      <p:sp>
        <p:nvSpPr>
          <p:cNvPr id="3" name="Text 1"/>
          <p:cNvSpPr/>
          <p:nvPr/>
        </p:nvSpPr>
        <p:spPr>
          <a:xfrm>
            <a:off x="777240" y="475488"/>
            <a:ext cx="10634472" cy="237744"/>
          </a:xfrm>
          <a:prstGeom prst="rect">
            <a:avLst/>
          </a:prstGeom>
          <a:noFill/>
          <a:ln/>
        </p:spPr>
        <p:txBody>
          <a:bodyPr wrap="square" lIns="0" tIns="0" rIns="0" bIns="0" rtlCol="0" anchor="ctr"/>
          <a:lstStyle/>
          <a:p>
            <a:pPr indent="0" marL="0">
              <a:buNone/>
            </a:pPr>
            <a:r>
              <a:rPr lang="en-US" sz="950" b="1" spc="400" kern="0" dirty="0">
                <a:solidFill>
                  <a:srgbClr val="E2571F"/>
                </a:solidFill>
                <a:latin typeface="Courier New" pitchFamily="34" charset="0"/>
                <a:ea typeface="Courier New" pitchFamily="34" charset="-122"/>
                <a:cs typeface="Courier New" pitchFamily="34" charset="-120"/>
              </a:rPr>
              <a:t>HOW IT WORKS</a:t>
            </a:r>
            <a:endParaRPr lang="en-US" sz="950" dirty="0"/>
          </a:p>
        </p:txBody>
      </p:sp>
      <p:sp>
        <p:nvSpPr>
          <p:cNvPr id="4" name="Text 2"/>
          <p:cNvSpPr/>
          <p:nvPr/>
        </p:nvSpPr>
        <p:spPr>
          <a:xfrm>
            <a:off x="777240" y="896112"/>
            <a:ext cx="10634472" cy="914400"/>
          </a:xfrm>
          <a:prstGeom prst="rect">
            <a:avLst/>
          </a:prstGeom>
          <a:noFill/>
          <a:ln/>
        </p:spPr>
        <p:txBody>
          <a:bodyPr wrap="square" lIns="0" tIns="0" rIns="0" bIns="0" rtlCol="0" anchor="t"/>
          <a:lstStyle/>
          <a:p>
            <a:pPr indent="0" marL="0">
              <a:buNone/>
            </a:pPr>
            <a:r>
              <a:rPr lang="en-US" sz="3400" b="1" dirty="0">
                <a:solidFill>
                  <a:srgbClr val="161210"/>
                </a:solidFill>
                <a:latin typeface="Bookman Old Style" pitchFamily="34" charset="0"/>
                <a:ea typeface="Bookman Old Style" pitchFamily="34" charset="-122"/>
                <a:cs typeface="Bookman Old Style" pitchFamily="34" charset="-120"/>
              </a:rPr>
              <a:t>Ten agents. Four stacked patterns.</a:t>
            </a:r>
            <a:endParaRPr lang="en-US" sz="3400" dirty="0"/>
          </a:p>
        </p:txBody>
      </p:sp>
      <p:sp>
        <p:nvSpPr>
          <p:cNvPr id="5" name="Shape 3"/>
          <p:cNvSpPr/>
          <p:nvPr/>
        </p:nvSpPr>
        <p:spPr>
          <a:xfrm>
            <a:off x="777240" y="2103120"/>
            <a:ext cx="2404872" cy="804672"/>
          </a:xfrm>
          <a:prstGeom prst="roundRect">
            <a:avLst>
              <a:gd name="adj" fmla="val 4545"/>
            </a:avLst>
          </a:prstGeom>
          <a:solidFill>
            <a:srgbClr val="E6DBCB"/>
          </a:solidFill>
          <a:ln/>
          <a:effectLst>
            <a:outerShdw sx="100000" sy="100000" kx="0" ky="0" algn="bl" rotWithShape="0" blurRad="101600" dist="25400" dir="5400000">
              <a:srgbClr val="000000">
                <a:alpha val="14000"/>
              </a:srgbClr>
            </a:outerShdw>
          </a:effectLst>
        </p:spPr>
      </p:sp>
      <p:sp>
        <p:nvSpPr>
          <p:cNvPr id="6" name="Text 4"/>
          <p:cNvSpPr/>
          <p:nvPr/>
        </p:nvSpPr>
        <p:spPr>
          <a:xfrm>
            <a:off x="960120" y="2212848"/>
            <a:ext cx="2084832" cy="182880"/>
          </a:xfrm>
          <a:prstGeom prst="rect">
            <a:avLst/>
          </a:prstGeom>
          <a:noFill/>
          <a:ln/>
        </p:spPr>
        <p:txBody>
          <a:bodyPr wrap="square" lIns="0" tIns="0" rIns="0" bIns="0" rtlCol="0" anchor="ctr"/>
          <a:lstStyle/>
          <a:p>
            <a:pPr indent="0" marL="0">
              <a:buNone/>
            </a:pPr>
            <a:r>
              <a:rPr lang="en-US" sz="850" b="1" spc="150" kern="0" dirty="0">
                <a:solidFill>
                  <a:srgbClr val="7A6E64"/>
                </a:solidFill>
                <a:latin typeface="Courier New" pitchFamily="34" charset="0"/>
                <a:ea typeface="Courier New" pitchFamily="34" charset="-122"/>
                <a:cs typeface="Courier New" pitchFamily="34" charset="-120"/>
              </a:rPr>
              <a:t>01</a:t>
            </a:r>
            <a:endParaRPr lang="en-US" sz="850" dirty="0"/>
          </a:p>
        </p:txBody>
      </p:sp>
      <p:sp>
        <p:nvSpPr>
          <p:cNvPr id="7" name="Text 5"/>
          <p:cNvSpPr/>
          <p:nvPr/>
        </p:nvSpPr>
        <p:spPr>
          <a:xfrm>
            <a:off x="960120" y="2423160"/>
            <a:ext cx="2084832" cy="365760"/>
          </a:xfrm>
          <a:prstGeom prst="rect">
            <a:avLst/>
          </a:prstGeom>
          <a:noFill/>
          <a:ln/>
        </p:spPr>
        <p:txBody>
          <a:bodyPr wrap="square" lIns="0" tIns="0" rIns="0" bIns="0" rtlCol="0" anchor="t"/>
          <a:lstStyle/>
          <a:p>
            <a:pPr indent="0" marL="0">
              <a:buNone/>
            </a:pPr>
            <a:r>
              <a:rPr lang="en-US" sz="1200" b="1" dirty="0">
                <a:solidFill>
                  <a:srgbClr val="161210"/>
                </a:solidFill>
                <a:latin typeface="Calibri" pitchFamily="34" charset="0"/>
                <a:ea typeface="Calibri" pitchFamily="34" charset="-122"/>
                <a:cs typeface="Calibri" pitchFamily="34" charset="-120"/>
              </a:rPr>
              <a:t>Report Analyst</a:t>
            </a:r>
            <a:endParaRPr lang="en-US" sz="1200" dirty="0"/>
          </a:p>
        </p:txBody>
      </p:sp>
      <p:sp>
        <p:nvSpPr>
          <p:cNvPr id="8" name="Shape 6"/>
          <p:cNvSpPr/>
          <p:nvPr/>
        </p:nvSpPr>
        <p:spPr>
          <a:xfrm>
            <a:off x="3447288" y="2103120"/>
            <a:ext cx="2404872" cy="804672"/>
          </a:xfrm>
          <a:prstGeom prst="roundRect">
            <a:avLst>
              <a:gd name="adj" fmla="val 4545"/>
            </a:avLst>
          </a:prstGeom>
          <a:solidFill>
            <a:srgbClr val="E6DBCB"/>
          </a:solidFill>
          <a:ln/>
          <a:effectLst>
            <a:outerShdw sx="100000" sy="100000" kx="0" ky="0" algn="bl" rotWithShape="0" blurRad="101600" dist="25400" dir="5400000">
              <a:srgbClr val="000000">
                <a:alpha val="14000"/>
              </a:srgbClr>
            </a:outerShdw>
          </a:effectLst>
        </p:spPr>
      </p:sp>
      <p:sp>
        <p:nvSpPr>
          <p:cNvPr id="9" name="Text 7"/>
          <p:cNvSpPr/>
          <p:nvPr/>
        </p:nvSpPr>
        <p:spPr>
          <a:xfrm>
            <a:off x="3630168" y="2212848"/>
            <a:ext cx="2084832" cy="182880"/>
          </a:xfrm>
          <a:prstGeom prst="rect">
            <a:avLst/>
          </a:prstGeom>
          <a:noFill/>
          <a:ln/>
        </p:spPr>
        <p:txBody>
          <a:bodyPr wrap="square" lIns="0" tIns="0" rIns="0" bIns="0" rtlCol="0" anchor="ctr"/>
          <a:lstStyle/>
          <a:p>
            <a:pPr indent="0" marL="0">
              <a:buNone/>
            </a:pPr>
            <a:r>
              <a:rPr lang="en-US" sz="850" b="1" spc="150" kern="0" dirty="0">
                <a:solidFill>
                  <a:srgbClr val="7A6E64"/>
                </a:solidFill>
                <a:latin typeface="Courier New" pitchFamily="34" charset="0"/>
                <a:ea typeface="Courier New" pitchFamily="34" charset="-122"/>
                <a:cs typeface="Courier New" pitchFamily="34" charset="-120"/>
              </a:rPr>
              <a:t>02</a:t>
            </a:r>
            <a:endParaRPr lang="en-US" sz="850" dirty="0"/>
          </a:p>
        </p:txBody>
      </p:sp>
      <p:sp>
        <p:nvSpPr>
          <p:cNvPr id="10" name="Text 8"/>
          <p:cNvSpPr/>
          <p:nvPr/>
        </p:nvSpPr>
        <p:spPr>
          <a:xfrm>
            <a:off x="3630168" y="2423160"/>
            <a:ext cx="2084832" cy="365760"/>
          </a:xfrm>
          <a:prstGeom prst="rect">
            <a:avLst/>
          </a:prstGeom>
          <a:noFill/>
          <a:ln/>
        </p:spPr>
        <p:txBody>
          <a:bodyPr wrap="square" lIns="0" tIns="0" rIns="0" bIns="0" rtlCol="0" anchor="t"/>
          <a:lstStyle/>
          <a:p>
            <a:pPr indent="0" marL="0">
              <a:buNone/>
            </a:pPr>
            <a:r>
              <a:rPr lang="en-US" sz="1200" b="1" dirty="0">
                <a:solidFill>
                  <a:srgbClr val="161210"/>
                </a:solidFill>
                <a:latin typeface="Calibri" pitchFamily="34" charset="0"/>
                <a:ea typeface="Calibri" pitchFamily="34" charset="-122"/>
                <a:cs typeface="Calibri" pitchFamily="34" charset="-120"/>
              </a:rPr>
              <a:t>Recruiter</a:t>
            </a:r>
            <a:endParaRPr lang="en-US" sz="1200" dirty="0"/>
          </a:p>
        </p:txBody>
      </p:sp>
      <p:sp>
        <p:nvSpPr>
          <p:cNvPr id="11" name="Shape 9"/>
          <p:cNvSpPr/>
          <p:nvPr/>
        </p:nvSpPr>
        <p:spPr>
          <a:xfrm>
            <a:off x="6117336" y="2103120"/>
            <a:ext cx="2404872" cy="804672"/>
          </a:xfrm>
          <a:prstGeom prst="roundRect">
            <a:avLst>
              <a:gd name="adj" fmla="val 4545"/>
            </a:avLst>
          </a:prstGeom>
          <a:solidFill>
            <a:srgbClr val="E6DBCB"/>
          </a:solidFill>
          <a:ln/>
          <a:effectLst>
            <a:outerShdw sx="100000" sy="100000" kx="0" ky="0" algn="bl" rotWithShape="0" blurRad="101600" dist="25400" dir="5400000">
              <a:srgbClr val="000000">
                <a:alpha val="14000"/>
              </a:srgbClr>
            </a:outerShdw>
          </a:effectLst>
        </p:spPr>
      </p:sp>
      <p:sp>
        <p:nvSpPr>
          <p:cNvPr id="12" name="Text 10"/>
          <p:cNvSpPr/>
          <p:nvPr/>
        </p:nvSpPr>
        <p:spPr>
          <a:xfrm>
            <a:off x="6300216" y="2212848"/>
            <a:ext cx="2084832" cy="182880"/>
          </a:xfrm>
          <a:prstGeom prst="rect">
            <a:avLst/>
          </a:prstGeom>
          <a:noFill/>
          <a:ln/>
        </p:spPr>
        <p:txBody>
          <a:bodyPr wrap="square" lIns="0" tIns="0" rIns="0" bIns="0" rtlCol="0" anchor="ctr"/>
          <a:lstStyle/>
          <a:p>
            <a:pPr indent="0" marL="0">
              <a:buNone/>
            </a:pPr>
            <a:r>
              <a:rPr lang="en-US" sz="850" b="1" spc="150" kern="0" dirty="0">
                <a:solidFill>
                  <a:srgbClr val="7A6E64"/>
                </a:solidFill>
                <a:latin typeface="Courier New" pitchFamily="34" charset="0"/>
                <a:ea typeface="Courier New" pitchFamily="34" charset="-122"/>
                <a:cs typeface="Courier New" pitchFamily="34" charset="-120"/>
              </a:rPr>
              <a:t>03</a:t>
            </a:r>
            <a:endParaRPr lang="en-US" sz="850" dirty="0"/>
          </a:p>
        </p:txBody>
      </p:sp>
      <p:sp>
        <p:nvSpPr>
          <p:cNvPr id="13" name="Text 11"/>
          <p:cNvSpPr/>
          <p:nvPr/>
        </p:nvSpPr>
        <p:spPr>
          <a:xfrm>
            <a:off x="6300216" y="2423160"/>
            <a:ext cx="2084832" cy="365760"/>
          </a:xfrm>
          <a:prstGeom prst="rect">
            <a:avLst/>
          </a:prstGeom>
          <a:noFill/>
          <a:ln/>
        </p:spPr>
        <p:txBody>
          <a:bodyPr wrap="square" lIns="0" tIns="0" rIns="0" bIns="0" rtlCol="0" anchor="t"/>
          <a:lstStyle/>
          <a:p>
            <a:pPr indent="0" marL="0">
              <a:buNone/>
            </a:pPr>
            <a:r>
              <a:rPr lang="en-US" sz="1200" b="1" dirty="0">
                <a:solidFill>
                  <a:srgbClr val="161210"/>
                </a:solidFill>
                <a:latin typeface="Calibri" pitchFamily="34" charset="0"/>
                <a:ea typeface="Calibri" pitchFamily="34" charset="-122"/>
                <a:cs typeface="Calibri" pitchFamily="34" charset="-120"/>
              </a:rPr>
              <a:t>Research Lead</a:t>
            </a:r>
            <a:endParaRPr lang="en-US" sz="1200" dirty="0"/>
          </a:p>
        </p:txBody>
      </p:sp>
      <p:sp>
        <p:nvSpPr>
          <p:cNvPr id="14" name="Shape 12"/>
          <p:cNvSpPr/>
          <p:nvPr/>
        </p:nvSpPr>
        <p:spPr>
          <a:xfrm>
            <a:off x="8787384" y="2103120"/>
            <a:ext cx="2404872" cy="804672"/>
          </a:xfrm>
          <a:prstGeom prst="roundRect">
            <a:avLst>
              <a:gd name="adj" fmla="val 4545"/>
            </a:avLst>
          </a:prstGeom>
          <a:solidFill>
            <a:srgbClr val="E6DBCB"/>
          </a:solidFill>
          <a:ln/>
          <a:effectLst>
            <a:outerShdw sx="100000" sy="100000" kx="0" ky="0" algn="bl" rotWithShape="0" blurRad="101600" dist="25400" dir="5400000">
              <a:srgbClr val="000000">
                <a:alpha val="14000"/>
              </a:srgbClr>
            </a:outerShdw>
          </a:effectLst>
        </p:spPr>
      </p:sp>
      <p:sp>
        <p:nvSpPr>
          <p:cNvPr id="15" name="Text 13"/>
          <p:cNvSpPr/>
          <p:nvPr/>
        </p:nvSpPr>
        <p:spPr>
          <a:xfrm>
            <a:off x="8970264" y="2212848"/>
            <a:ext cx="2084832" cy="182880"/>
          </a:xfrm>
          <a:prstGeom prst="rect">
            <a:avLst/>
          </a:prstGeom>
          <a:noFill/>
          <a:ln/>
        </p:spPr>
        <p:txBody>
          <a:bodyPr wrap="square" lIns="0" tIns="0" rIns="0" bIns="0" rtlCol="0" anchor="ctr"/>
          <a:lstStyle/>
          <a:p>
            <a:pPr indent="0" marL="0">
              <a:buNone/>
            </a:pPr>
            <a:r>
              <a:rPr lang="en-US" sz="850" b="1" spc="150" kern="0" dirty="0">
                <a:solidFill>
                  <a:srgbClr val="7A6E64"/>
                </a:solidFill>
                <a:latin typeface="Courier New" pitchFamily="34" charset="0"/>
                <a:ea typeface="Courier New" pitchFamily="34" charset="-122"/>
                <a:cs typeface="Courier New" pitchFamily="34" charset="-120"/>
              </a:rPr>
              <a:t>04</a:t>
            </a:r>
            <a:endParaRPr lang="en-US" sz="850" dirty="0"/>
          </a:p>
        </p:txBody>
      </p:sp>
      <p:sp>
        <p:nvSpPr>
          <p:cNvPr id="16" name="Text 14"/>
          <p:cNvSpPr/>
          <p:nvPr/>
        </p:nvSpPr>
        <p:spPr>
          <a:xfrm>
            <a:off x="8970264" y="2423160"/>
            <a:ext cx="2084832" cy="365760"/>
          </a:xfrm>
          <a:prstGeom prst="rect">
            <a:avLst/>
          </a:prstGeom>
          <a:noFill/>
          <a:ln/>
        </p:spPr>
        <p:txBody>
          <a:bodyPr wrap="square" lIns="0" tIns="0" rIns="0" bIns="0" rtlCol="0" anchor="t"/>
          <a:lstStyle/>
          <a:p>
            <a:pPr indent="0" marL="0">
              <a:buNone/>
            </a:pPr>
            <a:r>
              <a:rPr lang="en-US" sz="1200" b="1" dirty="0">
                <a:solidFill>
                  <a:srgbClr val="161210"/>
                </a:solidFill>
                <a:latin typeface="Calibri" pitchFamily="34" charset="0"/>
                <a:ea typeface="Calibri" pitchFamily="34" charset="-122"/>
                <a:cs typeface="Calibri" pitchFamily="34" charset="-120"/>
              </a:rPr>
              <a:t>Answer v1</a:t>
            </a:r>
            <a:endParaRPr lang="en-US" sz="1200" dirty="0"/>
          </a:p>
        </p:txBody>
      </p:sp>
      <p:sp>
        <p:nvSpPr>
          <p:cNvPr id="17" name="Shape 15"/>
          <p:cNvSpPr/>
          <p:nvPr/>
        </p:nvSpPr>
        <p:spPr>
          <a:xfrm>
            <a:off x="777240" y="3127248"/>
            <a:ext cx="10634472" cy="1481328"/>
          </a:xfrm>
          <a:prstGeom prst="roundRect">
            <a:avLst>
              <a:gd name="adj" fmla="val 3086"/>
            </a:avLst>
          </a:prstGeom>
          <a:solidFill>
            <a:srgbClr val="161210"/>
          </a:solidFill>
          <a:ln/>
          <a:effectLst>
            <a:outerShdw sx="100000" sy="100000" kx="0" ky="0" algn="bl" rotWithShape="0" blurRad="152400" dist="38100" dir="5400000">
              <a:srgbClr val="000000">
                <a:alpha val="20000"/>
              </a:srgbClr>
            </a:outerShdw>
          </a:effectLst>
        </p:spPr>
      </p:sp>
      <p:sp>
        <p:nvSpPr>
          <p:cNvPr id="18" name="Text 16"/>
          <p:cNvSpPr/>
          <p:nvPr/>
        </p:nvSpPr>
        <p:spPr>
          <a:xfrm>
            <a:off x="1069848" y="3273552"/>
            <a:ext cx="4572000" cy="219456"/>
          </a:xfrm>
          <a:prstGeom prst="rect">
            <a:avLst/>
          </a:prstGeom>
          <a:noFill/>
          <a:ln/>
        </p:spPr>
        <p:txBody>
          <a:bodyPr wrap="square" lIns="0" tIns="0" rIns="0" bIns="0" rtlCol="0" anchor="ctr"/>
          <a:lstStyle/>
          <a:p>
            <a:pPr indent="0" marL="0">
              <a:buNone/>
            </a:pPr>
            <a:r>
              <a:rPr lang="en-US" sz="950" b="1" spc="300" kern="0" dirty="0">
                <a:solidFill>
                  <a:srgbClr val="E2571F"/>
                </a:solidFill>
                <a:latin typeface="Courier New" pitchFamily="34" charset="0"/>
                <a:ea typeface="Courier New" pitchFamily="34" charset="-122"/>
                <a:cs typeface="Courier New" pitchFamily="34" charset="-120"/>
              </a:rPr>
              <a:t>05  ·  THE DEBATE</a:t>
            </a:r>
            <a:endParaRPr lang="en-US" sz="950" dirty="0"/>
          </a:p>
        </p:txBody>
      </p:sp>
      <p:sp>
        <p:nvSpPr>
          <p:cNvPr id="19" name="Text 17"/>
          <p:cNvSpPr/>
          <p:nvPr/>
        </p:nvSpPr>
        <p:spPr>
          <a:xfrm>
            <a:off x="1069848" y="3639312"/>
            <a:ext cx="3163824" cy="310896"/>
          </a:xfrm>
          <a:prstGeom prst="rect">
            <a:avLst/>
          </a:prstGeom>
          <a:noFill/>
          <a:ln/>
        </p:spPr>
        <p:txBody>
          <a:bodyPr wrap="square" lIns="0" tIns="0" rIns="0" bIns="0" rtlCol="0" anchor="ctr"/>
          <a:lstStyle/>
          <a:p>
            <a:pPr indent="0" marL="0">
              <a:buNone/>
            </a:pPr>
            <a:r>
              <a:rPr lang="en-US" sz="1600" b="1" dirty="0">
                <a:solidFill>
                  <a:srgbClr val="F3ECE2"/>
                </a:solidFill>
                <a:latin typeface="Calibri" pitchFamily="34" charset="0"/>
                <a:ea typeface="Calibri" pitchFamily="34" charset="-122"/>
                <a:cs typeface="Calibri" pitchFamily="34" charset="-120"/>
              </a:rPr>
              <a:t>Defender</a:t>
            </a:r>
            <a:endParaRPr lang="en-US" sz="1600" dirty="0"/>
          </a:p>
        </p:txBody>
      </p:sp>
      <p:sp>
        <p:nvSpPr>
          <p:cNvPr id="20" name="Text 18"/>
          <p:cNvSpPr/>
          <p:nvPr/>
        </p:nvSpPr>
        <p:spPr>
          <a:xfrm>
            <a:off x="1069848" y="3977640"/>
            <a:ext cx="3163824" cy="274320"/>
          </a:xfrm>
          <a:prstGeom prst="rect">
            <a:avLst/>
          </a:prstGeom>
          <a:noFill/>
          <a:ln/>
        </p:spPr>
        <p:txBody>
          <a:bodyPr wrap="square" lIns="0" tIns="0" rIns="0" bIns="0" rtlCol="0" anchor="ctr"/>
          <a:lstStyle/>
          <a:p>
            <a:pPr indent="0" marL="0">
              <a:buNone/>
            </a:pPr>
            <a:r>
              <a:rPr lang="en-US" sz="1150" dirty="0">
                <a:solidFill>
                  <a:srgbClr val="9A8F86"/>
                </a:solidFill>
                <a:latin typeface="Courier New" pitchFamily="34" charset="0"/>
                <a:ea typeface="Courier New" pitchFamily="34" charset="-122"/>
                <a:cs typeface="Courier New" pitchFamily="34" charset="-120"/>
              </a:rPr>
              <a:t>argues v1 is right</a:t>
            </a:r>
            <a:endParaRPr lang="en-US" sz="1150" dirty="0"/>
          </a:p>
        </p:txBody>
      </p:sp>
      <p:sp>
        <p:nvSpPr>
          <p:cNvPr id="21" name="Text 19"/>
          <p:cNvSpPr/>
          <p:nvPr/>
        </p:nvSpPr>
        <p:spPr>
          <a:xfrm>
            <a:off x="4480560" y="3639312"/>
            <a:ext cx="3163824" cy="310896"/>
          </a:xfrm>
          <a:prstGeom prst="rect">
            <a:avLst/>
          </a:prstGeom>
          <a:noFill/>
          <a:ln/>
        </p:spPr>
        <p:txBody>
          <a:bodyPr wrap="square" lIns="0" tIns="0" rIns="0" bIns="0" rtlCol="0" anchor="ctr"/>
          <a:lstStyle/>
          <a:p>
            <a:pPr indent="0" marL="0">
              <a:buNone/>
            </a:pPr>
            <a:r>
              <a:rPr lang="en-US" sz="1600" b="1" dirty="0">
                <a:solidFill>
                  <a:srgbClr val="F3ECE2"/>
                </a:solidFill>
                <a:latin typeface="Calibri" pitchFamily="34" charset="0"/>
                <a:ea typeface="Calibri" pitchFamily="34" charset="-122"/>
                <a:cs typeface="Calibri" pitchFamily="34" charset="-120"/>
              </a:rPr>
              <a:t>Attacker</a:t>
            </a:r>
            <a:endParaRPr lang="en-US" sz="1600" dirty="0"/>
          </a:p>
        </p:txBody>
      </p:sp>
      <p:sp>
        <p:nvSpPr>
          <p:cNvPr id="22" name="Text 20"/>
          <p:cNvSpPr/>
          <p:nvPr/>
        </p:nvSpPr>
        <p:spPr>
          <a:xfrm>
            <a:off x="4480560" y="3977640"/>
            <a:ext cx="3163824" cy="274320"/>
          </a:xfrm>
          <a:prstGeom prst="rect">
            <a:avLst/>
          </a:prstGeom>
          <a:noFill/>
          <a:ln/>
        </p:spPr>
        <p:txBody>
          <a:bodyPr wrap="square" lIns="0" tIns="0" rIns="0" bIns="0" rtlCol="0" anchor="ctr"/>
          <a:lstStyle/>
          <a:p>
            <a:pPr indent="0" marL="0">
              <a:buNone/>
            </a:pPr>
            <a:r>
              <a:rPr lang="en-US" sz="1150" dirty="0">
                <a:solidFill>
                  <a:srgbClr val="E2571F"/>
                </a:solidFill>
                <a:latin typeface="Courier New" pitchFamily="34" charset="0"/>
                <a:ea typeface="Courier New" pitchFamily="34" charset="-122"/>
                <a:cs typeface="Courier New" pitchFamily="34" charset="-120"/>
              </a:rPr>
              <a:t>FAILS if it agrees</a:t>
            </a:r>
            <a:endParaRPr lang="en-US" sz="1150" dirty="0"/>
          </a:p>
        </p:txBody>
      </p:sp>
      <p:sp>
        <p:nvSpPr>
          <p:cNvPr id="23" name="Text 21"/>
          <p:cNvSpPr/>
          <p:nvPr/>
        </p:nvSpPr>
        <p:spPr>
          <a:xfrm>
            <a:off x="7891272" y="3639312"/>
            <a:ext cx="3163824" cy="310896"/>
          </a:xfrm>
          <a:prstGeom prst="rect">
            <a:avLst/>
          </a:prstGeom>
          <a:noFill/>
          <a:ln/>
        </p:spPr>
        <p:txBody>
          <a:bodyPr wrap="square" lIns="0" tIns="0" rIns="0" bIns="0" rtlCol="0" anchor="ctr"/>
          <a:lstStyle/>
          <a:p>
            <a:pPr indent="0" marL="0">
              <a:buNone/>
            </a:pPr>
            <a:r>
              <a:rPr lang="en-US" sz="1600" b="1" dirty="0">
                <a:solidFill>
                  <a:srgbClr val="F3ECE2"/>
                </a:solidFill>
                <a:latin typeface="Calibri" pitchFamily="34" charset="0"/>
                <a:ea typeface="Calibri" pitchFamily="34" charset="-122"/>
                <a:cs typeface="Calibri" pitchFamily="34" charset="-120"/>
              </a:rPr>
              <a:t>Skeptic</a:t>
            </a:r>
            <a:endParaRPr lang="en-US" sz="1600" dirty="0"/>
          </a:p>
        </p:txBody>
      </p:sp>
      <p:sp>
        <p:nvSpPr>
          <p:cNvPr id="24" name="Text 22"/>
          <p:cNvSpPr/>
          <p:nvPr/>
        </p:nvSpPr>
        <p:spPr>
          <a:xfrm>
            <a:off x="7891272" y="3977640"/>
            <a:ext cx="3163824" cy="274320"/>
          </a:xfrm>
          <a:prstGeom prst="rect">
            <a:avLst/>
          </a:prstGeom>
          <a:noFill/>
          <a:ln/>
        </p:spPr>
        <p:txBody>
          <a:bodyPr wrap="square" lIns="0" tIns="0" rIns="0" bIns="0" rtlCol="0" anchor="ctr"/>
          <a:lstStyle/>
          <a:p>
            <a:pPr indent="0" marL="0">
              <a:buNone/>
            </a:pPr>
            <a:r>
              <a:rPr lang="en-US" sz="1150" dirty="0">
                <a:solidFill>
                  <a:srgbClr val="E2571F"/>
                </a:solidFill>
                <a:latin typeface="Courier New" pitchFamily="34" charset="0"/>
                <a:ea typeface="Courier New" pitchFamily="34" charset="-122"/>
                <a:cs typeface="Courier New" pitchFamily="34" charset="-120"/>
              </a:rPr>
              <a:t>FAILS if it overlaps</a:t>
            </a:r>
            <a:endParaRPr lang="en-US" sz="1150" dirty="0"/>
          </a:p>
        </p:txBody>
      </p:sp>
      <p:sp>
        <p:nvSpPr>
          <p:cNvPr id="25" name="Shape 23"/>
          <p:cNvSpPr/>
          <p:nvPr/>
        </p:nvSpPr>
        <p:spPr>
          <a:xfrm>
            <a:off x="777240" y="4809744"/>
            <a:ext cx="3364992" cy="804672"/>
          </a:xfrm>
          <a:prstGeom prst="roundRect">
            <a:avLst>
              <a:gd name="adj" fmla="val 4545"/>
            </a:avLst>
          </a:prstGeom>
          <a:solidFill>
            <a:srgbClr val="E6DBCB"/>
          </a:solidFill>
          <a:ln/>
          <a:effectLst>
            <a:outerShdw sx="100000" sy="100000" kx="0" ky="0" algn="bl" rotWithShape="0" blurRad="101600" dist="25400" dir="5400000">
              <a:srgbClr val="000000">
                <a:alpha val="14000"/>
              </a:srgbClr>
            </a:outerShdw>
          </a:effectLst>
        </p:spPr>
      </p:sp>
      <p:sp>
        <p:nvSpPr>
          <p:cNvPr id="26" name="Text 24"/>
          <p:cNvSpPr/>
          <p:nvPr/>
        </p:nvSpPr>
        <p:spPr>
          <a:xfrm>
            <a:off x="960120" y="4919472"/>
            <a:ext cx="3044952" cy="182880"/>
          </a:xfrm>
          <a:prstGeom prst="rect">
            <a:avLst/>
          </a:prstGeom>
          <a:noFill/>
          <a:ln/>
        </p:spPr>
        <p:txBody>
          <a:bodyPr wrap="square" lIns="0" tIns="0" rIns="0" bIns="0" rtlCol="0" anchor="ctr"/>
          <a:lstStyle/>
          <a:p>
            <a:pPr indent="0" marL="0">
              <a:buNone/>
            </a:pPr>
            <a:r>
              <a:rPr lang="en-US" sz="850" b="1" spc="150" kern="0" dirty="0">
                <a:solidFill>
                  <a:srgbClr val="7A6E64"/>
                </a:solidFill>
                <a:latin typeface="Courier New" pitchFamily="34" charset="0"/>
                <a:ea typeface="Courier New" pitchFamily="34" charset="-122"/>
                <a:cs typeface="Courier New" pitchFamily="34" charset="-120"/>
              </a:rPr>
              <a:t>06</a:t>
            </a:r>
            <a:endParaRPr lang="en-US" sz="850" dirty="0"/>
          </a:p>
        </p:txBody>
      </p:sp>
      <p:sp>
        <p:nvSpPr>
          <p:cNvPr id="27" name="Text 25"/>
          <p:cNvSpPr/>
          <p:nvPr/>
        </p:nvSpPr>
        <p:spPr>
          <a:xfrm>
            <a:off x="960120" y="5129784"/>
            <a:ext cx="3044952" cy="365760"/>
          </a:xfrm>
          <a:prstGeom prst="rect">
            <a:avLst/>
          </a:prstGeom>
          <a:noFill/>
          <a:ln/>
        </p:spPr>
        <p:txBody>
          <a:bodyPr wrap="square" lIns="0" tIns="0" rIns="0" bIns="0" rtlCol="0" anchor="t"/>
          <a:lstStyle/>
          <a:p>
            <a:pPr indent="0" marL="0">
              <a:buNone/>
            </a:pPr>
            <a:r>
              <a:rPr lang="en-US" sz="1200" b="1" dirty="0">
                <a:solidFill>
                  <a:srgbClr val="161210"/>
                </a:solidFill>
                <a:latin typeface="Calibri" pitchFamily="34" charset="0"/>
                <a:ea typeface="Calibri" pitchFamily="34" charset="-122"/>
                <a:cs typeface="Calibri" pitchFamily="34" charset="-120"/>
              </a:rPr>
              <a:t>Judge rules</a:t>
            </a:r>
            <a:endParaRPr lang="en-US" sz="1200" dirty="0"/>
          </a:p>
        </p:txBody>
      </p:sp>
      <p:sp>
        <p:nvSpPr>
          <p:cNvPr id="28" name="Shape 26"/>
          <p:cNvSpPr/>
          <p:nvPr/>
        </p:nvSpPr>
        <p:spPr>
          <a:xfrm>
            <a:off x="4407408" y="4809744"/>
            <a:ext cx="3364992" cy="804672"/>
          </a:xfrm>
          <a:prstGeom prst="roundRect">
            <a:avLst>
              <a:gd name="adj" fmla="val 4545"/>
            </a:avLst>
          </a:prstGeom>
          <a:solidFill>
            <a:srgbClr val="E6DBCB"/>
          </a:solidFill>
          <a:ln/>
          <a:effectLst>
            <a:outerShdw sx="100000" sy="100000" kx="0" ky="0" algn="bl" rotWithShape="0" blurRad="101600" dist="25400" dir="5400000">
              <a:srgbClr val="000000">
                <a:alpha val="14000"/>
              </a:srgbClr>
            </a:outerShdw>
          </a:effectLst>
        </p:spPr>
      </p:sp>
      <p:sp>
        <p:nvSpPr>
          <p:cNvPr id="29" name="Text 27"/>
          <p:cNvSpPr/>
          <p:nvPr/>
        </p:nvSpPr>
        <p:spPr>
          <a:xfrm>
            <a:off x="4590288" y="4919472"/>
            <a:ext cx="3044952" cy="182880"/>
          </a:xfrm>
          <a:prstGeom prst="rect">
            <a:avLst/>
          </a:prstGeom>
          <a:noFill/>
          <a:ln/>
        </p:spPr>
        <p:txBody>
          <a:bodyPr wrap="square" lIns="0" tIns="0" rIns="0" bIns="0" rtlCol="0" anchor="ctr"/>
          <a:lstStyle/>
          <a:p>
            <a:pPr indent="0" marL="0">
              <a:buNone/>
            </a:pPr>
            <a:r>
              <a:rPr lang="en-US" sz="850" b="1" spc="150" kern="0" dirty="0">
                <a:solidFill>
                  <a:srgbClr val="7A6E64"/>
                </a:solidFill>
                <a:latin typeface="Courier New" pitchFamily="34" charset="0"/>
                <a:ea typeface="Courier New" pitchFamily="34" charset="-122"/>
                <a:cs typeface="Courier New" pitchFamily="34" charset="-120"/>
              </a:rPr>
              <a:t>07</a:t>
            </a:r>
            <a:endParaRPr lang="en-US" sz="850" dirty="0"/>
          </a:p>
        </p:txBody>
      </p:sp>
      <p:sp>
        <p:nvSpPr>
          <p:cNvPr id="30" name="Text 28"/>
          <p:cNvSpPr/>
          <p:nvPr/>
        </p:nvSpPr>
        <p:spPr>
          <a:xfrm>
            <a:off x="4590288" y="5129784"/>
            <a:ext cx="3044952" cy="365760"/>
          </a:xfrm>
          <a:prstGeom prst="rect">
            <a:avLst/>
          </a:prstGeom>
          <a:noFill/>
          <a:ln/>
        </p:spPr>
        <p:txBody>
          <a:bodyPr wrap="square" lIns="0" tIns="0" rIns="0" bIns="0" rtlCol="0" anchor="t"/>
          <a:lstStyle/>
          <a:p>
            <a:pPr indent="0" marL="0">
              <a:buNone/>
            </a:pPr>
            <a:r>
              <a:rPr lang="en-US" sz="1200" b="1" dirty="0">
                <a:solidFill>
                  <a:srgbClr val="161210"/>
                </a:solidFill>
                <a:latin typeface="Calibri" pitchFamily="34" charset="0"/>
                <a:ea typeface="Calibri" pitchFamily="34" charset="-122"/>
                <a:cs typeface="Calibri" pitchFamily="34" charset="-120"/>
              </a:rPr>
              <a:t>Answer v2</a:t>
            </a:r>
            <a:endParaRPr lang="en-US" sz="1200" dirty="0"/>
          </a:p>
        </p:txBody>
      </p:sp>
      <p:sp>
        <p:nvSpPr>
          <p:cNvPr id="31" name="Shape 29"/>
          <p:cNvSpPr/>
          <p:nvPr/>
        </p:nvSpPr>
        <p:spPr>
          <a:xfrm>
            <a:off x="8037576" y="4809744"/>
            <a:ext cx="3364992" cy="804672"/>
          </a:xfrm>
          <a:prstGeom prst="roundRect">
            <a:avLst>
              <a:gd name="adj" fmla="val 4545"/>
            </a:avLst>
          </a:prstGeom>
          <a:solidFill>
            <a:srgbClr val="E8A33D"/>
          </a:solidFill>
          <a:ln/>
          <a:effectLst>
            <a:outerShdw sx="100000" sy="100000" kx="0" ky="0" algn="bl" rotWithShape="0" blurRad="101600" dist="25400" dir="5400000">
              <a:srgbClr val="000000">
                <a:alpha val="14000"/>
              </a:srgbClr>
            </a:outerShdw>
          </a:effectLst>
        </p:spPr>
      </p:sp>
      <p:sp>
        <p:nvSpPr>
          <p:cNvPr id="32" name="Text 30"/>
          <p:cNvSpPr/>
          <p:nvPr/>
        </p:nvSpPr>
        <p:spPr>
          <a:xfrm>
            <a:off x="8220456" y="4919472"/>
            <a:ext cx="3044952" cy="182880"/>
          </a:xfrm>
          <a:prstGeom prst="rect">
            <a:avLst/>
          </a:prstGeom>
          <a:noFill/>
          <a:ln/>
        </p:spPr>
        <p:txBody>
          <a:bodyPr wrap="square" lIns="0" tIns="0" rIns="0" bIns="0" rtlCol="0" anchor="ctr"/>
          <a:lstStyle/>
          <a:p>
            <a:pPr indent="0" marL="0">
              <a:buNone/>
            </a:pPr>
            <a:r>
              <a:rPr lang="en-US" sz="850" b="1" spc="150" kern="0" dirty="0">
                <a:solidFill>
                  <a:srgbClr val="6B5525"/>
                </a:solidFill>
                <a:latin typeface="Courier New" pitchFamily="34" charset="0"/>
                <a:ea typeface="Courier New" pitchFamily="34" charset="-122"/>
                <a:cs typeface="Courier New" pitchFamily="34" charset="-120"/>
              </a:rPr>
              <a:t>08</a:t>
            </a:r>
            <a:endParaRPr lang="en-US" sz="850" dirty="0"/>
          </a:p>
        </p:txBody>
      </p:sp>
      <p:sp>
        <p:nvSpPr>
          <p:cNvPr id="33" name="Text 31"/>
          <p:cNvSpPr/>
          <p:nvPr/>
        </p:nvSpPr>
        <p:spPr>
          <a:xfrm>
            <a:off x="8220456" y="5129784"/>
            <a:ext cx="3044952" cy="365760"/>
          </a:xfrm>
          <a:prstGeom prst="rect">
            <a:avLst/>
          </a:prstGeom>
          <a:noFill/>
          <a:ln/>
        </p:spPr>
        <p:txBody>
          <a:bodyPr wrap="square" lIns="0" tIns="0" rIns="0" bIns="0" rtlCol="0" anchor="t"/>
          <a:lstStyle/>
          <a:p>
            <a:pPr indent="0" marL="0">
              <a:buNone/>
            </a:pPr>
            <a:r>
              <a:rPr lang="en-US" sz="1200" b="1" dirty="0">
                <a:solidFill>
                  <a:srgbClr val="161210"/>
                </a:solidFill>
                <a:latin typeface="Calibri" pitchFamily="34" charset="0"/>
                <a:ea typeface="Calibri" pitchFamily="34" charset="-122"/>
                <a:cs typeface="Calibri" pitchFamily="34" charset="-120"/>
              </a:rPr>
              <a:t>Trust score</a:t>
            </a:r>
            <a:endParaRPr lang="en-US" sz="1200" dirty="0"/>
          </a:p>
        </p:txBody>
      </p:sp>
      <p:sp>
        <p:nvSpPr>
          <p:cNvPr id="34" name="Text 32"/>
          <p:cNvSpPr/>
          <p:nvPr/>
        </p:nvSpPr>
        <p:spPr>
          <a:xfrm>
            <a:off x="777240" y="5870448"/>
            <a:ext cx="10634472" cy="274320"/>
          </a:xfrm>
          <a:prstGeom prst="rect">
            <a:avLst/>
          </a:prstGeom>
          <a:noFill/>
          <a:ln/>
        </p:spPr>
        <p:txBody>
          <a:bodyPr wrap="square" lIns="0" tIns="0" rIns="0" bIns="0" rtlCol="0" anchor="ctr"/>
          <a:lstStyle/>
          <a:p>
            <a:pPr indent="0" marL="0">
              <a:buNone/>
            </a:pPr>
            <a:r>
              <a:rPr lang="en-US" sz="1050" dirty="0">
                <a:solidFill>
                  <a:srgbClr val="7A6E64"/>
                </a:solidFill>
                <a:latin typeface="Courier New" pitchFamily="34" charset="0"/>
                <a:ea typeface="Courier New" pitchFamily="34" charset="-122"/>
                <a:cs typeface="Courier New" pitchFamily="34" charset="-120"/>
              </a:rPr>
              <a:t>Self-assembly   ·   Adversarial debate   ·   Reflection &amp; rewrite   ·   Meta-scoring</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210"/>
        </a:solidFill>
      </p:bgPr>
    </p:bg>
    <p:spTree>
      <p:nvGrpSpPr>
        <p:cNvPr id="1" name=""/>
        <p:cNvGrpSpPr/>
        <p:nvPr/>
      </p:nvGrpSpPr>
      <p:grpSpPr>
        <a:xfrm>
          <a:off x="0" y="0"/>
          <a:ext cx="0" cy="0"/>
          <a:chOff x="0" y="0"/>
          <a:chExt cx="0" cy="0"/>
        </a:xfrm>
      </p:grpSpPr>
      <p:sp>
        <p:nvSpPr>
          <p:cNvPr id="2" name="Text 0"/>
          <p:cNvSpPr/>
          <p:nvPr/>
        </p:nvSpPr>
        <p:spPr>
          <a:xfrm>
            <a:off x="10954512" y="6291072"/>
            <a:ext cx="548640" cy="237744"/>
          </a:xfrm>
          <a:prstGeom prst="rect">
            <a:avLst/>
          </a:prstGeom>
          <a:noFill/>
          <a:ln/>
        </p:spPr>
        <p:txBody>
          <a:bodyPr wrap="square" lIns="0" tIns="0" rIns="0" bIns="0" rtlCol="0" anchor="ctr"/>
          <a:lstStyle/>
          <a:p>
            <a:pPr algn="r" indent="0" marL="0">
              <a:buNone/>
            </a:pPr>
            <a:r>
              <a:rPr lang="en-US" sz="900" dirty="0">
                <a:solidFill>
                  <a:srgbClr val="9A8F86"/>
                </a:solidFill>
                <a:latin typeface="Courier New" pitchFamily="34" charset="0"/>
                <a:ea typeface="Courier New" pitchFamily="34" charset="-122"/>
                <a:cs typeface="Courier New" pitchFamily="34" charset="-120"/>
              </a:rPr>
              <a:t>07</a:t>
            </a:r>
            <a:endParaRPr lang="en-US" sz="900" dirty="0"/>
          </a:p>
        </p:txBody>
      </p:sp>
      <p:sp>
        <p:nvSpPr>
          <p:cNvPr id="3" name="Text 1"/>
          <p:cNvSpPr/>
          <p:nvPr/>
        </p:nvSpPr>
        <p:spPr>
          <a:xfrm>
            <a:off x="777240" y="475488"/>
            <a:ext cx="10634472" cy="237744"/>
          </a:xfrm>
          <a:prstGeom prst="rect">
            <a:avLst/>
          </a:prstGeom>
          <a:noFill/>
          <a:ln/>
        </p:spPr>
        <p:txBody>
          <a:bodyPr wrap="square" lIns="0" tIns="0" rIns="0" bIns="0" rtlCol="0" anchor="ctr"/>
          <a:lstStyle/>
          <a:p>
            <a:pPr indent="0" marL="0">
              <a:buNone/>
            </a:pPr>
            <a:r>
              <a:rPr lang="en-US" sz="950" b="1" spc="400" kern="0" dirty="0">
                <a:solidFill>
                  <a:srgbClr val="E2571F"/>
                </a:solidFill>
                <a:latin typeface="Courier New" pitchFamily="34" charset="0"/>
                <a:ea typeface="Courier New" pitchFamily="34" charset="-122"/>
                <a:cs typeface="Courier New" pitchFamily="34" charset="-120"/>
              </a:rPr>
              <a:t>INSIDE THE DEBATE</a:t>
            </a:r>
            <a:endParaRPr lang="en-US" sz="950" dirty="0"/>
          </a:p>
        </p:txBody>
      </p:sp>
      <p:sp>
        <p:nvSpPr>
          <p:cNvPr id="4" name="Text 2"/>
          <p:cNvSpPr/>
          <p:nvPr/>
        </p:nvSpPr>
        <p:spPr>
          <a:xfrm>
            <a:off x="777240" y="896112"/>
            <a:ext cx="10634472" cy="914400"/>
          </a:xfrm>
          <a:prstGeom prst="rect">
            <a:avLst/>
          </a:prstGeom>
          <a:noFill/>
          <a:ln/>
        </p:spPr>
        <p:txBody>
          <a:bodyPr wrap="square" lIns="0" tIns="0" rIns="0" bIns="0" rtlCol="0" anchor="t"/>
          <a:lstStyle/>
          <a:p>
            <a:pPr indent="0" marL="0">
              <a:buNone/>
            </a:pPr>
            <a:r>
              <a:rPr lang="en-US" sz="2900" b="1" dirty="0">
                <a:solidFill>
                  <a:srgbClr val="F3ECE2"/>
                </a:solidFill>
                <a:latin typeface="Bookman Old Style" pitchFamily="34" charset="0"/>
                <a:ea typeface="Bookman Old Style" pitchFamily="34" charset="-122"/>
                <a:cs typeface="Bookman Old Style" pitchFamily="34" charset="-120"/>
              </a:rPr>
              <a:t>Three critics who cannot agree with each other</a:t>
            </a:r>
            <a:endParaRPr lang="en-US" sz="2900" dirty="0"/>
          </a:p>
        </p:txBody>
      </p:sp>
      <p:sp>
        <p:nvSpPr>
          <p:cNvPr id="5" name="Shape 3"/>
          <p:cNvSpPr/>
          <p:nvPr/>
        </p:nvSpPr>
        <p:spPr>
          <a:xfrm>
            <a:off x="777240" y="2103120"/>
            <a:ext cx="10634472" cy="1060704"/>
          </a:xfrm>
          <a:prstGeom prst="roundRect">
            <a:avLst>
              <a:gd name="adj" fmla="val 3448"/>
            </a:avLst>
          </a:prstGeom>
          <a:solidFill>
            <a:srgbClr val="221C18"/>
          </a:solidFill>
          <a:ln/>
          <a:effectLst>
            <a:outerShdw sx="100000" sy="100000" kx="0" ky="0" algn="bl" rotWithShape="0" blurRad="152400" dist="38100" dir="5400000">
              <a:srgbClr val="000000">
                <a:alpha val="28000"/>
              </a:srgbClr>
            </a:outerShdw>
          </a:effectLst>
        </p:spPr>
      </p:sp>
      <p:sp>
        <p:nvSpPr>
          <p:cNvPr id="6" name="Text 4"/>
          <p:cNvSpPr/>
          <p:nvPr/>
        </p:nvSpPr>
        <p:spPr>
          <a:xfrm>
            <a:off x="1088136" y="2286000"/>
            <a:ext cx="2011680" cy="274320"/>
          </a:xfrm>
          <a:prstGeom prst="rect">
            <a:avLst/>
          </a:prstGeom>
          <a:noFill/>
          <a:ln/>
        </p:spPr>
        <p:txBody>
          <a:bodyPr wrap="square" lIns="0" tIns="0" rIns="0" bIns="0" rtlCol="0" anchor="ctr"/>
          <a:lstStyle/>
          <a:p>
            <a:pPr indent="0" marL="0">
              <a:buNone/>
            </a:pPr>
            <a:r>
              <a:rPr lang="en-US" sz="1100" b="1" spc="200" kern="0" dirty="0">
                <a:solidFill>
                  <a:srgbClr val="E2571F"/>
                </a:solidFill>
                <a:latin typeface="Courier New" pitchFamily="34" charset="0"/>
                <a:ea typeface="Courier New" pitchFamily="34" charset="-122"/>
                <a:cs typeface="Courier New" pitchFamily="34" charset="-120"/>
              </a:rPr>
              <a:t>DEFENDER</a:t>
            </a:r>
            <a:endParaRPr lang="en-US" sz="1100" dirty="0"/>
          </a:p>
        </p:txBody>
      </p:sp>
      <p:sp>
        <p:nvSpPr>
          <p:cNvPr id="7" name="Text 5"/>
          <p:cNvSpPr/>
          <p:nvPr/>
        </p:nvSpPr>
        <p:spPr>
          <a:xfrm>
            <a:off x="1088136" y="2615184"/>
            <a:ext cx="3108960" cy="365760"/>
          </a:xfrm>
          <a:prstGeom prst="rect">
            <a:avLst/>
          </a:prstGeom>
          <a:noFill/>
          <a:ln/>
        </p:spPr>
        <p:txBody>
          <a:bodyPr wrap="square" lIns="0" tIns="0" rIns="0" bIns="0" rtlCol="0" anchor="ctr"/>
          <a:lstStyle/>
          <a:p>
            <a:pPr indent="0" marL="0">
              <a:buNone/>
            </a:pPr>
            <a:r>
              <a:rPr lang="en-US" sz="1500" b="1" dirty="0">
                <a:solidFill>
                  <a:srgbClr val="F3ECE2"/>
                </a:solidFill>
                <a:latin typeface="Calibri" pitchFamily="34" charset="0"/>
                <a:ea typeface="Calibri" pitchFamily="34" charset="-122"/>
                <a:cs typeface="Calibri" pitchFamily="34" charset="-120"/>
              </a:rPr>
              <a:t>Argues version 1 is correct</a:t>
            </a:r>
            <a:endParaRPr lang="en-US" sz="1500" dirty="0"/>
          </a:p>
        </p:txBody>
      </p:sp>
      <p:sp>
        <p:nvSpPr>
          <p:cNvPr id="8" name="Text 6"/>
          <p:cNvSpPr/>
          <p:nvPr/>
        </p:nvSpPr>
        <p:spPr>
          <a:xfrm>
            <a:off x="4526280" y="2304288"/>
            <a:ext cx="6492240" cy="685800"/>
          </a:xfrm>
          <a:prstGeom prst="rect">
            <a:avLst/>
          </a:prstGeom>
          <a:noFill/>
          <a:ln/>
        </p:spPr>
        <p:txBody>
          <a:bodyPr wrap="square" lIns="0" tIns="0" rIns="0" bIns="0" rtlCol="0" anchor="ctr"/>
          <a:lstStyle/>
          <a:p>
            <a:pPr indent="0" marL="0">
              <a:lnSpc>
                <a:spcPts val="1900"/>
              </a:lnSpc>
              <a:buNone/>
            </a:pPr>
            <a:r>
              <a:rPr lang="en-US" sz="1300" dirty="0">
                <a:solidFill>
                  <a:srgbClr val="9A8F86"/>
                </a:solidFill>
                <a:latin typeface="Calibri" pitchFamily="34" charset="0"/>
                <a:ea typeface="Calibri" pitchFamily="34" charset="-122"/>
                <a:cs typeface="Calibri" pitchFamily="34" charset="-120"/>
              </a:rPr>
              <a:t>Quotes at least three claims it can support</a:t>
            </a:r>
            <a:endParaRPr lang="en-US" sz="1300" dirty="0"/>
          </a:p>
        </p:txBody>
      </p:sp>
      <p:sp>
        <p:nvSpPr>
          <p:cNvPr id="9" name="Shape 7"/>
          <p:cNvSpPr/>
          <p:nvPr/>
        </p:nvSpPr>
        <p:spPr>
          <a:xfrm>
            <a:off x="777240" y="3310128"/>
            <a:ext cx="10634472" cy="1060704"/>
          </a:xfrm>
          <a:prstGeom prst="roundRect">
            <a:avLst>
              <a:gd name="adj" fmla="val 3448"/>
            </a:avLst>
          </a:prstGeom>
          <a:solidFill>
            <a:srgbClr val="E2571F"/>
          </a:solidFill>
          <a:ln/>
          <a:effectLst>
            <a:outerShdw sx="100000" sy="100000" kx="0" ky="0" algn="bl" rotWithShape="0" blurRad="152400" dist="38100" dir="5400000">
              <a:srgbClr val="000000">
                <a:alpha val="28000"/>
              </a:srgbClr>
            </a:outerShdw>
          </a:effectLst>
        </p:spPr>
      </p:sp>
      <p:sp>
        <p:nvSpPr>
          <p:cNvPr id="10" name="Text 8"/>
          <p:cNvSpPr/>
          <p:nvPr/>
        </p:nvSpPr>
        <p:spPr>
          <a:xfrm>
            <a:off x="1088136" y="3493008"/>
            <a:ext cx="2011680" cy="274320"/>
          </a:xfrm>
          <a:prstGeom prst="rect">
            <a:avLst/>
          </a:prstGeom>
          <a:noFill/>
          <a:ln/>
        </p:spPr>
        <p:txBody>
          <a:bodyPr wrap="square" lIns="0" tIns="0" rIns="0" bIns="0" rtlCol="0" anchor="ctr"/>
          <a:lstStyle/>
          <a:p>
            <a:pPr indent="0" marL="0">
              <a:buNone/>
            </a:pPr>
            <a:r>
              <a:rPr lang="en-US" sz="1100" b="1" spc="200" kern="0" dirty="0">
                <a:solidFill>
                  <a:srgbClr val="F3ECE2"/>
                </a:solidFill>
                <a:latin typeface="Courier New" pitchFamily="34" charset="0"/>
                <a:ea typeface="Courier New" pitchFamily="34" charset="-122"/>
                <a:cs typeface="Courier New" pitchFamily="34" charset="-120"/>
              </a:rPr>
              <a:t>ATTACKER</a:t>
            </a:r>
            <a:endParaRPr lang="en-US" sz="1100" dirty="0"/>
          </a:p>
        </p:txBody>
      </p:sp>
      <p:sp>
        <p:nvSpPr>
          <p:cNvPr id="11" name="Text 9"/>
          <p:cNvSpPr/>
          <p:nvPr/>
        </p:nvSpPr>
        <p:spPr>
          <a:xfrm>
            <a:off x="1088136" y="3822192"/>
            <a:ext cx="3108960" cy="365760"/>
          </a:xfrm>
          <a:prstGeom prst="rect">
            <a:avLst/>
          </a:prstGeom>
          <a:noFill/>
          <a:ln/>
        </p:spPr>
        <p:txBody>
          <a:bodyPr wrap="square" lIns="0" tIns="0" rIns="0" bIns="0" rtlCol="0" anchor="ctr"/>
          <a:lstStyle/>
          <a:p>
            <a:pPr indent="0" marL="0">
              <a:buNone/>
            </a:pPr>
            <a:r>
              <a:rPr lang="en-US" sz="1500" b="1" dirty="0">
                <a:solidFill>
                  <a:srgbClr val="F3ECE2"/>
                </a:solidFill>
                <a:latin typeface="Calibri" pitchFamily="34" charset="0"/>
                <a:ea typeface="Calibri" pitchFamily="34" charset="-122"/>
                <a:cs typeface="Calibri" pitchFamily="34" charset="-120"/>
              </a:rPr>
              <a:t>Proves version 1 is wrong</a:t>
            </a:r>
            <a:endParaRPr lang="en-US" sz="1500" dirty="0"/>
          </a:p>
        </p:txBody>
      </p:sp>
      <p:sp>
        <p:nvSpPr>
          <p:cNvPr id="12" name="Text 10"/>
          <p:cNvSpPr/>
          <p:nvPr/>
        </p:nvSpPr>
        <p:spPr>
          <a:xfrm>
            <a:off x="4526280" y="3511296"/>
            <a:ext cx="6492240" cy="685800"/>
          </a:xfrm>
          <a:prstGeom prst="rect">
            <a:avLst/>
          </a:prstGeom>
          <a:noFill/>
          <a:ln/>
        </p:spPr>
        <p:txBody>
          <a:bodyPr wrap="square" lIns="0" tIns="0" rIns="0" bIns="0" rtlCol="0" anchor="ctr"/>
          <a:lstStyle/>
          <a:p>
            <a:pPr indent="0" marL="0">
              <a:lnSpc>
                <a:spcPts val="1900"/>
              </a:lnSpc>
              <a:buNone/>
            </a:pPr>
            <a:r>
              <a:rPr lang="en-US" sz="1300" dirty="0">
                <a:solidFill>
                  <a:srgbClr val="F6DDD0"/>
                </a:solidFill>
                <a:latin typeface="Calibri" pitchFamily="34" charset="0"/>
                <a:ea typeface="Calibri" pitchFamily="34" charset="-122"/>
                <a:cs typeface="Calibri" pitchFamily="34" charset="-120"/>
              </a:rPr>
              <a:t>Three objections minimum, each quoting the exact claim it attacks. Vague concerns don't count.</a:t>
            </a:r>
            <a:endParaRPr lang="en-US" sz="1300" dirty="0"/>
          </a:p>
        </p:txBody>
      </p:sp>
      <p:sp>
        <p:nvSpPr>
          <p:cNvPr id="13" name="Shape 11"/>
          <p:cNvSpPr/>
          <p:nvPr/>
        </p:nvSpPr>
        <p:spPr>
          <a:xfrm>
            <a:off x="777240" y="4517136"/>
            <a:ext cx="10634472" cy="1060704"/>
          </a:xfrm>
          <a:prstGeom prst="roundRect">
            <a:avLst>
              <a:gd name="adj" fmla="val 3448"/>
            </a:avLst>
          </a:prstGeom>
          <a:solidFill>
            <a:srgbClr val="221C18"/>
          </a:solidFill>
          <a:ln/>
          <a:effectLst>
            <a:outerShdw sx="100000" sy="100000" kx="0" ky="0" algn="bl" rotWithShape="0" blurRad="152400" dist="38100" dir="5400000">
              <a:srgbClr val="000000">
                <a:alpha val="28000"/>
              </a:srgbClr>
            </a:outerShdw>
          </a:effectLst>
        </p:spPr>
      </p:sp>
      <p:sp>
        <p:nvSpPr>
          <p:cNvPr id="14" name="Text 12"/>
          <p:cNvSpPr/>
          <p:nvPr/>
        </p:nvSpPr>
        <p:spPr>
          <a:xfrm>
            <a:off x="1088136" y="4700016"/>
            <a:ext cx="2011680" cy="274320"/>
          </a:xfrm>
          <a:prstGeom prst="rect">
            <a:avLst/>
          </a:prstGeom>
          <a:noFill/>
          <a:ln/>
        </p:spPr>
        <p:txBody>
          <a:bodyPr wrap="square" lIns="0" tIns="0" rIns="0" bIns="0" rtlCol="0" anchor="ctr"/>
          <a:lstStyle/>
          <a:p>
            <a:pPr indent="0" marL="0">
              <a:buNone/>
            </a:pPr>
            <a:r>
              <a:rPr lang="en-US" sz="1100" b="1" spc="200" kern="0" dirty="0">
                <a:solidFill>
                  <a:srgbClr val="E2571F"/>
                </a:solidFill>
                <a:latin typeface="Courier New" pitchFamily="34" charset="0"/>
                <a:ea typeface="Courier New" pitchFamily="34" charset="-122"/>
                <a:cs typeface="Courier New" pitchFamily="34" charset="-120"/>
              </a:rPr>
              <a:t>SKEPTIC</a:t>
            </a:r>
            <a:endParaRPr lang="en-US" sz="1100" dirty="0"/>
          </a:p>
        </p:txBody>
      </p:sp>
      <p:sp>
        <p:nvSpPr>
          <p:cNvPr id="15" name="Text 13"/>
          <p:cNvSpPr/>
          <p:nvPr/>
        </p:nvSpPr>
        <p:spPr>
          <a:xfrm>
            <a:off x="1088136" y="5029200"/>
            <a:ext cx="3108960" cy="365760"/>
          </a:xfrm>
          <a:prstGeom prst="rect">
            <a:avLst/>
          </a:prstGeom>
          <a:noFill/>
          <a:ln/>
        </p:spPr>
        <p:txBody>
          <a:bodyPr wrap="square" lIns="0" tIns="0" rIns="0" bIns="0" rtlCol="0" anchor="ctr"/>
          <a:lstStyle/>
          <a:p>
            <a:pPr indent="0" marL="0">
              <a:buNone/>
            </a:pPr>
            <a:r>
              <a:rPr lang="en-US" sz="1500" b="1" dirty="0">
                <a:solidFill>
                  <a:srgbClr val="F3ECE2"/>
                </a:solidFill>
                <a:latin typeface="Calibri" pitchFamily="34" charset="0"/>
                <a:ea typeface="Calibri" pitchFamily="34" charset="-122"/>
                <a:cs typeface="Calibri" pitchFamily="34" charset="-120"/>
              </a:rPr>
              <a:t>Finds what both of them missed</a:t>
            </a:r>
            <a:endParaRPr lang="en-US" sz="1500" dirty="0"/>
          </a:p>
        </p:txBody>
      </p:sp>
      <p:sp>
        <p:nvSpPr>
          <p:cNvPr id="16" name="Text 14"/>
          <p:cNvSpPr/>
          <p:nvPr/>
        </p:nvSpPr>
        <p:spPr>
          <a:xfrm>
            <a:off x="4526280" y="4718304"/>
            <a:ext cx="6492240" cy="685800"/>
          </a:xfrm>
          <a:prstGeom prst="rect">
            <a:avLst/>
          </a:prstGeom>
          <a:noFill/>
          <a:ln/>
        </p:spPr>
        <p:txBody>
          <a:bodyPr wrap="square" lIns="0" tIns="0" rIns="0" bIns="0" rtlCol="0" anchor="ctr"/>
          <a:lstStyle/>
          <a:p>
            <a:pPr indent="0" marL="0">
              <a:lnSpc>
                <a:spcPts val="1900"/>
              </a:lnSpc>
              <a:buNone/>
            </a:pPr>
            <a:r>
              <a:rPr lang="en-US" sz="1300" dirty="0">
                <a:solidFill>
                  <a:srgbClr val="9A8F86"/>
                </a:solidFill>
                <a:latin typeface="Calibri" pitchFamily="34" charset="0"/>
                <a:ea typeface="Calibri" pitchFamily="34" charset="-122"/>
                <a:cs typeface="Calibri" pitchFamily="34" charset="-120"/>
              </a:rPr>
              <a:t>At least two blind spots. Fails if its critique overlaps with theirs.</a:t>
            </a:r>
            <a:endParaRPr lang="en-US" sz="1300" dirty="0"/>
          </a:p>
        </p:txBody>
      </p:sp>
      <p:sp>
        <p:nvSpPr>
          <p:cNvPr id="17" name="Text 15"/>
          <p:cNvSpPr/>
          <p:nvPr/>
        </p:nvSpPr>
        <p:spPr>
          <a:xfrm>
            <a:off x="777240" y="5806440"/>
            <a:ext cx="10634472" cy="320040"/>
          </a:xfrm>
          <a:prstGeom prst="rect">
            <a:avLst/>
          </a:prstGeom>
          <a:noFill/>
          <a:ln/>
        </p:spPr>
        <p:txBody>
          <a:bodyPr wrap="square" lIns="0" tIns="0" rIns="0" bIns="0" rtlCol="0" anchor="ctr"/>
          <a:lstStyle/>
          <a:p>
            <a:pPr indent="0" marL="0">
              <a:buNone/>
            </a:pPr>
            <a:r>
              <a:rPr lang="en-US" sz="1400" i="1" dirty="0">
                <a:solidFill>
                  <a:srgbClr val="9A8F86"/>
                </a:solidFill>
                <a:latin typeface="Calibri" pitchFamily="34" charset="0"/>
                <a:ea typeface="Calibri" pitchFamily="34" charset="-122"/>
                <a:cs typeface="Calibri" pitchFamily="34" charset="-120"/>
              </a:rPr>
              <a:t>These are enforced in the task definitions — not requested politely in a prompt.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210"/>
        </a:solidFill>
      </p:bgPr>
    </p:bg>
    <p:spTree>
      <p:nvGrpSpPr>
        <p:cNvPr id="1" name=""/>
        <p:cNvGrpSpPr/>
        <p:nvPr/>
      </p:nvGrpSpPr>
      <p:grpSpPr>
        <a:xfrm>
          <a:off x="0" y="0"/>
          <a:ext cx="0" cy="0"/>
          <a:chOff x="0" y="0"/>
          <a:chExt cx="0" cy="0"/>
        </a:xfrm>
      </p:grpSpPr>
      <p:sp>
        <p:nvSpPr>
          <p:cNvPr id="2" name="Text 0"/>
          <p:cNvSpPr/>
          <p:nvPr/>
        </p:nvSpPr>
        <p:spPr>
          <a:xfrm>
            <a:off x="10954512" y="6291072"/>
            <a:ext cx="548640" cy="237744"/>
          </a:xfrm>
          <a:prstGeom prst="rect">
            <a:avLst/>
          </a:prstGeom>
          <a:noFill/>
          <a:ln/>
        </p:spPr>
        <p:txBody>
          <a:bodyPr wrap="square" lIns="0" tIns="0" rIns="0" bIns="0" rtlCol="0" anchor="ctr"/>
          <a:lstStyle/>
          <a:p>
            <a:pPr algn="r" indent="0" marL="0">
              <a:buNone/>
            </a:pPr>
            <a:r>
              <a:rPr lang="en-US" sz="900" dirty="0">
                <a:solidFill>
                  <a:srgbClr val="9A8F86"/>
                </a:solidFill>
                <a:latin typeface="Courier New" pitchFamily="34" charset="0"/>
                <a:ea typeface="Courier New" pitchFamily="34" charset="-122"/>
                <a:cs typeface="Courier New" pitchFamily="34" charset="-120"/>
              </a:rPr>
              <a:t>08</a:t>
            </a:r>
            <a:endParaRPr lang="en-US" sz="900" dirty="0"/>
          </a:p>
        </p:txBody>
      </p:sp>
      <p:sp>
        <p:nvSpPr>
          <p:cNvPr id="3" name="Text 1"/>
          <p:cNvSpPr/>
          <p:nvPr/>
        </p:nvSpPr>
        <p:spPr>
          <a:xfrm>
            <a:off x="777240" y="475488"/>
            <a:ext cx="10634472" cy="237744"/>
          </a:xfrm>
          <a:prstGeom prst="rect">
            <a:avLst/>
          </a:prstGeom>
          <a:noFill/>
          <a:ln/>
        </p:spPr>
        <p:txBody>
          <a:bodyPr wrap="square" lIns="0" tIns="0" rIns="0" bIns="0" rtlCol="0" anchor="ctr"/>
          <a:lstStyle/>
          <a:p>
            <a:pPr indent="0" marL="0">
              <a:buNone/>
            </a:pPr>
            <a:r>
              <a:rPr lang="en-US" sz="950" b="1" spc="400" kern="0" dirty="0">
                <a:solidFill>
                  <a:srgbClr val="E2571F"/>
                </a:solidFill>
                <a:latin typeface="Courier New" pitchFamily="34" charset="0"/>
                <a:ea typeface="Courier New" pitchFamily="34" charset="-122"/>
                <a:cs typeface="Courier New" pitchFamily="34" charset="-120"/>
              </a:rPr>
              <a:t>THE RULING</a:t>
            </a:r>
            <a:endParaRPr lang="en-US" sz="950" dirty="0"/>
          </a:p>
        </p:txBody>
      </p:sp>
      <p:sp>
        <p:nvSpPr>
          <p:cNvPr id="4" name="Text 2"/>
          <p:cNvSpPr/>
          <p:nvPr/>
        </p:nvSpPr>
        <p:spPr>
          <a:xfrm>
            <a:off x="777240" y="896112"/>
            <a:ext cx="10634472" cy="1371600"/>
          </a:xfrm>
          <a:prstGeom prst="rect">
            <a:avLst/>
          </a:prstGeom>
          <a:noFill/>
          <a:ln/>
        </p:spPr>
        <p:txBody>
          <a:bodyPr wrap="square" lIns="0" tIns="0" rIns="0" bIns="0" rtlCol="0" anchor="t"/>
          <a:lstStyle/>
          <a:p>
            <a:pPr indent="0" marL="0">
              <a:lnSpc>
                <a:spcPts val="4400"/>
              </a:lnSpc>
              <a:buNone/>
            </a:pPr>
            <a:r>
              <a:rPr lang="en-US" sz="3400" b="1" dirty="0">
                <a:solidFill>
                  <a:srgbClr val="F3ECE2"/>
                </a:solidFill>
                <a:latin typeface="Bookman Old Style" pitchFamily="34" charset="0"/>
                <a:ea typeface="Bookman Old Style" pitchFamily="34" charset="-122"/>
                <a:cs typeface="Bookman Old Style" pitchFamily="34" charset="-120"/>
              </a:rPr>
              <a:t>A judge that must decide,</a:t>
            </a:r>
            <a:endParaRPr lang="en-US" sz="3400" dirty="0"/>
          </a:p>
          <a:p>
            <a:pPr indent="0" marL="0">
              <a:lnSpc>
                <a:spcPts val="4400"/>
              </a:lnSpc>
              <a:buNone/>
            </a:pPr>
            <a:r>
              <a:rPr lang="en-US" sz="3400" b="1" dirty="0">
                <a:solidFill>
                  <a:srgbClr val="F3ECE2"/>
                </a:solidFill>
                <a:latin typeface="Bookman Old Style" pitchFamily="34" charset="0"/>
                <a:ea typeface="Bookman Old Style" pitchFamily="34" charset="-122"/>
                <a:cs typeface="Bookman Old Style" pitchFamily="34" charset="-120"/>
              </a:rPr>
              <a:t>not summarise.</a:t>
            </a:r>
            <a:endParaRPr lang="en-US" sz="3400" dirty="0"/>
          </a:p>
        </p:txBody>
      </p:sp>
      <p:sp>
        <p:nvSpPr>
          <p:cNvPr id="5" name="Shape 3"/>
          <p:cNvSpPr/>
          <p:nvPr/>
        </p:nvSpPr>
        <p:spPr>
          <a:xfrm>
            <a:off x="777240" y="2788920"/>
            <a:ext cx="5029200" cy="2286000"/>
          </a:xfrm>
          <a:prstGeom prst="roundRect">
            <a:avLst>
              <a:gd name="adj" fmla="val 1600"/>
            </a:avLst>
          </a:prstGeom>
          <a:solidFill>
            <a:srgbClr val="221C18"/>
          </a:solidFill>
          <a:ln/>
          <a:effectLst>
            <a:outerShdw sx="100000" sy="100000" kx="0" ky="0" algn="bl" rotWithShape="0" blurRad="152400" dist="38100" dir="5400000">
              <a:srgbClr val="000000">
                <a:alpha val="28000"/>
              </a:srgbClr>
            </a:outerShdw>
          </a:effectLst>
        </p:spPr>
      </p:sp>
      <p:sp>
        <p:nvSpPr>
          <p:cNvPr id="6" name="Text 4"/>
          <p:cNvSpPr/>
          <p:nvPr/>
        </p:nvSpPr>
        <p:spPr>
          <a:xfrm>
            <a:off x="1088136" y="3035808"/>
            <a:ext cx="4389120" cy="237744"/>
          </a:xfrm>
          <a:prstGeom prst="rect">
            <a:avLst/>
          </a:prstGeom>
          <a:noFill/>
          <a:ln/>
        </p:spPr>
        <p:txBody>
          <a:bodyPr wrap="square" lIns="0" tIns="0" rIns="0" bIns="0" rtlCol="0" anchor="ctr"/>
          <a:lstStyle/>
          <a:p>
            <a:pPr indent="0" marL="0">
              <a:buNone/>
            </a:pPr>
            <a:r>
              <a:rPr lang="en-US" sz="950" b="1" spc="300" kern="0" dirty="0">
                <a:solidFill>
                  <a:srgbClr val="E2571F"/>
                </a:solidFill>
                <a:latin typeface="Courier New" pitchFamily="34" charset="0"/>
                <a:ea typeface="Courier New" pitchFamily="34" charset="-122"/>
                <a:cs typeface="Courier New" pitchFamily="34" charset="-120"/>
              </a:rPr>
              <a:t>RULES EACH OBJECTION</a:t>
            </a:r>
            <a:endParaRPr lang="en-US" sz="950" dirty="0"/>
          </a:p>
        </p:txBody>
      </p:sp>
      <p:sp>
        <p:nvSpPr>
          <p:cNvPr id="7" name="Text 5"/>
          <p:cNvSpPr/>
          <p:nvPr/>
        </p:nvSpPr>
        <p:spPr>
          <a:xfrm>
            <a:off x="1088136" y="3401568"/>
            <a:ext cx="4389120" cy="868680"/>
          </a:xfrm>
          <a:prstGeom prst="rect">
            <a:avLst/>
          </a:prstGeom>
          <a:noFill/>
          <a:ln/>
        </p:spPr>
        <p:txBody>
          <a:bodyPr wrap="square" lIns="0" tIns="0" rIns="0" bIns="0" rtlCol="0" anchor="ctr"/>
          <a:lstStyle/>
          <a:p>
            <a:pPr indent="0" marL="0">
              <a:lnSpc>
                <a:spcPts val="3000"/>
              </a:lnSpc>
              <a:buNone/>
            </a:pPr>
            <a:r>
              <a:rPr lang="en-US" sz="1700" dirty="0">
                <a:solidFill>
                  <a:srgbClr val="F3ECE2"/>
                </a:solidFill>
                <a:latin typeface="Courier New" pitchFamily="34" charset="0"/>
                <a:ea typeface="Courier New" pitchFamily="34" charset="-122"/>
                <a:cs typeface="Courier New" pitchFamily="34" charset="-120"/>
              </a:rPr>
              <a:t>VALID   →   survives</a:t>
            </a:r>
            <a:endParaRPr lang="en-US" sz="1700" dirty="0"/>
          </a:p>
          <a:p>
            <a:pPr indent="0" marL="0">
              <a:lnSpc>
                <a:spcPts val="3000"/>
              </a:lnSpc>
              <a:buNone/>
            </a:pPr>
            <a:r>
              <a:rPr lang="en-US" sz="1700" dirty="0">
                <a:solidFill>
                  <a:srgbClr val="F3ECE2"/>
                </a:solidFill>
                <a:latin typeface="Courier New" pitchFamily="34" charset="0"/>
                <a:ea typeface="Courier New" pitchFamily="34" charset="-122"/>
                <a:cs typeface="Courier New" pitchFamily="34" charset="-120"/>
              </a:rPr>
              <a:t>NOISE   →   discarded</a:t>
            </a:r>
            <a:endParaRPr lang="en-US" sz="1700" dirty="0"/>
          </a:p>
        </p:txBody>
      </p:sp>
      <p:sp>
        <p:nvSpPr>
          <p:cNvPr id="8" name="Text 6"/>
          <p:cNvSpPr/>
          <p:nvPr/>
        </p:nvSpPr>
        <p:spPr>
          <a:xfrm>
            <a:off x="1088136" y="4389120"/>
            <a:ext cx="4389120" cy="457200"/>
          </a:xfrm>
          <a:prstGeom prst="rect">
            <a:avLst/>
          </a:prstGeom>
          <a:noFill/>
          <a:ln/>
        </p:spPr>
        <p:txBody>
          <a:bodyPr wrap="square" lIns="0" tIns="0" rIns="0" bIns="0" rtlCol="0" anchor="ctr"/>
          <a:lstStyle/>
          <a:p>
            <a:pPr indent="0" marL="0">
              <a:buNone/>
            </a:pPr>
            <a:r>
              <a:rPr lang="en-US" sz="1300" dirty="0">
                <a:solidFill>
                  <a:srgbClr val="9A8F86"/>
                </a:solidFill>
                <a:latin typeface="Calibri" pitchFamily="34" charset="0"/>
                <a:ea typeface="Calibri" pitchFamily="34" charset="-122"/>
                <a:cs typeface="Calibri" pitchFamily="34" charset="-120"/>
              </a:rPr>
              <a:t>No hedging. Every objection gets a ruling.</a:t>
            </a:r>
            <a:endParaRPr lang="en-US" sz="1300" dirty="0"/>
          </a:p>
        </p:txBody>
      </p:sp>
      <p:sp>
        <p:nvSpPr>
          <p:cNvPr id="9" name="Shape 7"/>
          <p:cNvSpPr/>
          <p:nvPr/>
        </p:nvSpPr>
        <p:spPr>
          <a:xfrm>
            <a:off x="6227064" y="2788920"/>
            <a:ext cx="5184648" cy="2286000"/>
          </a:xfrm>
          <a:prstGeom prst="roundRect">
            <a:avLst>
              <a:gd name="adj" fmla="val 1600"/>
            </a:avLst>
          </a:prstGeom>
          <a:solidFill>
            <a:srgbClr val="2C2420"/>
          </a:solidFill>
          <a:ln/>
          <a:effectLst>
            <a:outerShdw sx="100000" sy="100000" kx="0" ky="0" algn="bl" rotWithShape="0" blurRad="152400" dist="38100" dir="5400000">
              <a:srgbClr val="000000">
                <a:alpha val="28000"/>
              </a:srgbClr>
            </a:outerShdw>
          </a:effectLst>
        </p:spPr>
      </p:sp>
      <p:sp>
        <p:nvSpPr>
          <p:cNvPr id="10" name="Text 8"/>
          <p:cNvSpPr/>
          <p:nvPr/>
        </p:nvSpPr>
        <p:spPr>
          <a:xfrm>
            <a:off x="6537960" y="3035808"/>
            <a:ext cx="4572000" cy="237744"/>
          </a:xfrm>
          <a:prstGeom prst="rect">
            <a:avLst/>
          </a:prstGeom>
          <a:noFill/>
          <a:ln/>
        </p:spPr>
        <p:txBody>
          <a:bodyPr wrap="square" lIns="0" tIns="0" rIns="0" bIns="0" rtlCol="0" anchor="ctr"/>
          <a:lstStyle/>
          <a:p>
            <a:pPr indent="0" marL="0">
              <a:buNone/>
            </a:pPr>
            <a:r>
              <a:rPr lang="en-US" sz="950" b="1" spc="300" kern="0" dirty="0">
                <a:solidFill>
                  <a:srgbClr val="E8A33D"/>
                </a:solidFill>
                <a:latin typeface="Courier New" pitchFamily="34" charset="0"/>
                <a:ea typeface="Courier New" pitchFamily="34" charset="-122"/>
                <a:cs typeface="Courier New" pitchFamily="34" charset="-120"/>
              </a:rPr>
              <a:t>THEN ISSUES ONE DIRECTIVE</a:t>
            </a:r>
            <a:endParaRPr lang="en-US" sz="950" dirty="0"/>
          </a:p>
        </p:txBody>
      </p:sp>
      <p:sp>
        <p:nvSpPr>
          <p:cNvPr id="11" name="Text 9"/>
          <p:cNvSpPr/>
          <p:nvPr/>
        </p:nvSpPr>
        <p:spPr>
          <a:xfrm>
            <a:off x="6537960" y="3429000"/>
            <a:ext cx="4572000" cy="914400"/>
          </a:xfrm>
          <a:prstGeom prst="rect">
            <a:avLst/>
          </a:prstGeom>
          <a:noFill/>
          <a:ln/>
        </p:spPr>
        <p:txBody>
          <a:bodyPr wrap="square" lIns="0" tIns="0" rIns="0" bIns="0" rtlCol="0" anchor="ctr"/>
          <a:lstStyle/>
          <a:p>
            <a:pPr indent="0" marL="0">
              <a:lnSpc>
                <a:spcPts val="2600"/>
              </a:lnSpc>
              <a:buNone/>
            </a:pPr>
            <a:r>
              <a:rPr lang="en-US" sz="1600" i="1" dirty="0">
                <a:solidFill>
                  <a:srgbClr val="E8A33D"/>
                </a:solidFill>
                <a:latin typeface="Bookman Old Style" pitchFamily="34" charset="0"/>
                <a:ea typeface="Bookman Old Style" pitchFamily="34" charset="-122"/>
                <a:cs typeface="Bookman Old Style" pitchFamily="34" charset="-120"/>
              </a:rPr>
              <a:t>“Fix [exact claim].</a:t>
            </a:r>
            <a:endParaRPr lang="en-US" sz="1600" dirty="0"/>
          </a:p>
          <a:p>
            <a:pPr indent="0" marL="0">
              <a:lnSpc>
                <a:spcPts val="2600"/>
              </a:lnSpc>
              <a:buNone/>
            </a:pPr>
            <a:r>
              <a:rPr lang="en-US" sz="1600" i="1" dirty="0">
                <a:solidFill>
                  <a:srgbClr val="E8A33D"/>
                </a:solidFill>
                <a:latin typeface="Bookman Old Style" pitchFamily="34" charset="0"/>
                <a:ea typeface="Bookman Old Style" pitchFamily="34" charset="-122"/>
                <a:cs typeface="Bookman Old Style" pitchFamily="34" charset="-120"/>
              </a:rPr>
              <a:t>Change it to [specific correction].”</a:t>
            </a:r>
            <a:endParaRPr lang="en-US" sz="1600" dirty="0"/>
          </a:p>
        </p:txBody>
      </p:sp>
      <p:sp>
        <p:nvSpPr>
          <p:cNvPr id="12" name="Text 10"/>
          <p:cNvSpPr/>
          <p:nvPr/>
        </p:nvSpPr>
        <p:spPr>
          <a:xfrm>
            <a:off x="6537960" y="4407408"/>
            <a:ext cx="4572000" cy="457200"/>
          </a:xfrm>
          <a:prstGeom prst="rect">
            <a:avLst/>
          </a:prstGeom>
          <a:noFill/>
          <a:ln/>
        </p:spPr>
        <p:txBody>
          <a:bodyPr wrap="square" lIns="0" tIns="0" rIns="0" bIns="0" rtlCol="0" anchor="ctr"/>
          <a:lstStyle/>
          <a:p>
            <a:pPr indent="0" marL="0">
              <a:buNone/>
            </a:pPr>
            <a:r>
              <a:rPr lang="en-US" sz="1300" dirty="0">
                <a:solidFill>
                  <a:srgbClr val="9A8F86"/>
                </a:solidFill>
                <a:latin typeface="Calibri" pitchFamily="34" charset="0"/>
                <a:ea typeface="Calibri" pitchFamily="34" charset="-122"/>
                <a:cs typeface="Calibri" pitchFamily="34" charset="-120"/>
              </a:rPr>
              <a:t>Not “improve the answer.” One named claim, one named fix.</a:t>
            </a:r>
            <a:endParaRPr lang="en-US" sz="1300" dirty="0"/>
          </a:p>
        </p:txBody>
      </p:sp>
      <p:sp>
        <p:nvSpPr>
          <p:cNvPr id="13" name="Text 11"/>
          <p:cNvSpPr/>
          <p:nvPr/>
        </p:nvSpPr>
        <p:spPr>
          <a:xfrm>
            <a:off x="777240" y="5349240"/>
            <a:ext cx="10634472" cy="365760"/>
          </a:xfrm>
          <a:prstGeom prst="rect">
            <a:avLst/>
          </a:prstGeom>
          <a:noFill/>
          <a:ln/>
        </p:spPr>
        <p:txBody>
          <a:bodyPr wrap="square" lIns="0" tIns="0" rIns="0" bIns="0" rtlCol="0" anchor="ctr"/>
          <a:lstStyle/>
          <a:p>
            <a:pPr indent="0" marL="0">
              <a:buNone/>
            </a:pPr>
            <a:r>
              <a:rPr lang="en-US" sz="1450" i="1" dirty="0">
                <a:solidFill>
                  <a:srgbClr val="9A8F86"/>
                </a:solidFill>
                <a:latin typeface="Calibri" pitchFamily="34" charset="0"/>
                <a:ea typeface="Calibri" pitchFamily="34" charset="-122"/>
                <a:cs typeface="Calibri" pitchFamily="34" charset="-120"/>
              </a:rPr>
              <a:t>Version 2 applies that directive as a single surgical rewrite — one pass, not a loop.</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210"/>
        </a:solidFill>
      </p:bgPr>
    </p:bg>
    <p:spTree>
      <p:nvGrpSpPr>
        <p:cNvPr id="1" name=""/>
        <p:cNvGrpSpPr/>
        <p:nvPr/>
      </p:nvGrpSpPr>
      <p:grpSpPr>
        <a:xfrm>
          <a:off x="0" y="0"/>
          <a:ext cx="0" cy="0"/>
          <a:chOff x="0" y="0"/>
          <a:chExt cx="0" cy="0"/>
        </a:xfrm>
      </p:grpSpPr>
      <p:sp>
        <p:nvSpPr>
          <p:cNvPr id="2" name="Text 0"/>
          <p:cNvSpPr/>
          <p:nvPr/>
        </p:nvSpPr>
        <p:spPr>
          <a:xfrm>
            <a:off x="10954512" y="6291072"/>
            <a:ext cx="548640" cy="237744"/>
          </a:xfrm>
          <a:prstGeom prst="rect">
            <a:avLst/>
          </a:prstGeom>
          <a:noFill/>
          <a:ln/>
        </p:spPr>
        <p:txBody>
          <a:bodyPr wrap="square" lIns="0" tIns="0" rIns="0" bIns="0" rtlCol="0" anchor="ctr"/>
          <a:lstStyle/>
          <a:p>
            <a:pPr algn="r" indent="0" marL="0">
              <a:buNone/>
            </a:pPr>
            <a:r>
              <a:rPr lang="en-US" sz="900" dirty="0">
                <a:solidFill>
                  <a:srgbClr val="9A8F86"/>
                </a:solidFill>
                <a:latin typeface="Courier New" pitchFamily="34" charset="0"/>
                <a:ea typeface="Courier New" pitchFamily="34" charset="-122"/>
                <a:cs typeface="Courier New" pitchFamily="34" charset="-120"/>
              </a:rPr>
              <a:t>09</a:t>
            </a:r>
            <a:endParaRPr lang="en-US" sz="900" dirty="0"/>
          </a:p>
        </p:txBody>
      </p:sp>
      <p:sp>
        <p:nvSpPr>
          <p:cNvPr id="3" name="Text 1"/>
          <p:cNvSpPr/>
          <p:nvPr/>
        </p:nvSpPr>
        <p:spPr>
          <a:xfrm>
            <a:off x="777240" y="475488"/>
            <a:ext cx="10634472" cy="237744"/>
          </a:xfrm>
          <a:prstGeom prst="rect">
            <a:avLst/>
          </a:prstGeom>
          <a:noFill/>
          <a:ln/>
        </p:spPr>
        <p:txBody>
          <a:bodyPr wrap="square" lIns="0" tIns="0" rIns="0" bIns="0" rtlCol="0" anchor="ctr"/>
          <a:lstStyle/>
          <a:p>
            <a:pPr indent="0" marL="0">
              <a:buNone/>
            </a:pPr>
            <a:r>
              <a:rPr lang="en-US" sz="950" b="1" spc="400" kern="0" dirty="0">
                <a:solidFill>
                  <a:srgbClr val="E2571F"/>
                </a:solidFill>
                <a:latin typeface="Courier New" pitchFamily="34" charset="0"/>
                <a:ea typeface="Courier New" pitchFamily="34" charset="-122"/>
                <a:cs typeface="Courier New" pitchFamily="34" charset="-120"/>
              </a:rPr>
              <a:t>THE OUTPUT</a:t>
            </a:r>
            <a:endParaRPr lang="en-US" sz="950" dirty="0"/>
          </a:p>
        </p:txBody>
      </p:sp>
      <p:sp>
        <p:nvSpPr>
          <p:cNvPr id="4" name="Text 2"/>
          <p:cNvSpPr/>
          <p:nvPr/>
        </p:nvSpPr>
        <p:spPr>
          <a:xfrm>
            <a:off x="777240" y="896112"/>
            <a:ext cx="10634472" cy="1463040"/>
          </a:xfrm>
          <a:prstGeom prst="rect">
            <a:avLst/>
          </a:prstGeom>
          <a:noFill/>
          <a:ln/>
        </p:spPr>
        <p:txBody>
          <a:bodyPr wrap="square" lIns="0" tIns="0" rIns="0" bIns="0" rtlCol="0" anchor="t"/>
          <a:lstStyle/>
          <a:p>
            <a:pPr indent="0" marL="0">
              <a:lnSpc>
                <a:spcPts val="4400"/>
              </a:lnSpc>
              <a:buNone/>
            </a:pPr>
            <a:r>
              <a:rPr lang="en-US" sz="3400" b="1" dirty="0">
                <a:solidFill>
                  <a:srgbClr val="F3ECE2"/>
                </a:solidFill>
                <a:latin typeface="Bookman Old Style" pitchFamily="34" charset="0"/>
                <a:ea typeface="Bookman Old Style" pitchFamily="34" charset="-122"/>
                <a:cs typeface="Bookman Old Style" pitchFamily="34" charset="-120"/>
              </a:rPr>
              <a:t>It doesn't just answer.</a:t>
            </a:r>
            <a:endParaRPr lang="en-US" sz="3400" dirty="0"/>
          </a:p>
          <a:p>
            <a:pPr indent="0" marL="0">
              <a:lnSpc>
                <a:spcPts val="4400"/>
              </a:lnSpc>
              <a:buNone/>
            </a:pPr>
            <a:r>
              <a:rPr lang="en-US" sz="3400" b="1" dirty="0">
                <a:solidFill>
                  <a:srgbClr val="F3ECE2"/>
                </a:solidFill>
                <a:latin typeface="Bookman Old Style" pitchFamily="34" charset="0"/>
                <a:ea typeface="Bookman Old Style" pitchFamily="34" charset="-122"/>
                <a:cs typeface="Bookman Old Style" pitchFamily="34" charset="-120"/>
              </a:rPr>
              <a:t>It tells you how far to trust it.</a:t>
            </a:r>
            <a:endParaRPr lang="en-US" sz="3400" dirty="0"/>
          </a:p>
        </p:txBody>
      </p:sp>
      <p:sp>
        <p:nvSpPr>
          <p:cNvPr id="5" name="Shape 3"/>
          <p:cNvSpPr/>
          <p:nvPr/>
        </p:nvSpPr>
        <p:spPr>
          <a:xfrm>
            <a:off x="777240" y="2880360"/>
            <a:ext cx="3200400" cy="2148840"/>
          </a:xfrm>
          <a:prstGeom prst="roundRect">
            <a:avLst>
              <a:gd name="adj" fmla="val 2128"/>
            </a:avLst>
          </a:prstGeom>
          <a:solidFill>
            <a:srgbClr val="E8A33D"/>
          </a:solidFill>
          <a:ln/>
          <a:effectLst>
            <a:outerShdw sx="100000" sy="100000" kx="0" ky="0" algn="bl" rotWithShape="0" blurRad="152400" dist="38100" dir="5400000">
              <a:srgbClr val="000000">
                <a:alpha val="28000"/>
              </a:srgbClr>
            </a:outerShdw>
          </a:effectLst>
        </p:spPr>
      </p:sp>
      <p:sp>
        <p:nvSpPr>
          <p:cNvPr id="6" name="Text 4"/>
          <p:cNvSpPr/>
          <p:nvPr/>
        </p:nvSpPr>
        <p:spPr>
          <a:xfrm>
            <a:off x="1069848" y="3127248"/>
            <a:ext cx="2651760" cy="237744"/>
          </a:xfrm>
          <a:prstGeom prst="rect">
            <a:avLst/>
          </a:prstGeom>
          <a:noFill/>
          <a:ln/>
        </p:spPr>
        <p:txBody>
          <a:bodyPr wrap="square" lIns="0" tIns="0" rIns="0" bIns="0" rtlCol="0" anchor="ctr"/>
          <a:lstStyle/>
          <a:p>
            <a:pPr indent="0" marL="0">
              <a:buNone/>
            </a:pPr>
            <a:r>
              <a:rPr lang="en-US" sz="950" b="1" spc="300" kern="0" dirty="0">
                <a:solidFill>
                  <a:srgbClr val="6B5525"/>
                </a:solidFill>
                <a:latin typeface="Courier New" pitchFamily="34" charset="0"/>
                <a:ea typeface="Courier New" pitchFamily="34" charset="-122"/>
                <a:cs typeface="Courier New" pitchFamily="34" charset="-120"/>
              </a:rPr>
              <a:t>TRUST SCORE</a:t>
            </a:r>
            <a:endParaRPr lang="en-US" sz="950" dirty="0"/>
          </a:p>
        </p:txBody>
      </p:sp>
      <p:sp>
        <p:nvSpPr>
          <p:cNvPr id="7" name="Text 5"/>
          <p:cNvSpPr/>
          <p:nvPr/>
        </p:nvSpPr>
        <p:spPr>
          <a:xfrm>
            <a:off x="1069848" y="3456432"/>
            <a:ext cx="2651760" cy="914400"/>
          </a:xfrm>
          <a:prstGeom prst="rect">
            <a:avLst/>
          </a:prstGeom>
          <a:noFill/>
          <a:ln/>
        </p:spPr>
        <p:txBody>
          <a:bodyPr wrap="square" lIns="0" tIns="0" rIns="0" bIns="0" rtlCol="0" anchor="ctr"/>
          <a:lstStyle/>
          <a:p>
            <a:pPr indent="0" marL="0">
              <a:buNone/>
            </a:pPr>
            <a:r>
              <a:rPr lang="en-US" sz="4800" b="1" dirty="0">
                <a:solidFill>
                  <a:srgbClr val="161210"/>
                </a:solidFill>
                <a:latin typeface="Bookman Old Style" pitchFamily="34" charset="0"/>
                <a:ea typeface="Bookman Old Style" pitchFamily="34" charset="-122"/>
                <a:cs typeface="Bookman Old Style" pitchFamily="34" charset="-120"/>
              </a:rPr>
              <a:t>0–100</a:t>
            </a:r>
            <a:endParaRPr lang="en-US" sz="4800" dirty="0"/>
          </a:p>
        </p:txBody>
      </p:sp>
      <p:sp>
        <p:nvSpPr>
          <p:cNvPr id="8" name="Text 6"/>
          <p:cNvSpPr/>
          <p:nvPr/>
        </p:nvSpPr>
        <p:spPr>
          <a:xfrm>
            <a:off x="1069848" y="4389120"/>
            <a:ext cx="2651760" cy="548640"/>
          </a:xfrm>
          <a:prstGeom prst="rect">
            <a:avLst/>
          </a:prstGeom>
          <a:noFill/>
          <a:ln/>
        </p:spPr>
        <p:txBody>
          <a:bodyPr wrap="square" lIns="0" tIns="0" rIns="0" bIns="0" rtlCol="0" anchor="ctr"/>
          <a:lstStyle/>
          <a:p>
            <a:pPr indent="0" marL="0">
              <a:lnSpc>
                <a:spcPts val="1800"/>
              </a:lnSpc>
              <a:buNone/>
            </a:pPr>
            <a:r>
              <a:rPr lang="en-US" sz="1200" dirty="0">
                <a:solidFill>
                  <a:srgbClr val="6B5525"/>
                </a:solidFill>
                <a:latin typeface="Calibri" pitchFamily="34" charset="0"/>
                <a:ea typeface="Calibri" pitchFamily="34" charset="-122"/>
                <a:cs typeface="Calibri" pitchFamily="34" charset="-120"/>
              </a:rPr>
              <a:t>Produced by a dedicated</a:t>
            </a:r>
            <a:endParaRPr lang="en-US" sz="1200" dirty="0"/>
          </a:p>
          <a:p>
            <a:pPr indent="0" marL="0">
              <a:lnSpc>
                <a:spcPts val="1800"/>
              </a:lnSpc>
              <a:buNone/>
            </a:pPr>
            <a:r>
              <a:rPr lang="en-US" sz="1200" dirty="0">
                <a:solidFill>
                  <a:srgbClr val="6B5525"/>
                </a:solidFill>
                <a:latin typeface="Calibri" pitchFamily="34" charset="0"/>
                <a:ea typeface="Calibri" pitchFamily="34" charset="-122"/>
                <a:cs typeface="Calibri" pitchFamily="34" charset="-120"/>
              </a:rPr>
              <a:t>reliability auditor agent</a:t>
            </a:r>
            <a:endParaRPr lang="en-US" sz="1200" dirty="0"/>
          </a:p>
        </p:txBody>
      </p:sp>
      <p:sp>
        <p:nvSpPr>
          <p:cNvPr id="9" name="Shape 7"/>
          <p:cNvSpPr/>
          <p:nvPr/>
        </p:nvSpPr>
        <p:spPr>
          <a:xfrm>
            <a:off x="4398264" y="2880360"/>
            <a:ext cx="7013448" cy="1014984"/>
          </a:xfrm>
          <a:prstGeom prst="roundRect">
            <a:avLst>
              <a:gd name="adj" fmla="val 3604"/>
            </a:avLst>
          </a:prstGeom>
          <a:solidFill>
            <a:srgbClr val="221C18"/>
          </a:solidFill>
          <a:ln/>
          <a:effectLst>
            <a:outerShdw sx="100000" sy="100000" kx="0" ky="0" algn="bl" rotWithShape="0" blurRad="152400" dist="38100" dir="5400000">
              <a:srgbClr val="000000">
                <a:alpha val="28000"/>
              </a:srgbClr>
            </a:outerShdw>
          </a:effectLst>
        </p:spPr>
      </p:sp>
      <p:sp>
        <p:nvSpPr>
          <p:cNvPr id="10" name="Text 8"/>
          <p:cNvSpPr/>
          <p:nvPr/>
        </p:nvSpPr>
        <p:spPr>
          <a:xfrm>
            <a:off x="4709160" y="3063240"/>
            <a:ext cx="2194560" cy="237744"/>
          </a:xfrm>
          <a:prstGeom prst="rect">
            <a:avLst/>
          </a:prstGeom>
          <a:noFill/>
          <a:ln/>
        </p:spPr>
        <p:txBody>
          <a:bodyPr wrap="square" lIns="0" tIns="0" rIns="0" bIns="0" rtlCol="0" anchor="ctr"/>
          <a:lstStyle/>
          <a:p>
            <a:pPr indent="0" marL="0">
              <a:buNone/>
            </a:pPr>
            <a:r>
              <a:rPr lang="en-US" sz="950" b="1" spc="300" kern="0" dirty="0">
                <a:solidFill>
                  <a:srgbClr val="E2571F"/>
                </a:solidFill>
                <a:latin typeface="Courier New" pitchFamily="34" charset="0"/>
                <a:ea typeface="Courier New" pitchFamily="34" charset="-122"/>
                <a:cs typeface="Courier New" pitchFamily="34" charset="-120"/>
              </a:rPr>
              <a:t>STRONGEST</a:t>
            </a:r>
            <a:endParaRPr lang="en-US" sz="950" dirty="0"/>
          </a:p>
        </p:txBody>
      </p:sp>
      <p:sp>
        <p:nvSpPr>
          <p:cNvPr id="11" name="Text 9"/>
          <p:cNvSpPr/>
          <p:nvPr/>
        </p:nvSpPr>
        <p:spPr>
          <a:xfrm>
            <a:off x="4709160" y="3355848"/>
            <a:ext cx="6309360" cy="365760"/>
          </a:xfrm>
          <a:prstGeom prst="rect">
            <a:avLst/>
          </a:prstGeom>
          <a:noFill/>
          <a:ln/>
        </p:spPr>
        <p:txBody>
          <a:bodyPr wrap="square" lIns="0" tIns="0" rIns="0" bIns="0" rtlCol="0" anchor="ctr"/>
          <a:lstStyle/>
          <a:p>
            <a:pPr indent="0" marL="0">
              <a:buNone/>
            </a:pPr>
            <a:r>
              <a:rPr lang="en-US" sz="1500" dirty="0">
                <a:solidFill>
                  <a:srgbClr val="F3ECE2"/>
                </a:solidFill>
                <a:latin typeface="Calibri" pitchFamily="34" charset="0"/>
                <a:ea typeface="Calibri" pitchFamily="34" charset="-122"/>
                <a:cs typeface="Calibri" pitchFamily="34" charset="-120"/>
              </a:rPr>
              <a:t>The single claim the debate could not break</a:t>
            </a:r>
            <a:endParaRPr lang="en-US" sz="1500" dirty="0"/>
          </a:p>
        </p:txBody>
      </p:sp>
      <p:sp>
        <p:nvSpPr>
          <p:cNvPr id="12" name="Shape 10"/>
          <p:cNvSpPr/>
          <p:nvPr/>
        </p:nvSpPr>
        <p:spPr>
          <a:xfrm>
            <a:off x="4398264" y="4014216"/>
            <a:ext cx="7013448" cy="1014984"/>
          </a:xfrm>
          <a:prstGeom prst="roundRect">
            <a:avLst>
              <a:gd name="adj" fmla="val 3604"/>
            </a:avLst>
          </a:prstGeom>
          <a:solidFill>
            <a:srgbClr val="221C18"/>
          </a:solidFill>
          <a:ln/>
          <a:effectLst>
            <a:outerShdw sx="100000" sy="100000" kx="0" ky="0" algn="bl" rotWithShape="0" blurRad="152400" dist="38100" dir="5400000">
              <a:srgbClr val="000000">
                <a:alpha val="28000"/>
              </a:srgbClr>
            </a:outerShdw>
          </a:effectLst>
        </p:spPr>
      </p:sp>
      <p:sp>
        <p:nvSpPr>
          <p:cNvPr id="13" name="Text 11"/>
          <p:cNvSpPr/>
          <p:nvPr/>
        </p:nvSpPr>
        <p:spPr>
          <a:xfrm>
            <a:off x="4709160" y="4197096"/>
            <a:ext cx="2194560" cy="237744"/>
          </a:xfrm>
          <a:prstGeom prst="rect">
            <a:avLst/>
          </a:prstGeom>
          <a:noFill/>
          <a:ln/>
        </p:spPr>
        <p:txBody>
          <a:bodyPr wrap="square" lIns="0" tIns="0" rIns="0" bIns="0" rtlCol="0" anchor="ctr"/>
          <a:lstStyle/>
          <a:p>
            <a:pPr indent="0" marL="0">
              <a:buNone/>
            </a:pPr>
            <a:r>
              <a:rPr lang="en-US" sz="950" b="1" spc="300" kern="0" dirty="0">
                <a:solidFill>
                  <a:srgbClr val="E2571F"/>
                </a:solidFill>
                <a:latin typeface="Courier New" pitchFamily="34" charset="0"/>
                <a:ea typeface="Courier New" pitchFamily="34" charset="-122"/>
                <a:cs typeface="Courier New" pitchFamily="34" charset="-120"/>
              </a:rPr>
              <a:t>WEAKEST</a:t>
            </a:r>
            <a:endParaRPr lang="en-US" sz="950" dirty="0"/>
          </a:p>
        </p:txBody>
      </p:sp>
      <p:sp>
        <p:nvSpPr>
          <p:cNvPr id="14" name="Text 12"/>
          <p:cNvSpPr/>
          <p:nvPr/>
        </p:nvSpPr>
        <p:spPr>
          <a:xfrm>
            <a:off x="4709160" y="4489704"/>
            <a:ext cx="6309360" cy="365760"/>
          </a:xfrm>
          <a:prstGeom prst="rect">
            <a:avLst/>
          </a:prstGeom>
          <a:noFill/>
          <a:ln/>
        </p:spPr>
        <p:txBody>
          <a:bodyPr wrap="square" lIns="0" tIns="0" rIns="0" bIns="0" rtlCol="0" anchor="ctr"/>
          <a:lstStyle/>
          <a:p>
            <a:pPr indent="0" marL="0">
              <a:buNone/>
            </a:pPr>
            <a:r>
              <a:rPr lang="en-US" sz="1500" dirty="0">
                <a:solidFill>
                  <a:srgbClr val="F3ECE2"/>
                </a:solidFill>
                <a:latin typeface="Calibri" pitchFamily="34" charset="0"/>
                <a:ea typeface="Calibri" pitchFamily="34" charset="-122"/>
                <a:cs typeface="Calibri" pitchFamily="34" charset="-120"/>
              </a:rPr>
              <a:t>The claim that survived, but only barely</a:t>
            </a:r>
            <a:endParaRPr lang="en-US" sz="1500" dirty="0"/>
          </a:p>
        </p:txBody>
      </p:sp>
      <p:sp>
        <p:nvSpPr>
          <p:cNvPr id="15" name="Text 13"/>
          <p:cNvSpPr/>
          <p:nvPr/>
        </p:nvSpPr>
        <p:spPr>
          <a:xfrm>
            <a:off x="777240" y="5349240"/>
            <a:ext cx="10634472" cy="365760"/>
          </a:xfrm>
          <a:prstGeom prst="rect">
            <a:avLst/>
          </a:prstGeom>
          <a:noFill/>
          <a:ln/>
        </p:spPr>
        <p:txBody>
          <a:bodyPr wrap="square" lIns="0" tIns="0" rIns="0" bIns="0" rtlCol="0" anchor="ctr"/>
          <a:lstStyle/>
          <a:p>
            <a:pPr indent="0" marL="0">
              <a:buNone/>
            </a:pPr>
            <a:r>
              <a:rPr lang="en-US" sz="1350" i="1" dirty="0">
                <a:solidFill>
                  <a:srgbClr val="9A8F86"/>
                </a:solidFill>
                <a:latin typeface="Calibri" pitchFamily="34" charset="0"/>
                <a:ea typeface="Calibri" pitchFamily="34" charset="-122"/>
                <a:cs typeface="Calibri" pitchFamily="34" charset="-120"/>
              </a:rPr>
              <a:t>Honest limit: this is a reliability signal, not a calibrated probability. Calibration is next.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210"/>
        </a:solidFill>
      </p:bgPr>
    </p:bg>
    <p:spTree>
      <p:nvGrpSpPr>
        <p:cNvPr id="1" name=""/>
        <p:cNvGrpSpPr/>
        <p:nvPr/>
      </p:nvGrpSpPr>
      <p:grpSpPr>
        <a:xfrm>
          <a:off x="0" y="0"/>
          <a:ext cx="0" cy="0"/>
          <a:chOff x="0" y="0"/>
          <a:chExt cx="0" cy="0"/>
        </a:xfrm>
      </p:grpSpPr>
      <p:sp>
        <p:nvSpPr>
          <p:cNvPr id="2" name="Text 0"/>
          <p:cNvSpPr/>
          <p:nvPr/>
        </p:nvSpPr>
        <p:spPr>
          <a:xfrm>
            <a:off x="10954512" y="6291072"/>
            <a:ext cx="548640" cy="237744"/>
          </a:xfrm>
          <a:prstGeom prst="rect">
            <a:avLst/>
          </a:prstGeom>
          <a:noFill/>
          <a:ln/>
        </p:spPr>
        <p:txBody>
          <a:bodyPr wrap="square" lIns="0" tIns="0" rIns="0" bIns="0" rtlCol="0" anchor="ctr"/>
          <a:lstStyle/>
          <a:p>
            <a:pPr algn="r" indent="0" marL="0">
              <a:buNone/>
            </a:pPr>
            <a:r>
              <a:rPr lang="en-US" sz="900" dirty="0">
                <a:solidFill>
                  <a:srgbClr val="9A8F86"/>
                </a:solidFill>
                <a:latin typeface="Courier New" pitchFamily="34" charset="0"/>
                <a:ea typeface="Courier New" pitchFamily="34" charset="-122"/>
                <a:cs typeface="Courier New" pitchFamily="34" charset="-120"/>
              </a:rPr>
              <a:t>10</a:t>
            </a:r>
            <a:endParaRPr lang="en-US" sz="900" dirty="0"/>
          </a:p>
        </p:txBody>
      </p:sp>
      <p:sp>
        <p:nvSpPr>
          <p:cNvPr id="3" name="Text 1"/>
          <p:cNvSpPr/>
          <p:nvPr/>
        </p:nvSpPr>
        <p:spPr>
          <a:xfrm>
            <a:off x="777240" y="475488"/>
            <a:ext cx="10634472" cy="237744"/>
          </a:xfrm>
          <a:prstGeom prst="rect">
            <a:avLst/>
          </a:prstGeom>
          <a:noFill/>
          <a:ln/>
        </p:spPr>
        <p:txBody>
          <a:bodyPr wrap="square" lIns="0" tIns="0" rIns="0" bIns="0" rtlCol="0" anchor="ctr"/>
          <a:lstStyle/>
          <a:p>
            <a:pPr indent="0" marL="0">
              <a:buNone/>
            </a:pPr>
            <a:r>
              <a:rPr lang="en-US" sz="950" b="1" spc="400" kern="0" dirty="0">
                <a:solidFill>
                  <a:srgbClr val="E2571F"/>
                </a:solidFill>
                <a:latin typeface="Courier New" pitchFamily="34" charset="0"/>
                <a:ea typeface="Courier New" pitchFamily="34" charset="-122"/>
                <a:cs typeface="Courier New" pitchFamily="34" charset="-120"/>
              </a:rPr>
              <a:t>THE MOMENT</a:t>
            </a:r>
            <a:endParaRPr lang="en-US" sz="950" dirty="0"/>
          </a:p>
        </p:txBody>
      </p:sp>
      <p:sp>
        <p:nvSpPr>
          <p:cNvPr id="4" name="Text 2"/>
          <p:cNvSpPr/>
          <p:nvPr/>
        </p:nvSpPr>
        <p:spPr>
          <a:xfrm>
            <a:off x="777240" y="1051560"/>
            <a:ext cx="10515600" cy="1600200"/>
          </a:xfrm>
          <a:prstGeom prst="rect">
            <a:avLst/>
          </a:prstGeom>
          <a:noFill/>
          <a:ln/>
        </p:spPr>
        <p:txBody>
          <a:bodyPr wrap="square" lIns="0" tIns="0" rIns="0" bIns="0" rtlCol="0" anchor="ctr"/>
          <a:lstStyle/>
          <a:p>
            <a:pPr indent="0" marL="0">
              <a:lnSpc>
                <a:spcPts val="4800"/>
              </a:lnSpc>
              <a:buNone/>
            </a:pPr>
            <a:r>
              <a:rPr lang="en-US" sz="3600" b="1" dirty="0">
                <a:solidFill>
                  <a:srgbClr val="F3ECE2"/>
                </a:solidFill>
                <a:latin typeface="Bookman Old Style" pitchFamily="34" charset="0"/>
                <a:ea typeface="Bookman Old Style" pitchFamily="34" charset="-122"/>
                <a:cs typeface="Bookman Old Style" pitchFamily="34" charset="-120"/>
              </a:rPr>
              <a:t>It caught its own recommendation</a:t>
            </a:r>
            <a:endParaRPr lang="en-US" sz="3600" dirty="0"/>
          </a:p>
          <a:p>
            <a:pPr indent="0" marL="0">
              <a:lnSpc>
                <a:spcPts val="4800"/>
              </a:lnSpc>
              <a:buNone/>
            </a:pPr>
            <a:r>
              <a:rPr lang="en-US" sz="3600" b="1" dirty="0">
                <a:solidFill>
                  <a:srgbClr val="F3ECE2"/>
                </a:solidFill>
                <a:latin typeface="Bookman Old Style" pitchFamily="34" charset="0"/>
                <a:ea typeface="Bookman Old Style" pitchFamily="34" charset="-122"/>
                <a:cs typeface="Bookman Old Style" pitchFamily="34" charset="-120"/>
              </a:rPr>
              <a:t>breaking the user's hard constraint.</a:t>
            </a:r>
            <a:endParaRPr lang="en-US" sz="3600" dirty="0"/>
          </a:p>
        </p:txBody>
      </p:sp>
      <p:sp>
        <p:nvSpPr>
          <p:cNvPr id="5" name="Text 3"/>
          <p:cNvSpPr/>
          <p:nvPr/>
        </p:nvSpPr>
        <p:spPr>
          <a:xfrm>
            <a:off x="777240" y="2788920"/>
            <a:ext cx="10332720" cy="457200"/>
          </a:xfrm>
          <a:prstGeom prst="rect">
            <a:avLst/>
          </a:prstGeom>
          <a:noFill/>
          <a:ln/>
        </p:spPr>
        <p:txBody>
          <a:bodyPr wrap="square" lIns="0" tIns="0" rIns="0" bIns="0" rtlCol="0" anchor="ctr"/>
          <a:lstStyle/>
          <a:p>
            <a:pPr indent="0" marL="0">
              <a:buNone/>
            </a:pPr>
            <a:r>
              <a:rPr lang="en-US" sz="1600" dirty="0">
                <a:solidFill>
                  <a:srgbClr val="9A8F86"/>
                </a:solidFill>
                <a:latin typeface="Calibri" pitchFamily="34" charset="0"/>
                <a:ea typeface="Calibri" pitchFamily="34" charset="-122"/>
                <a:cs typeface="Calibri" pitchFamily="34" charset="-120"/>
              </a:rPr>
              <a:t>Unprompted. On a live run. The Judge ruled the objection VALID, and the answer was rebuilt around it.</a:t>
            </a:r>
            <a:endParaRPr lang="en-US" sz="1600" dirty="0"/>
          </a:p>
        </p:txBody>
      </p:sp>
      <p:sp>
        <p:nvSpPr>
          <p:cNvPr id="6" name="Shape 4"/>
          <p:cNvSpPr/>
          <p:nvPr/>
        </p:nvSpPr>
        <p:spPr>
          <a:xfrm>
            <a:off x="777240" y="3520440"/>
            <a:ext cx="2926080" cy="1783080"/>
          </a:xfrm>
          <a:prstGeom prst="roundRect">
            <a:avLst>
              <a:gd name="adj" fmla="val 2564"/>
            </a:avLst>
          </a:prstGeom>
          <a:solidFill>
            <a:srgbClr val="E8A33D"/>
          </a:solidFill>
          <a:ln/>
          <a:effectLst>
            <a:outerShdw sx="100000" sy="100000" kx="0" ky="0" algn="bl" rotWithShape="0" blurRad="152400" dist="38100" dir="5400000">
              <a:srgbClr val="000000">
                <a:alpha val="28000"/>
              </a:srgbClr>
            </a:outerShdw>
          </a:effectLst>
        </p:spPr>
      </p:sp>
      <p:sp>
        <p:nvSpPr>
          <p:cNvPr id="7" name="Text 5"/>
          <p:cNvSpPr/>
          <p:nvPr/>
        </p:nvSpPr>
        <p:spPr>
          <a:xfrm>
            <a:off x="1051560" y="3767328"/>
            <a:ext cx="2377440" cy="219456"/>
          </a:xfrm>
          <a:prstGeom prst="rect">
            <a:avLst/>
          </a:prstGeom>
          <a:noFill/>
          <a:ln/>
        </p:spPr>
        <p:txBody>
          <a:bodyPr wrap="square" lIns="0" tIns="0" rIns="0" bIns="0" rtlCol="0" anchor="ctr"/>
          <a:lstStyle/>
          <a:p>
            <a:pPr indent="0" marL="0">
              <a:buNone/>
            </a:pPr>
            <a:r>
              <a:rPr lang="en-US" sz="950" b="1" spc="300" kern="0" dirty="0">
                <a:solidFill>
                  <a:srgbClr val="6B5525"/>
                </a:solidFill>
                <a:latin typeface="Courier New" pitchFamily="34" charset="0"/>
                <a:ea typeface="Courier New" pitchFamily="34" charset="-122"/>
                <a:cs typeface="Courier New" pitchFamily="34" charset="-120"/>
              </a:rPr>
              <a:t>TRUST SCORE</a:t>
            </a:r>
            <a:endParaRPr lang="en-US" sz="950" dirty="0"/>
          </a:p>
        </p:txBody>
      </p:sp>
      <p:sp>
        <p:nvSpPr>
          <p:cNvPr id="8" name="Text 6"/>
          <p:cNvSpPr/>
          <p:nvPr/>
        </p:nvSpPr>
        <p:spPr>
          <a:xfrm>
            <a:off x="1051560" y="4041648"/>
            <a:ext cx="2377440" cy="1005840"/>
          </a:xfrm>
          <a:prstGeom prst="rect">
            <a:avLst/>
          </a:prstGeom>
          <a:noFill/>
          <a:ln/>
        </p:spPr>
        <p:txBody>
          <a:bodyPr wrap="square" lIns="0" tIns="0" rIns="0" bIns="0" rtlCol="0" anchor="ctr"/>
          <a:lstStyle/>
          <a:p>
            <a:pPr indent="0" marL="0">
              <a:buNone/>
            </a:pPr>
            <a:r>
              <a:rPr lang="en-US" sz="6800" b="1" dirty="0">
                <a:solidFill>
                  <a:srgbClr val="161210"/>
                </a:solidFill>
                <a:latin typeface="Bookman Old Style" pitchFamily="34" charset="0"/>
                <a:ea typeface="Bookman Old Style" pitchFamily="34" charset="-122"/>
                <a:cs typeface="Bookman Old Style" pitchFamily="34" charset="-120"/>
              </a:rPr>
              <a:t>85</a:t>
            </a:r>
            <a:endParaRPr lang="en-US" sz="6800" dirty="0"/>
          </a:p>
        </p:txBody>
      </p:sp>
      <p:sp>
        <p:nvSpPr>
          <p:cNvPr id="9" name="Shape 7"/>
          <p:cNvSpPr/>
          <p:nvPr/>
        </p:nvSpPr>
        <p:spPr>
          <a:xfrm>
            <a:off x="4123944" y="3520440"/>
            <a:ext cx="7287768" cy="1783080"/>
          </a:xfrm>
          <a:prstGeom prst="roundRect">
            <a:avLst>
              <a:gd name="adj" fmla="val 2564"/>
            </a:avLst>
          </a:prstGeom>
          <a:solidFill>
            <a:srgbClr val="221C18"/>
          </a:solidFill>
          <a:ln/>
          <a:effectLst>
            <a:outerShdw sx="100000" sy="100000" kx="0" ky="0" algn="bl" rotWithShape="0" blurRad="152400" dist="38100" dir="5400000">
              <a:srgbClr val="000000">
                <a:alpha val="28000"/>
              </a:srgbClr>
            </a:outerShdw>
          </a:effectLst>
        </p:spPr>
      </p:sp>
      <p:sp>
        <p:nvSpPr>
          <p:cNvPr id="10" name="Text 8"/>
          <p:cNvSpPr/>
          <p:nvPr/>
        </p:nvSpPr>
        <p:spPr>
          <a:xfrm>
            <a:off x="4434840" y="3822192"/>
            <a:ext cx="6720840" cy="1280160"/>
          </a:xfrm>
          <a:prstGeom prst="rect">
            <a:avLst/>
          </a:prstGeom>
          <a:noFill/>
          <a:ln/>
        </p:spPr>
        <p:txBody>
          <a:bodyPr wrap="square" lIns="0" tIns="0" rIns="0" bIns="0" rtlCol="0" anchor="ctr"/>
          <a:lstStyle/>
          <a:p>
            <a:pPr indent="0" marL="0">
              <a:lnSpc>
                <a:spcPts val="3000"/>
              </a:lnSpc>
              <a:buNone/>
            </a:pPr>
            <a:r>
              <a:rPr lang="en-US" sz="1800" i="1" dirty="0">
                <a:solidFill>
                  <a:srgbClr val="E2571F"/>
                </a:solidFill>
                <a:latin typeface="Bookman Old Style" pitchFamily="34" charset="0"/>
                <a:ea typeface="Bookman Old Style" pitchFamily="34" charset="-122"/>
                <a:cs typeface="Bookman Old Style" pitchFamily="34" charset="-120"/>
              </a:rPr>
              <a:t>Swap “budget” for “the patient's biopsy result,”</a:t>
            </a:r>
            <a:endParaRPr lang="en-US" sz="1800" dirty="0"/>
          </a:p>
          <a:p>
            <a:pPr indent="0" marL="0">
              <a:lnSpc>
                <a:spcPts val="3000"/>
              </a:lnSpc>
              <a:buNone/>
            </a:pPr>
            <a:r>
              <a:rPr lang="en-US" sz="1800" i="1" dirty="0">
                <a:solidFill>
                  <a:srgbClr val="E2571F"/>
                </a:solidFill>
                <a:latin typeface="Bookman Old Style" pitchFamily="34" charset="0"/>
                <a:ea typeface="Bookman Old Style" pitchFamily="34" charset="-122"/>
                <a:cs typeface="Bookman Old Style" pitchFamily="34" charset="-120"/>
              </a:rPr>
              <a:t>and that is a caught misdiagnosis.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ECE2"/>
        </a:solidFill>
      </p:bgPr>
    </p:bg>
    <p:spTree>
      <p:nvGrpSpPr>
        <p:cNvPr id="1" name=""/>
        <p:cNvGrpSpPr/>
        <p:nvPr/>
      </p:nvGrpSpPr>
      <p:grpSpPr>
        <a:xfrm>
          <a:off x="0" y="0"/>
          <a:ext cx="0" cy="0"/>
          <a:chOff x="0" y="0"/>
          <a:chExt cx="0" cy="0"/>
        </a:xfrm>
      </p:grpSpPr>
      <p:sp>
        <p:nvSpPr>
          <p:cNvPr id="2" name="Text 0"/>
          <p:cNvSpPr/>
          <p:nvPr/>
        </p:nvSpPr>
        <p:spPr>
          <a:xfrm>
            <a:off x="10954512" y="6291072"/>
            <a:ext cx="548640" cy="237744"/>
          </a:xfrm>
          <a:prstGeom prst="rect">
            <a:avLst/>
          </a:prstGeom>
          <a:noFill/>
          <a:ln/>
        </p:spPr>
        <p:txBody>
          <a:bodyPr wrap="square" lIns="0" tIns="0" rIns="0" bIns="0" rtlCol="0" anchor="ctr"/>
          <a:lstStyle/>
          <a:p>
            <a:pPr algn="r" indent="0" marL="0">
              <a:buNone/>
            </a:pPr>
            <a:r>
              <a:rPr lang="en-US" sz="900" dirty="0">
                <a:solidFill>
                  <a:srgbClr val="7A6E64"/>
                </a:solidFill>
                <a:latin typeface="Courier New" pitchFamily="34" charset="0"/>
                <a:ea typeface="Courier New" pitchFamily="34" charset="-122"/>
                <a:cs typeface="Courier New" pitchFamily="34" charset="-120"/>
              </a:rPr>
              <a:t>11</a:t>
            </a:r>
            <a:endParaRPr lang="en-US" sz="900" dirty="0"/>
          </a:p>
        </p:txBody>
      </p:sp>
      <p:sp>
        <p:nvSpPr>
          <p:cNvPr id="3" name="Text 1"/>
          <p:cNvSpPr/>
          <p:nvPr/>
        </p:nvSpPr>
        <p:spPr>
          <a:xfrm>
            <a:off x="777240" y="475488"/>
            <a:ext cx="10634472" cy="237744"/>
          </a:xfrm>
          <a:prstGeom prst="rect">
            <a:avLst/>
          </a:prstGeom>
          <a:noFill/>
          <a:ln/>
        </p:spPr>
        <p:txBody>
          <a:bodyPr wrap="square" lIns="0" tIns="0" rIns="0" bIns="0" rtlCol="0" anchor="ctr"/>
          <a:lstStyle/>
          <a:p>
            <a:pPr indent="0" marL="0">
              <a:buNone/>
            </a:pPr>
            <a:r>
              <a:rPr lang="en-US" sz="950" b="1" spc="400" kern="0" dirty="0">
                <a:solidFill>
                  <a:srgbClr val="E2571F"/>
                </a:solidFill>
                <a:latin typeface="Courier New" pitchFamily="34" charset="0"/>
                <a:ea typeface="Courier New" pitchFamily="34" charset="-122"/>
                <a:cs typeface="Courier New" pitchFamily="34" charset="-120"/>
              </a:rPr>
              <a:t>THE PRODUCT · INTAKE</a:t>
            </a:r>
            <a:endParaRPr lang="en-US" sz="950" dirty="0"/>
          </a:p>
        </p:txBody>
      </p:sp>
      <p:sp>
        <p:nvSpPr>
          <p:cNvPr id="4" name="Text 2"/>
          <p:cNvSpPr/>
          <p:nvPr/>
        </p:nvSpPr>
        <p:spPr>
          <a:xfrm>
            <a:off x="777240" y="896112"/>
            <a:ext cx="10634472" cy="1417320"/>
          </a:xfrm>
          <a:prstGeom prst="rect">
            <a:avLst/>
          </a:prstGeom>
          <a:noFill/>
          <a:ln/>
        </p:spPr>
        <p:txBody>
          <a:bodyPr wrap="square" lIns="0" tIns="0" rIns="0" bIns="0" rtlCol="0" anchor="t"/>
          <a:lstStyle/>
          <a:p>
            <a:pPr indent="0" marL="0">
              <a:lnSpc>
                <a:spcPts val="4200"/>
              </a:lnSpc>
              <a:buNone/>
            </a:pPr>
            <a:r>
              <a:rPr lang="en-US" sz="3200" b="1" dirty="0">
                <a:solidFill>
                  <a:srgbClr val="161210"/>
                </a:solidFill>
                <a:latin typeface="Bookman Old Style" pitchFamily="34" charset="0"/>
                <a:ea typeface="Bookman Old Style" pitchFamily="34" charset="-122"/>
                <a:cs typeface="Bookman Old Style" pitchFamily="34" charset="-120"/>
              </a:rPr>
              <a:t>It reads the report the way</a:t>
            </a:r>
            <a:endParaRPr lang="en-US" sz="3200" dirty="0"/>
          </a:p>
          <a:p>
            <a:pPr indent="0" marL="0">
              <a:lnSpc>
                <a:spcPts val="4200"/>
              </a:lnSpc>
              <a:buNone/>
            </a:pPr>
            <a:r>
              <a:rPr lang="en-US" sz="3200" b="1" dirty="0">
                <a:solidFill>
                  <a:srgbClr val="161210"/>
                </a:solidFill>
                <a:latin typeface="Bookman Old Style" pitchFamily="34" charset="0"/>
                <a:ea typeface="Bookman Old Style" pitchFamily="34" charset="-122"/>
                <a:cs typeface="Bookman Old Style" pitchFamily="34" charset="-120"/>
              </a:rPr>
              <a:t>a second opinion would.</a:t>
            </a:r>
            <a:endParaRPr lang="en-US" sz="3200" dirty="0"/>
          </a:p>
        </p:txBody>
      </p:sp>
      <p:sp>
        <p:nvSpPr>
          <p:cNvPr id="5" name="Shape 3"/>
          <p:cNvSpPr/>
          <p:nvPr/>
        </p:nvSpPr>
        <p:spPr>
          <a:xfrm>
            <a:off x="777240" y="2788920"/>
            <a:ext cx="3319272" cy="1828800"/>
          </a:xfrm>
          <a:prstGeom prst="roundRect">
            <a:avLst>
              <a:gd name="adj" fmla="val 2000"/>
            </a:avLst>
          </a:prstGeom>
          <a:solidFill>
            <a:srgbClr val="E6DBCB"/>
          </a:solidFill>
          <a:ln/>
          <a:effectLst>
            <a:outerShdw sx="100000" sy="100000" kx="0" ky="0" algn="bl" rotWithShape="0" blurRad="152400" dist="38100" dir="5400000">
              <a:srgbClr val="000000">
                <a:alpha val="14000"/>
              </a:srgbClr>
            </a:outerShdw>
          </a:effectLst>
        </p:spPr>
      </p:sp>
      <p:sp>
        <p:nvSpPr>
          <p:cNvPr id="6" name="Text 4"/>
          <p:cNvSpPr/>
          <p:nvPr/>
        </p:nvSpPr>
        <p:spPr>
          <a:xfrm>
            <a:off x="1051560" y="3035808"/>
            <a:ext cx="2770632" cy="237744"/>
          </a:xfrm>
          <a:prstGeom prst="rect">
            <a:avLst/>
          </a:prstGeom>
          <a:noFill/>
          <a:ln/>
        </p:spPr>
        <p:txBody>
          <a:bodyPr wrap="square" lIns="0" tIns="0" rIns="0" bIns="0" rtlCol="0" anchor="ctr"/>
          <a:lstStyle/>
          <a:p>
            <a:pPr indent="0" marL="0">
              <a:buNone/>
            </a:pPr>
            <a:r>
              <a:rPr lang="en-US" sz="950" b="1" spc="300" kern="0" dirty="0">
                <a:solidFill>
                  <a:srgbClr val="7A6E64"/>
                </a:solidFill>
                <a:latin typeface="Courier New" pitchFamily="34" charset="0"/>
                <a:ea typeface="Courier New" pitchFamily="34" charset="-122"/>
                <a:cs typeface="Courier New" pitchFamily="34" charset="-120"/>
              </a:rPr>
              <a:t>PASTE</a:t>
            </a:r>
            <a:endParaRPr lang="en-US" sz="950" dirty="0"/>
          </a:p>
        </p:txBody>
      </p:sp>
      <p:sp>
        <p:nvSpPr>
          <p:cNvPr id="7" name="Text 5"/>
          <p:cNvSpPr/>
          <p:nvPr/>
        </p:nvSpPr>
        <p:spPr>
          <a:xfrm>
            <a:off x="1051560" y="3401568"/>
            <a:ext cx="2770632" cy="1005840"/>
          </a:xfrm>
          <a:prstGeom prst="rect">
            <a:avLst/>
          </a:prstGeom>
          <a:noFill/>
          <a:ln/>
        </p:spPr>
        <p:txBody>
          <a:bodyPr wrap="square" lIns="0" tIns="0" rIns="0" bIns="0" rtlCol="0" anchor="ctr"/>
          <a:lstStyle/>
          <a:p>
            <a:pPr indent="0" marL="0">
              <a:lnSpc>
                <a:spcPts val="2100"/>
              </a:lnSpc>
              <a:buNone/>
            </a:pPr>
            <a:r>
              <a:rPr lang="en-US" sz="1400" dirty="0">
                <a:solidFill>
                  <a:srgbClr val="161210"/>
                </a:solidFill>
                <a:latin typeface="Calibri" pitchFamily="34" charset="0"/>
                <a:ea typeface="Calibri" pitchFamily="34" charset="-122"/>
                <a:cs typeface="Calibri" pitchFamily="34" charset="-120"/>
              </a:rPr>
              <a:t>Radiology, pathology, or lab report — straight in</a:t>
            </a:r>
            <a:endParaRPr lang="en-US" sz="1400" dirty="0"/>
          </a:p>
        </p:txBody>
      </p:sp>
      <p:sp>
        <p:nvSpPr>
          <p:cNvPr id="8" name="Shape 6"/>
          <p:cNvSpPr/>
          <p:nvPr/>
        </p:nvSpPr>
        <p:spPr>
          <a:xfrm>
            <a:off x="4434840" y="2788920"/>
            <a:ext cx="3319272" cy="1828800"/>
          </a:xfrm>
          <a:prstGeom prst="roundRect">
            <a:avLst>
              <a:gd name="adj" fmla="val 2000"/>
            </a:avLst>
          </a:prstGeom>
          <a:solidFill>
            <a:srgbClr val="E6DBCB"/>
          </a:solidFill>
          <a:ln/>
          <a:effectLst>
            <a:outerShdw sx="100000" sy="100000" kx="0" ky="0" algn="bl" rotWithShape="0" blurRad="152400" dist="38100" dir="5400000">
              <a:srgbClr val="000000">
                <a:alpha val="14000"/>
              </a:srgbClr>
            </a:outerShdw>
          </a:effectLst>
        </p:spPr>
      </p:sp>
      <p:sp>
        <p:nvSpPr>
          <p:cNvPr id="9" name="Text 7"/>
          <p:cNvSpPr/>
          <p:nvPr/>
        </p:nvSpPr>
        <p:spPr>
          <a:xfrm>
            <a:off x="4709160" y="3035808"/>
            <a:ext cx="2770632" cy="237744"/>
          </a:xfrm>
          <a:prstGeom prst="rect">
            <a:avLst/>
          </a:prstGeom>
          <a:noFill/>
          <a:ln/>
        </p:spPr>
        <p:txBody>
          <a:bodyPr wrap="square" lIns="0" tIns="0" rIns="0" bIns="0" rtlCol="0" anchor="ctr"/>
          <a:lstStyle/>
          <a:p>
            <a:pPr indent="0" marL="0">
              <a:buNone/>
            </a:pPr>
            <a:r>
              <a:rPr lang="en-US" sz="950" b="1" spc="300" kern="0" dirty="0">
                <a:solidFill>
                  <a:srgbClr val="7A6E64"/>
                </a:solidFill>
                <a:latin typeface="Courier New" pitchFamily="34" charset="0"/>
                <a:ea typeface="Courier New" pitchFamily="34" charset="-122"/>
                <a:cs typeface="Courier New" pitchFamily="34" charset="-120"/>
              </a:rPr>
              <a:t>UPLOAD PDF</a:t>
            </a:r>
            <a:endParaRPr lang="en-US" sz="950" dirty="0"/>
          </a:p>
        </p:txBody>
      </p:sp>
      <p:sp>
        <p:nvSpPr>
          <p:cNvPr id="10" name="Text 8"/>
          <p:cNvSpPr/>
          <p:nvPr/>
        </p:nvSpPr>
        <p:spPr>
          <a:xfrm>
            <a:off x="4709160" y="3401568"/>
            <a:ext cx="2770632" cy="1005840"/>
          </a:xfrm>
          <a:prstGeom prst="rect">
            <a:avLst/>
          </a:prstGeom>
          <a:noFill/>
          <a:ln/>
        </p:spPr>
        <p:txBody>
          <a:bodyPr wrap="square" lIns="0" tIns="0" rIns="0" bIns="0" rtlCol="0" anchor="ctr"/>
          <a:lstStyle/>
          <a:p>
            <a:pPr indent="0" marL="0">
              <a:lnSpc>
                <a:spcPts val="2100"/>
              </a:lnSpc>
              <a:buNone/>
            </a:pPr>
            <a:r>
              <a:rPr lang="en-US" sz="1400" dirty="0">
                <a:solidFill>
                  <a:srgbClr val="161210"/>
                </a:solidFill>
                <a:latin typeface="Calibri" pitchFamily="34" charset="0"/>
                <a:ea typeface="Calibri" pitchFamily="34" charset="-122"/>
                <a:cs typeface="Calibri" pitchFamily="34" charset="-120"/>
              </a:rPr>
              <a:t>Text extracted server-side. Scans are refused, not silently mangled</a:t>
            </a:r>
            <a:endParaRPr lang="en-US" sz="1400" dirty="0"/>
          </a:p>
        </p:txBody>
      </p:sp>
      <p:sp>
        <p:nvSpPr>
          <p:cNvPr id="11" name="Shape 9"/>
          <p:cNvSpPr/>
          <p:nvPr/>
        </p:nvSpPr>
        <p:spPr>
          <a:xfrm>
            <a:off x="8092440" y="2788920"/>
            <a:ext cx="3319272" cy="1828800"/>
          </a:xfrm>
          <a:prstGeom prst="roundRect">
            <a:avLst>
              <a:gd name="adj" fmla="val 2000"/>
            </a:avLst>
          </a:prstGeom>
          <a:solidFill>
            <a:srgbClr val="161210"/>
          </a:solidFill>
          <a:ln/>
          <a:effectLst>
            <a:outerShdw sx="100000" sy="100000" kx="0" ky="0" algn="bl" rotWithShape="0" blurRad="152400" dist="38100" dir="5400000">
              <a:srgbClr val="000000">
                <a:alpha val="14000"/>
              </a:srgbClr>
            </a:outerShdw>
          </a:effectLst>
        </p:spPr>
      </p:sp>
      <p:sp>
        <p:nvSpPr>
          <p:cNvPr id="12" name="Text 10"/>
          <p:cNvSpPr/>
          <p:nvPr/>
        </p:nvSpPr>
        <p:spPr>
          <a:xfrm>
            <a:off x="8366760" y="3035808"/>
            <a:ext cx="2770632" cy="237744"/>
          </a:xfrm>
          <a:prstGeom prst="rect">
            <a:avLst/>
          </a:prstGeom>
          <a:noFill/>
          <a:ln/>
        </p:spPr>
        <p:txBody>
          <a:bodyPr wrap="square" lIns="0" tIns="0" rIns="0" bIns="0" rtlCol="0" anchor="ctr"/>
          <a:lstStyle/>
          <a:p>
            <a:pPr indent="0" marL="0">
              <a:buNone/>
            </a:pPr>
            <a:r>
              <a:rPr lang="en-US" sz="950" b="1" spc="300" kern="0" dirty="0">
                <a:solidFill>
                  <a:srgbClr val="E2571F"/>
                </a:solidFill>
                <a:latin typeface="Courier New" pitchFamily="34" charset="0"/>
                <a:ea typeface="Courier New" pitchFamily="34" charset="-122"/>
                <a:cs typeface="Courier New" pitchFamily="34" charset="-120"/>
              </a:rPr>
              <a:t>FRAME</a:t>
            </a:r>
            <a:endParaRPr lang="en-US" sz="950" dirty="0"/>
          </a:p>
        </p:txBody>
      </p:sp>
      <p:sp>
        <p:nvSpPr>
          <p:cNvPr id="13" name="Text 11"/>
          <p:cNvSpPr/>
          <p:nvPr/>
        </p:nvSpPr>
        <p:spPr>
          <a:xfrm>
            <a:off x="8366760" y="3401568"/>
            <a:ext cx="2770632" cy="1005840"/>
          </a:xfrm>
          <a:prstGeom prst="rect">
            <a:avLst/>
          </a:prstGeom>
          <a:noFill/>
          <a:ln/>
        </p:spPr>
        <p:txBody>
          <a:bodyPr wrap="square" lIns="0" tIns="0" rIns="0" bIns="0" rtlCol="0" anchor="ctr"/>
          <a:lstStyle/>
          <a:p>
            <a:pPr indent="0" marL="0">
              <a:lnSpc>
                <a:spcPts val="2100"/>
              </a:lnSpc>
              <a:buNone/>
            </a:pPr>
            <a:r>
              <a:rPr lang="en-US" sz="1400" dirty="0">
                <a:solidFill>
                  <a:srgbClr val="F3ECE2"/>
                </a:solidFill>
                <a:latin typeface="Calibri" pitchFamily="34" charset="0"/>
                <a:ea typeface="Calibri" pitchFamily="34" charset="-122"/>
                <a:cs typeface="Calibri" pitchFamily="34" charset="-120"/>
              </a:rPr>
              <a:t>Extracts stated diagnosis, supporting and contradicting findings, open questions</a:t>
            </a:r>
            <a:endParaRPr lang="en-US" sz="1400" dirty="0"/>
          </a:p>
        </p:txBody>
      </p:sp>
      <p:sp>
        <p:nvSpPr>
          <p:cNvPr id="14" name="Text 12"/>
          <p:cNvSpPr/>
          <p:nvPr/>
        </p:nvSpPr>
        <p:spPr>
          <a:xfrm>
            <a:off x="777240" y="4892040"/>
            <a:ext cx="10634472" cy="365760"/>
          </a:xfrm>
          <a:prstGeom prst="rect">
            <a:avLst/>
          </a:prstGeom>
          <a:noFill/>
          <a:ln/>
        </p:spPr>
        <p:txBody>
          <a:bodyPr wrap="square" lIns="0" tIns="0" rIns="0" bIns="0" rtlCol="0" anchor="ctr"/>
          <a:lstStyle/>
          <a:p>
            <a:pPr indent="0" marL="0">
              <a:buNone/>
            </a:pPr>
            <a:r>
              <a:rPr lang="en-US" sz="1450" i="1" dirty="0">
                <a:solidFill>
                  <a:srgbClr val="7A6E64"/>
                </a:solidFill>
                <a:latin typeface="Calibri" pitchFamily="34" charset="0"/>
                <a:ea typeface="Calibri" pitchFamily="34" charset="-122"/>
                <a:cs typeface="Calibri" pitchFamily="34" charset="-120"/>
              </a:rPr>
              <a:t>The intake agent frames the problem. It never judges the diagnosis — that is the debate's job.</a:t>
            </a:r>
            <a:endParaRPr lang="en-US" sz="1450" dirty="0"/>
          </a:p>
        </p:txBody>
      </p:sp>
      <p:sp>
        <p:nvSpPr>
          <p:cNvPr id="15" name="Text 13"/>
          <p:cNvSpPr/>
          <p:nvPr/>
        </p:nvSpPr>
        <p:spPr>
          <a:xfrm>
            <a:off x="777240" y="5943600"/>
            <a:ext cx="10634472" cy="274320"/>
          </a:xfrm>
          <a:prstGeom prst="rect">
            <a:avLst/>
          </a:prstGeom>
          <a:noFill/>
          <a:ln/>
        </p:spPr>
        <p:txBody>
          <a:bodyPr wrap="square" lIns="0" tIns="0" rIns="0" bIns="0" rtlCol="0" anchor="ctr"/>
          <a:lstStyle/>
          <a:p>
            <a:pPr indent="0" marL="0">
              <a:buNone/>
            </a:pPr>
            <a:r>
              <a:rPr lang="en-US" sz="1000" dirty="0">
                <a:solidFill>
                  <a:srgbClr val="7A6E64"/>
                </a:solidFill>
                <a:latin typeface="Courier New" pitchFamily="34" charset="0"/>
                <a:ea typeface="Courier New" pitchFamily="34" charset="-122"/>
                <a:cs typeface="Courier New" pitchFamily="34" charset="-120"/>
              </a:rPr>
              <a:t>Demonstration only. Not a medical device. Not for clinical use.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ECE2"/>
        </a:solidFill>
      </p:bgPr>
    </p:bg>
    <p:spTree>
      <p:nvGrpSpPr>
        <p:cNvPr id="1" name=""/>
        <p:cNvGrpSpPr/>
        <p:nvPr/>
      </p:nvGrpSpPr>
      <p:grpSpPr>
        <a:xfrm>
          <a:off x="0" y="0"/>
          <a:ext cx="0" cy="0"/>
          <a:chOff x="0" y="0"/>
          <a:chExt cx="0" cy="0"/>
        </a:xfrm>
      </p:grpSpPr>
      <p:sp>
        <p:nvSpPr>
          <p:cNvPr id="2" name="Text 0"/>
          <p:cNvSpPr/>
          <p:nvPr/>
        </p:nvSpPr>
        <p:spPr>
          <a:xfrm>
            <a:off x="10954512" y="6291072"/>
            <a:ext cx="548640" cy="237744"/>
          </a:xfrm>
          <a:prstGeom prst="rect">
            <a:avLst/>
          </a:prstGeom>
          <a:noFill/>
          <a:ln/>
        </p:spPr>
        <p:txBody>
          <a:bodyPr wrap="square" lIns="0" tIns="0" rIns="0" bIns="0" rtlCol="0" anchor="ctr"/>
          <a:lstStyle/>
          <a:p>
            <a:pPr algn="r" indent="0" marL="0">
              <a:buNone/>
            </a:pPr>
            <a:r>
              <a:rPr lang="en-US" sz="900" dirty="0">
                <a:solidFill>
                  <a:srgbClr val="7A6E64"/>
                </a:solidFill>
                <a:latin typeface="Courier New" pitchFamily="34" charset="0"/>
                <a:ea typeface="Courier New" pitchFamily="34" charset="-122"/>
                <a:cs typeface="Courier New" pitchFamily="34" charset="-120"/>
              </a:rPr>
              <a:t>12</a:t>
            </a:r>
            <a:endParaRPr lang="en-US" sz="900" dirty="0"/>
          </a:p>
        </p:txBody>
      </p:sp>
      <p:sp>
        <p:nvSpPr>
          <p:cNvPr id="3" name="Text 1"/>
          <p:cNvSpPr/>
          <p:nvPr/>
        </p:nvSpPr>
        <p:spPr>
          <a:xfrm>
            <a:off x="777240" y="475488"/>
            <a:ext cx="10634472" cy="237744"/>
          </a:xfrm>
          <a:prstGeom prst="rect">
            <a:avLst/>
          </a:prstGeom>
          <a:noFill/>
          <a:ln/>
        </p:spPr>
        <p:txBody>
          <a:bodyPr wrap="square" lIns="0" tIns="0" rIns="0" bIns="0" rtlCol="0" anchor="ctr"/>
          <a:lstStyle/>
          <a:p>
            <a:pPr indent="0" marL="0">
              <a:buNone/>
            </a:pPr>
            <a:r>
              <a:rPr lang="en-US" sz="950" b="1" spc="400" kern="0" dirty="0">
                <a:solidFill>
                  <a:srgbClr val="E2571F"/>
                </a:solidFill>
                <a:latin typeface="Courier New" pitchFamily="34" charset="0"/>
                <a:ea typeface="Courier New" pitchFamily="34" charset="-122"/>
                <a:cs typeface="Courier New" pitchFamily="34" charset="-120"/>
              </a:rPr>
              <a:t>THE PRODUCT · INTERFACE</a:t>
            </a:r>
            <a:endParaRPr lang="en-US" sz="950" dirty="0"/>
          </a:p>
        </p:txBody>
      </p:sp>
      <p:sp>
        <p:nvSpPr>
          <p:cNvPr id="4" name="Text 2"/>
          <p:cNvSpPr/>
          <p:nvPr/>
        </p:nvSpPr>
        <p:spPr>
          <a:xfrm>
            <a:off x="777240" y="896112"/>
            <a:ext cx="10634472" cy="914400"/>
          </a:xfrm>
          <a:prstGeom prst="rect">
            <a:avLst/>
          </a:prstGeom>
          <a:noFill/>
          <a:ln/>
        </p:spPr>
        <p:txBody>
          <a:bodyPr wrap="square" lIns="0" tIns="0" rIns="0" bIns="0" rtlCol="0" anchor="t"/>
          <a:lstStyle/>
          <a:p>
            <a:pPr indent="0" marL="0">
              <a:buNone/>
            </a:pPr>
            <a:r>
              <a:rPr lang="en-US" sz="3600" b="1" dirty="0">
                <a:solidFill>
                  <a:srgbClr val="161210"/>
                </a:solidFill>
                <a:latin typeface="Bookman Old Style" pitchFamily="34" charset="0"/>
                <a:ea typeface="Bookman Old Style" pitchFamily="34" charset="-122"/>
                <a:cs typeface="Bookman Old Style" pitchFamily="34" charset="-120"/>
              </a:rPr>
              <a:t>You watch it think.</a:t>
            </a:r>
            <a:endParaRPr lang="en-US" sz="3600" dirty="0"/>
          </a:p>
        </p:txBody>
      </p:sp>
      <p:sp>
        <p:nvSpPr>
          <p:cNvPr id="5" name="Shape 3"/>
          <p:cNvSpPr/>
          <p:nvPr/>
        </p:nvSpPr>
        <p:spPr>
          <a:xfrm>
            <a:off x="777240" y="2011680"/>
            <a:ext cx="5120640" cy="3291840"/>
          </a:xfrm>
          <a:prstGeom prst="roundRect">
            <a:avLst>
              <a:gd name="adj" fmla="val 1111"/>
            </a:avLst>
          </a:prstGeom>
          <a:solidFill>
            <a:srgbClr val="E6DBCB"/>
          </a:solidFill>
          <a:ln/>
          <a:effectLst>
            <a:outerShdw sx="100000" sy="100000" kx="0" ky="0" algn="bl" rotWithShape="0" blurRad="152400" dist="38100" dir="5400000">
              <a:srgbClr val="000000">
                <a:alpha val="28000"/>
              </a:srgbClr>
            </a:outerShdw>
          </a:effectLst>
        </p:spPr>
      </p:sp>
      <p:sp>
        <p:nvSpPr>
          <p:cNvPr id="6" name="Text 4"/>
          <p:cNvSpPr/>
          <p:nvPr/>
        </p:nvSpPr>
        <p:spPr>
          <a:xfrm>
            <a:off x="1088136" y="2267712"/>
            <a:ext cx="4480560" cy="237744"/>
          </a:xfrm>
          <a:prstGeom prst="rect">
            <a:avLst/>
          </a:prstGeom>
          <a:noFill/>
          <a:ln/>
        </p:spPr>
        <p:txBody>
          <a:bodyPr wrap="square" lIns="0" tIns="0" rIns="0" bIns="0" rtlCol="0" anchor="ctr"/>
          <a:lstStyle/>
          <a:p>
            <a:pPr indent="0" marL="0">
              <a:buNone/>
            </a:pPr>
            <a:r>
              <a:rPr lang="en-US" sz="950" b="1" spc="300" kern="0" dirty="0">
                <a:solidFill>
                  <a:srgbClr val="7A6E64"/>
                </a:solidFill>
                <a:latin typeface="Courier New" pitchFamily="34" charset="0"/>
                <a:ea typeface="Courier New" pitchFamily="34" charset="-122"/>
                <a:cs typeface="Courier New" pitchFamily="34" charset="-120"/>
              </a:rPr>
              <a:t>DURING THE RUN</a:t>
            </a:r>
            <a:endParaRPr lang="en-US" sz="950" dirty="0"/>
          </a:p>
        </p:txBody>
      </p:sp>
      <p:sp>
        <p:nvSpPr>
          <p:cNvPr id="7" name="Text 5"/>
          <p:cNvSpPr/>
          <p:nvPr/>
        </p:nvSpPr>
        <p:spPr>
          <a:xfrm>
            <a:off x="1088136" y="2633472"/>
            <a:ext cx="4480560" cy="274320"/>
          </a:xfrm>
          <a:prstGeom prst="rect">
            <a:avLst/>
          </a:prstGeom>
          <a:noFill/>
          <a:ln/>
        </p:spPr>
        <p:txBody>
          <a:bodyPr wrap="square" lIns="0" tIns="0" rIns="0" bIns="0" rtlCol="0" anchor="ctr"/>
          <a:lstStyle/>
          <a:p>
            <a:pPr indent="0" marL="0">
              <a:buNone/>
            </a:pPr>
            <a:r>
              <a:rPr lang="en-US" sz="1150" dirty="0">
                <a:solidFill>
                  <a:srgbClr val="161210"/>
                </a:solidFill>
                <a:latin typeface="Courier New" pitchFamily="34" charset="0"/>
                <a:ea typeface="Courier New" pitchFamily="34" charset="-122"/>
                <a:cs typeface="Courier New" pitchFamily="34" charset="-120"/>
              </a:rPr>
              <a:t>01   Reading the report</a:t>
            </a:r>
            <a:endParaRPr lang="en-US" sz="1150" dirty="0"/>
          </a:p>
        </p:txBody>
      </p:sp>
      <p:sp>
        <p:nvSpPr>
          <p:cNvPr id="8" name="Text 6"/>
          <p:cNvSpPr/>
          <p:nvPr/>
        </p:nvSpPr>
        <p:spPr>
          <a:xfrm>
            <a:off x="1088136" y="2944368"/>
            <a:ext cx="4480560" cy="274320"/>
          </a:xfrm>
          <a:prstGeom prst="rect">
            <a:avLst/>
          </a:prstGeom>
          <a:noFill/>
          <a:ln/>
        </p:spPr>
        <p:txBody>
          <a:bodyPr wrap="square" lIns="0" tIns="0" rIns="0" bIns="0" rtlCol="0" anchor="ctr"/>
          <a:lstStyle/>
          <a:p>
            <a:pPr indent="0" marL="0">
              <a:buNone/>
            </a:pPr>
            <a:r>
              <a:rPr lang="en-US" sz="1150" dirty="0">
                <a:solidFill>
                  <a:srgbClr val="161210"/>
                </a:solidFill>
                <a:latin typeface="Courier New" pitchFamily="34" charset="0"/>
                <a:ea typeface="Courier New" pitchFamily="34" charset="-122"/>
                <a:cs typeface="Courier New" pitchFamily="34" charset="-120"/>
              </a:rPr>
              <a:t>02   Assembling the team</a:t>
            </a:r>
            <a:endParaRPr lang="en-US" sz="1150" dirty="0"/>
          </a:p>
        </p:txBody>
      </p:sp>
      <p:sp>
        <p:nvSpPr>
          <p:cNvPr id="9" name="Text 7"/>
          <p:cNvSpPr/>
          <p:nvPr/>
        </p:nvSpPr>
        <p:spPr>
          <a:xfrm>
            <a:off x="1088136" y="3255264"/>
            <a:ext cx="4480560" cy="274320"/>
          </a:xfrm>
          <a:prstGeom prst="rect">
            <a:avLst/>
          </a:prstGeom>
          <a:noFill/>
          <a:ln/>
        </p:spPr>
        <p:txBody>
          <a:bodyPr wrap="square" lIns="0" tIns="0" rIns="0" bIns="0" rtlCol="0" anchor="ctr"/>
          <a:lstStyle/>
          <a:p>
            <a:pPr indent="0" marL="0">
              <a:buNone/>
            </a:pPr>
            <a:r>
              <a:rPr lang="en-US" sz="1150" dirty="0">
                <a:solidFill>
                  <a:srgbClr val="161210"/>
                </a:solidFill>
                <a:latin typeface="Courier New" pitchFamily="34" charset="0"/>
                <a:ea typeface="Courier New" pitchFamily="34" charset="-122"/>
                <a:cs typeface="Courier New" pitchFamily="34" charset="-120"/>
              </a:rPr>
              <a:t>03   Researching live</a:t>
            </a:r>
            <a:endParaRPr lang="en-US" sz="1150" dirty="0"/>
          </a:p>
        </p:txBody>
      </p:sp>
      <p:sp>
        <p:nvSpPr>
          <p:cNvPr id="10" name="Text 8"/>
          <p:cNvSpPr/>
          <p:nvPr/>
        </p:nvSpPr>
        <p:spPr>
          <a:xfrm>
            <a:off x="1088136" y="3566160"/>
            <a:ext cx="4480560" cy="274320"/>
          </a:xfrm>
          <a:prstGeom prst="rect">
            <a:avLst/>
          </a:prstGeom>
          <a:noFill/>
          <a:ln/>
        </p:spPr>
        <p:txBody>
          <a:bodyPr wrap="square" lIns="0" tIns="0" rIns="0" bIns="0" rtlCol="0" anchor="ctr"/>
          <a:lstStyle/>
          <a:p>
            <a:pPr indent="0" marL="0">
              <a:buNone/>
            </a:pPr>
            <a:r>
              <a:rPr lang="en-US" sz="1150" dirty="0">
                <a:solidFill>
                  <a:srgbClr val="161210"/>
                </a:solidFill>
                <a:latin typeface="Courier New" pitchFamily="34" charset="0"/>
                <a:ea typeface="Courier New" pitchFamily="34" charset="-122"/>
                <a:cs typeface="Courier New" pitchFamily="34" charset="-120"/>
              </a:rPr>
              <a:t>04   Writing answer v1</a:t>
            </a:r>
            <a:endParaRPr lang="en-US" sz="1150" dirty="0"/>
          </a:p>
        </p:txBody>
      </p:sp>
      <p:sp>
        <p:nvSpPr>
          <p:cNvPr id="11" name="Text 9"/>
          <p:cNvSpPr/>
          <p:nvPr/>
        </p:nvSpPr>
        <p:spPr>
          <a:xfrm>
            <a:off x="1088136" y="3877056"/>
            <a:ext cx="4480560" cy="274320"/>
          </a:xfrm>
          <a:prstGeom prst="rect">
            <a:avLst/>
          </a:prstGeom>
          <a:noFill/>
          <a:ln/>
        </p:spPr>
        <p:txBody>
          <a:bodyPr wrap="square" lIns="0" tIns="0" rIns="0" bIns="0" rtlCol="0" anchor="ctr"/>
          <a:lstStyle/>
          <a:p>
            <a:pPr indent="0" marL="0">
              <a:buNone/>
            </a:pPr>
            <a:r>
              <a:rPr lang="en-US" sz="1150" b="1" dirty="0">
                <a:solidFill>
                  <a:srgbClr val="E2571F"/>
                </a:solidFill>
                <a:latin typeface="Courier New" pitchFamily="34" charset="0"/>
                <a:ea typeface="Courier New" pitchFamily="34" charset="-122"/>
                <a:cs typeface="Courier New" pitchFamily="34" charset="-120"/>
              </a:rPr>
              <a:t>05   The debate</a:t>
            </a:r>
            <a:endParaRPr lang="en-US" sz="1150" dirty="0"/>
          </a:p>
        </p:txBody>
      </p:sp>
      <p:sp>
        <p:nvSpPr>
          <p:cNvPr id="12" name="Text 10"/>
          <p:cNvSpPr/>
          <p:nvPr/>
        </p:nvSpPr>
        <p:spPr>
          <a:xfrm>
            <a:off x="1088136" y="4187952"/>
            <a:ext cx="4480560" cy="274320"/>
          </a:xfrm>
          <a:prstGeom prst="rect">
            <a:avLst/>
          </a:prstGeom>
          <a:noFill/>
          <a:ln/>
        </p:spPr>
        <p:txBody>
          <a:bodyPr wrap="square" lIns="0" tIns="0" rIns="0" bIns="0" rtlCol="0" anchor="ctr"/>
          <a:lstStyle/>
          <a:p>
            <a:pPr indent="0" marL="0">
              <a:buNone/>
            </a:pPr>
            <a:r>
              <a:rPr lang="en-US" sz="1150" dirty="0">
                <a:solidFill>
                  <a:srgbClr val="161210"/>
                </a:solidFill>
                <a:latin typeface="Courier New" pitchFamily="34" charset="0"/>
                <a:ea typeface="Courier New" pitchFamily="34" charset="-122"/>
                <a:cs typeface="Courier New" pitchFamily="34" charset="-120"/>
              </a:rPr>
              <a:t>06   Judge rules</a:t>
            </a:r>
            <a:endParaRPr lang="en-US" sz="1150" dirty="0"/>
          </a:p>
        </p:txBody>
      </p:sp>
      <p:sp>
        <p:nvSpPr>
          <p:cNvPr id="13" name="Text 11"/>
          <p:cNvSpPr/>
          <p:nvPr/>
        </p:nvSpPr>
        <p:spPr>
          <a:xfrm>
            <a:off x="1088136" y="4498848"/>
            <a:ext cx="4480560" cy="274320"/>
          </a:xfrm>
          <a:prstGeom prst="rect">
            <a:avLst/>
          </a:prstGeom>
          <a:noFill/>
          <a:ln/>
        </p:spPr>
        <p:txBody>
          <a:bodyPr wrap="square" lIns="0" tIns="0" rIns="0" bIns="0" rtlCol="0" anchor="ctr"/>
          <a:lstStyle/>
          <a:p>
            <a:pPr indent="0" marL="0">
              <a:buNone/>
            </a:pPr>
            <a:r>
              <a:rPr lang="en-US" sz="1150" dirty="0">
                <a:solidFill>
                  <a:srgbClr val="161210"/>
                </a:solidFill>
                <a:latin typeface="Courier New" pitchFamily="34" charset="0"/>
                <a:ea typeface="Courier New" pitchFamily="34" charset="-122"/>
                <a:cs typeface="Courier New" pitchFamily="34" charset="-120"/>
              </a:rPr>
              <a:t>07   Reforging</a:t>
            </a:r>
            <a:endParaRPr lang="en-US" sz="1150" dirty="0"/>
          </a:p>
        </p:txBody>
      </p:sp>
      <p:sp>
        <p:nvSpPr>
          <p:cNvPr id="14" name="Text 12"/>
          <p:cNvSpPr/>
          <p:nvPr/>
        </p:nvSpPr>
        <p:spPr>
          <a:xfrm>
            <a:off x="1088136" y="4809744"/>
            <a:ext cx="4480560" cy="274320"/>
          </a:xfrm>
          <a:prstGeom prst="rect">
            <a:avLst/>
          </a:prstGeom>
          <a:noFill/>
          <a:ln/>
        </p:spPr>
        <p:txBody>
          <a:bodyPr wrap="square" lIns="0" tIns="0" rIns="0" bIns="0" rtlCol="0" anchor="ctr"/>
          <a:lstStyle/>
          <a:p>
            <a:pPr indent="0" marL="0">
              <a:buNone/>
            </a:pPr>
            <a:r>
              <a:rPr lang="en-US" sz="1150" dirty="0">
                <a:solidFill>
                  <a:srgbClr val="161210"/>
                </a:solidFill>
                <a:latin typeface="Courier New" pitchFamily="34" charset="0"/>
                <a:ea typeface="Courier New" pitchFamily="34" charset="-122"/>
                <a:cs typeface="Courier New" pitchFamily="34" charset="-120"/>
              </a:rPr>
              <a:t>08   Scoring trust</a:t>
            </a:r>
            <a:endParaRPr lang="en-US" sz="1150" dirty="0"/>
          </a:p>
        </p:txBody>
      </p:sp>
      <p:sp>
        <p:nvSpPr>
          <p:cNvPr id="15" name="Shape 13"/>
          <p:cNvSpPr/>
          <p:nvPr/>
        </p:nvSpPr>
        <p:spPr>
          <a:xfrm>
            <a:off x="6227064" y="2011680"/>
            <a:ext cx="5184648" cy="3291840"/>
          </a:xfrm>
          <a:prstGeom prst="roundRect">
            <a:avLst>
              <a:gd name="adj" fmla="val 1111"/>
            </a:avLst>
          </a:prstGeom>
          <a:solidFill>
            <a:srgbClr val="161210"/>
          </a:solidFill>
          <a:ln/>
          <a:effectLst>
            <a:outerShdw sx="100000" sy="100000" kx="0" ky="0" algn="bl" rotWithShape="0" blurRad="152400" dist="38100" dir="5400000">
              <a:srgbClr val="000000">
                <a:alpha val="28000"/>
              </a:srgbClr>
            </a:outerShdw>
          </a:effectLst>
        </p:spPr>
      </p:sp>
      <p:sp>
        <p:nvSpPr>
          <p:cNvPr id="16" name="Text 14"/>
          <p:cNvSpPr/>
          <p:nvPr/>
        </p:nvSpPr>
        <p:spPr>
          <a:xfrm>
            <a:off x="6537960" y="2267712"/>
            <a:ext cx="4572000" cy="237744"/>
          </a:xfrm>
          <a:prstGeom prst="rect">
            <a:avLst/>
          </a:prstGeom>
          <a:noFill/>
          <a:ln/>
        </p:spPr>
        <p:txBody>
          <a:bodyPr wrap="square" lIns="0" tIns="0" rIns="0" bIns="0" rtlCol="0" anchor="ctr"/>
          <a:lstStyle/>
          <a:p>
            <a:pPr indent="0" marL="0">
              <a:buNone/>
            </a:pPr>
            <a:r>
              <a:rPr lang="en-US" sz="950" b="1" spc="300" kern="0" dirty="0">
                <a:solidFill>
                  <a:srgbClr val="E2571F"/>
                </a:solidFill>
                <a:latin typeface="Courier New" pitchFamily="34" charset="0"/>
                <a:ea typeface="Courier New" pitchFamily="34" charset="-122"/>
                <a:cs typeface="Courier New" pitchFamily="34" charset="-120"/>
              </a:rPr>
              <a:t>WHEN IT LANDS</a:t>
            </a:r>
            <a:endParaRPr lang="en-US" sz="950" dirty="0"/>
          </a:p>
        </p:txBody>
      </p:sp>
      <p:sp>
        <p:nvSpPr>
          <p:cNvPr id="17" name="Shape 15"/>
          <p:cNvSpPr/>
          <p:nvPr/>
        </p:nvSpPr>
        <p:spPr>
          <a:xfrm>
            <a:off x="6537960" y="2651760"/>
            <a:ext cx="4572000" cy="1051560"/>
          </a:xfrm>
          <a:prstGeom prst="roundRect">
            <a:avLst>
              <a:gd name="adj" fmla="val 3478"/>
            </a:avLst>
          </a:prstGeom>
          <a:solidFill>
            <a:srgbClr val="E8A33D"/>
          </a:solidFill>
          <a:ln/>
        </p:spPr>
      </p:sp>
      <p:sp>
        <p:nvSpPr>
          <p:cNvPr id="18" name="Text 16"/>
          <p:cNvSpPr/>
          <p:nvPr/>
        </p:nvSpPr>
        <p:spPr>
          <a:xfrm>
            <a:off x="6812280" y="2651760"/>
            <a:ext cx="4023360" cy="1051560"/>
          </a:xfrm>
          <a:prstGeom prst="rect">
            <a:avLst/>
          </a:prstGeom>
          <a:noFill/>
          <a:ln/>
        </p:spPr>
        <p:txBody>
          <a:bodyPr wrap="square" lIns="0" tIns="0" rIns="0" bIns="0" rtlCol="0" anchor="ctr"/>
          <a:lstStyle/>
          <a:p>
            <a:pPr indent="0" marL="0">
              <a:buNone/>
            </a:pPr>
            <a:r>
              <a:rPr lang="en-US" sz="3000" b="1" dirty="0">
                <a:solidFill>
                  <a:srgbClr val="161210"/>
                </a:solidFill>
                <a:latin typeface="Bookman Old Style" pitchFamily="34" charset="0"/>
                <a:ea typeface="Bookman Old Style" pitchFamily="34" charset="-122"/>
                <a:cs typeface="Bookman Old Style" pitchFamily="34" charset="-120"/>
              </a:rPr>
              <a:t>TRUST  85</a:t>
            </a:r>
            <a:endParaRPr lang="en-US" sz="3000" dirty="0"/>
          </a:p>
        </p:txBody>
      </p:sp>
      <p:sp>
        <p:nvSpPr>
          <p:cNvPr id="19" name="Text 17"/>
          <p:cNvSpPr/>
          <p:nvPr/>
        </p:nvSpPr>
        <p:spPr>
          <a:xfrm>
            <a:off x="6537960" y="3886200"/>
            <a:ext cx="4572000" cy="1188720"/>
          </a:xfrm>
          <a:prstGeom prst="rect">
            <a:avLst/>
          </a:prstGeom>
          <a:noFill/>
          <a:ln/>
        </p:spPr>
        <p:txBody>
          <a:bodyPr wrap="square" lIns="0" tIns="0" rIns="0" bIns="0" rtlCol="0" anchor="ctr"/>
          <a:lstStyle/>
          <a:p>
            <a:pPr indent="0" marL="0">
              <a:lnSpc>
                <a:spcPts val="2200"/>
              </a:lnSpc>
              <a:buNone/>
            </a:pPr>
            <a:r>
              <a:rPr lang="en-US" sz="1400" dirty="0">
                <a:solidFill>
                  <a:srgbClr val="9A8F86"/>
                </a:solidFill>
                <a:latin typeface="Calibri" pitchFamily="34" charset="0"/>
                <a:ea typeface="Calibri" pitchFamily="34" charset="-122"/>
                <a:cs typeface="Calibri" pitchFamily="34" charset="-120"/>
              </a:rPr>
              <a:t>Strongest and weakest claim, pulled out and named.</a:t>
            </a:r>
            <a:endParaRPr lang="en-US" sz="1400" dirty="0"/>
          </a:p>
          <a:p>
            <a:pPr indent="0" marL="0">
              <a:lnSpc>
                <a:spcPts val="2200"/>
              </a:lnSpc>
              <a:buNone/>
            </a:pPr>
            <a:endParaRPr lang="en-US" sz="1400" dirty="0"/>
          </a:p>
          <a:p>
            <a:pPr indent="0" marL="0">
              <a:lnSpc>
                <a:spcPts val="2200"/>
              </a:lnSpc>
              <a:buNone/>
            </a:pPr>
            <a:r>
              <a:rPr lang="en-US" sz="1400" dirty="0">
                <a:solidFill>
                  <a:srgbClr val="9A8F86"/>
                </a:solidFill>
                <a:latin typeface="Calibri" pitchFamily="34" charset="0"/>
                <a:ea typeface="Calibri" pitchFamily="34" charset="-122"/>
                <a:cs typeface="Calibri" pitchFamily="34" charset="-120"/>
              </a:rPr>
              <a:t>The rebuilt answer, rendered in full underneath.</a:t>
            </a:r>
            <a:endParaRPr lang="en-US" sz="1400" dirty="0"/>
          </a:p>
        </p:txBody>
      </p:sp>
      <p:sp>
        <p:nvSpPr>
          <p:cNvPr id="20" name="Text 18"/>
          <p:cNvSpPr/>
          <p:nvPr/>
        </p:nvSpPr>
        <p:spPr>
          <a:xfrm>
            <a:off x="777240" y="5623560"/>
            <a:ext cx="10634472" cy="365760"/>
          </a:xfrm>
          <a:prstGeom prst="rect">
            <a:avLst/>
          </a:prstGeom>
          <a:noFill/>
          <a:ln/>
        </p:spPr>
        <p:txBody>
          <a:bodyPr wrap="square" lIns="0" tIns="0" rIns="0" bIns="0" rtlCol="0" anchor="ctr"/>
          <a:lstStyle/>
          <a:p>
            <a:pPr indent="0" marL="0">
              <a:buNone/>
            </a:pPr>
            <a:r>
              <a:rPr lang="en-US" sz="1400" i="1" dirty="0">
                <a:solidFill>
                  <a:srgbClr val="7A6E64"/>
                </a:solidFill>
                <a:latin typeface="Calibri" pitchFamily="34" charset="0"/>
                <a:ea typeface="Calibri" pitchFamily="34" charset="-122"/>
                <a:cs typeface="Calibri" pitchFamily="34" charset="-120"/>
              </a:rPr>
              <a:t>Next.js front end. The browser never touches the crew API — every call is proxied server-side.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ECE2"/>
        </a:solidFill>
      </p:bgPr>
    </p:bg>
    <p:spTree>
      <p:nvGrpSpPr>
        <p:cNvPr id="1" name=""/>
        <p:cNvGrpSpPr/>
        <p:nvPr/>
      </p:nvGrpSpPr>
      <p:grpSpPr>
        <a:xfrm>
          <a:off x="0" y="0"/>
          <a:ext cx="0" cy="0"/>
          <a:chOff x="0" y="0"/>
          <a:chExt cx="0" cy="0"/>
        </a:xfrm>
      </p:grpSpPr>
      <p:sp>
        <p:nvSpPr>
          <p:cNvPr id="2" name="Text 0"/>
          <p:cNvSpPr/>
          <p:nvPr/>
        </p:nvSpPr>
        <p:spPr>
          <a:xfrm>
            <a:off x="10954512" y="6291072"/>
            <a:ext cx="548640" cy="237744"/>
          </a:xfrm>
          <a:prstGeom prst="rect">
            <a:avLst/>
          </a:prstGeom>
          <a:noFill/>
          <a:ln/>
        </p:spPr>
        <p:txBody>
          <a:bodyPr wrap="square" lIns="0" tIns="0" rIns="0" bIns="0" rtlCol="0" anchor="ctr"/>
          <a:lstStyle/>
          <a:p>
            <a:pPr algn="r" indent="0" marL="0">
              <a:buNone/>
            </a:pPr>
            <a:r>
              <a:rPr lang="en-US" sz="900" dirty="0">
                <a:solidFill>
                  <a:srgbClr val="7A6E64"/>
                </a:solidFill>
                <a:latin typeface="Courier New" pitchFamily="34" charset="0"/>
                <a:ea typeface="Courier New" pitchFamily="34" charset="-122"/>
                <a:cs typeface="Courier New" pitchFamily="34" charset="-120"/>
              </a:rPr>
              <a:t>13</a:t>
            </a:r>
            <a:endParaRPr lang="en-US" sz="900" dirty="0"/>
          </a:p>
        </p:txBody>
      </p:sp>
      <p:sp>
        <p:nvSpPr>
          <p:cNvPr id="3" name="Text 1"/>
          <p:cNvSpPr/>
          <p:nvPr/>
        </p:nvSpPr>
        <p:spPr>
          <a:xfrm>
            <a:off x="777240" y="475488"/>
            <a:ext cx="10634472" cy="237744"/>
          </a:xfrm>
          <a:prstGeom prst="rect">
            <a:avLst/>
          </a:prstGeom>
          <a:noFill/>
          <a:ln/>
        </p:spPr>
        <p:txBody>
          <a:bodyPr wrap="square" lIns="0" tIns="0" rIns="0" bIns="0" rtlCol="0" anchor="ctr"/>
          <a:lstStyle/>
          <a:p>
            <a:pPr indent="0" marL="0">
              <a:buNone/>
            </a:pPr>
            <a:r>
              <a:rPr lang="en-US" sz="950" b="1" spc="400" kern="0" dirty="0">
                <a:solidFill>
                  <a:srgbClr val="E2571F"/>
                </a:solidFill>
                <a:latin typeface="Courier New" pitchFamily="34" charset="0"/>
                <a:ea typeface="Courier New" pitchFamily="34" charset="-122"/>
                <a:cs typeface="Courier New" pitchFamily="34" charset="-120"/>
              </a:rPr>
              <a:t>ARCHITECTURE</a:t>
            </a:r>
            <a:endParaRPr lang="en-US" sz="950" dirty="0"/>
          </a:p>
        </p:txBody>
      </p:sp>
      <p:sp>
        <p:nvSpPr>
          <p:cNvPr id="4" name="Text 2"/>
          <p:cNvSpPr/>
          <p:nvPr/>
        </p:nvSpPr>
        <p:spPr>
          <a:xfrm>
            <a:off x="777240" y="896112"/>
            <a:ext cx="10634472" cy="914400"/>
          </a:xfrm>
          <a:prstGeom prst="rect">
            <a:avLst/>
          </a:prstGeom>
          <a:noFill/>
          <a:ln/>
        </p:spPr>
        <p:txBody>
          <a:bodyPr wrap="square" lIns="0" tIns="0" rIns="0" bIns="0" rtlCol="0" anchor="t"/>
          <a:lstStyle/>
          <a:p>
            <a:pPr indent="0" marL="0">
              <a:buNone/>
            </a:pPr>
            <a:r>
              <a:rPr lang="en-US" sz="3400" b="1" dirty="0">
                <a:solidFill>
                  <a:srgbClr val="161210"/>
                </a:solidFill>
                <a:latin typeface="Bookman Old Style" pitchFamily="34" charset="0"/>
                <a:ea typeface="Bookman Old Style" pitchFamily="34" charset="-122"/>
                <a:cs typeface="Bookman Old Style" pitchFamily="34" charset="-120"/>
              </a:rPr>
              <a:t>How it is actually wired</a:t>
            </a:r>
            <a:endParaRPr lang="en-US" sz="3400" dirty="0"/>
          </a:p>
        </p:txBody>
      </p:sp>
      <p:sp>
        <p:nvSpPr>
          <p:cNvPr id="5" name="Shape 3"/>
          <p:cNvSpPr/>
          <p:nvPr/>
        </p:nvSpPr>
        <p:spPr>
          <a:xfrm>
            <a:off x="777240" y="2148840"/>
            <a:ext cx="3319272" cy="1874520"/>
          </a:xfrm>
          <a:prstGeom prst="roundRect">
            <a:avLst>
              <a:gd name="adj" fmla="val 1951"/>
            </a:avLst>
          </a:prstGeom>
          <a:solidFill>
            <a:srgbClr val="E6DBCB"/>
          </a:solidFill>
          <a:ln/>
          <a:effectLst>
            <a:outerShdw sx="100000" sy="100000" kx="0" ky="0" algn="bl" rotWithShape="0" blurRad="152400" dist="38100" dir="5400000">
              <a:srgbClr val="000000">
                <a:alpha val="14000"/>
              </a:srgbClr>
            </a:outerShdw>
          </a:effectLst>
        </p:spPr>
      </p:sp>
      <p:sp>
        <p:nvSpPr>
          <p:cNvPr id="6" name="Text 4"/>
          <p:cNvSpPr/>
          <p:nvPr/>
        </p:nvSpPr>
        <p:spPr>
          <a:xfrm>
            <a:off x="1051560" y="2395728"/>
            <a:ext cx="2770632" cy="237744"/>
          </a:xfrm>
          <a:prstGeom prst="rect">
            <a:avLst/>
          </a:prstGeom>
          <a:noFill/>
          <a:ln/>
        </p:spPr>
        <p:txBody>
          <a:bodyPr wrap="square" lIns="0" tIns="0" rIns="0" bIns="0" rtlCol="0" anchor="ctr"/>
          <a:lstStyle/>
          <a:p>
            <a:pPr indent="0" marL="0">
              <a:buNone/>
            </a:pPr>
            <a:r>
              <a:rPr lang="en-US" sz="950" b="1" spc="250" kern="0" dirty="0">
                <a:solidFill>
                  <a:srgbClr val="7A6E64"/>
                </a:solidFill>
                <a:latin typeface="Courier New" pitchFamily="34" charset="0"/>
                <a:ea typeface="Courier New" pitchFamily="34" charset="-122"/>
                <a:cs typeface="Courier New" pitchFamily="34" charset="-120"/>
              </a:rPr>
              <a:t>BROWSER</a:t>
            </a:r>
            <a:endParaRPr lang="en-US" sz="950" dirty="0"/>
          </a:p>
        </p:txBody>
      </p:sp>
      <p:sp>
        <p:nvSpPr>
          <p:cNvPr id="7" name="Text 5"/>
          <p:cNvSpPr/>
          <p:nvPr/>
        </p:nvSpPr>
        <p:spPr>
          <a:xfrm>
            <a:off x="1051560" y="2743200"/>
            <a:ext cx="2770632" cy="1005840"/>
          </a:xfrm>
          <a:prstGeom prst="rect">
            <a:avLst/>
          </a:prstGeom>
          <a:noFill/>
          <a:ln/>
        </p:spPr>
        <p:txBody>
          <a:bodyPr wrap="square" lIns="0" tIns="0" rIns="0" bIns="0" rtlCol="0" anchor="ctr"/>
          <a:lstStyle/>
          <a:p>
            <a:pPr indent="0" marL="0">
              <a:lnSpc>
                <a:spcPts val="2100"/>
              </a:lnSpc>
              <a:buNone/>
            </a:pPr>
            <a:r>
              <a:rPr lang="en-US" sz="1300" dirty="0">
                <a:solidFill>
                  <a:srgbClr val="161210"/>
                </a:solidFill>
                <a:latin typeface="Courier New" pitchFamily="34" charset="0"/>
                <a:ea typeface="Courier New" pitchFamily="34" charset="-122"/>
                <a:cs typeface="Courier New" pitchFamily="34" charset="-120"/>
              </a:rPr>
              <a:t>Question or report</a:t>
            </a:r>
            <a:endParaRPr lang="en-US" sz="1300" dirty="0"/>
          </a:p>
          <a:p>
            <a:pPr indent="0" marL="0">
              <a:lnSpc>
                <a:spcPts val="2100"/>
              </a:lnSpc>
              <a:buNone/>
            </a:pPr>
            <a:r>
              <a:rPr lang="en-US" sz="1300" dirty="0">
                <a:solidFill>
                  <a:srgbClr val="161210"/>
                </a:solidFill>
                <a:latin typeface="Courier New" pitchFamily="34" charset="0"/>
                <a:ea typeface="Courier New" pitchFamily="34" charset="-122"/>
                <a:cs typeface="Courier New" pitchFamily="34" charset="-120"/>
              </a:rPr>
              <a:t>Polls every 2.5s</a:t>
            </a:r>
            <a:endParaRPr lang="en-US" sz="1300" dirty="0"/>
          </a:p>
        </p:txBody>
      </p:sp>
      <p:sp>
        <p:nvSpPr>
          <p:cNvPr id="8" name="Shape 6"/>
          <p:cNvSpPr/>
          <p:nvPr/>
        </p:nvSpPr>
        <p:spPr>
          <a:xfrm>
            <a:off x="4434840" y="2148840"/>
            <a:ext cx="3319272" cy="1874520"/>
          </a:xfrm>
          <a:prstGeom prst="roundRect">
            <a:avLst>
              <a:gd name="adj" fmla="val 1951"/>
            </a:avLst>
          </a:prstGeom>
          <a:solidFill>
            <a:srgbClr val="161210"/>
          </a:solidFill>
          <a:ln/>
          <a:effectLst>
            <a:outerShdw sx="100000" sy="100000" kx="0" ky="0" algn="bl" rotWithShape="0" blurRad="152400" dist="38100" dir="5400000">
              <a:srgbClr val="000000">
                <a:alpha val="14000"/>
              </a:srgbClr>
            </a:outerShdw>
          </a:effectLst>
        </p:spPr>
      </p:sp>
      <p:sp>
        <p:nvSpPr>
          <p:cNvPr id="9" name="Text 7"/>
          <p:cNvSpPr/>
          <p:nvPr/>
        </p:nvSpPr>
        <p:spPr>
          <a:xfrm>
            <a:off x="4709160" y="2395728"/>
            <a:ext cx="2770632" cy="237744"/>
          </a:xfrm>
          <a:prstGeom prst="rect">
            <a:avLst/>
          </a:prstGeom>
          <a:noFill/>
          <a:ln/>
        </p:spPr>
        <p:txBody>
          <a:bodyPr wrap="square" lIns="0" tIns="0" rIns="0" bIns="0" rtlCol="0" anchor="ctr"/>
          <a:lstStyle/>
          <a:p>
            <a:pPr indent="0" marL="0">
              <a:buNone/>
            </a:pPr>
            <a:r>
              <a:rPr lang="en-US" sz="950" b="1" spc="250" kern="0" dirty="0">
                <a:solidFill>
                  <a:srgbClr val="E2571F"/>
                </a:solidFill>
                <a:latin typeface="Courier New" pitchFamily="34" charset="0"/>
                <a:ea typeface="Courier New" pitchFamily="34" charset="-122"/>
                <a:cs typeface="Courier New" pitchFamily="34" charset="-120"/>
              </a:rPr>
              <a:t>NEXT.JS SERVER</a:t>
            </a:r>
            <a:endParaRPr lang="en-US" sz="950" dirty="0"/>
          </a:p>
        </p:txBody>
      </p:sp>
      <p:sp>
        <p:nvSpPr>
          <p:cNvPr id="10" name="Text 8"/>
          <p:cNvSpPr/>
          <p:nvPr/>
        </p:nvSpPr>
        <p:spPr>
          <a:xfrm>
            <a:off x="4709160" y="2743200"/>
            <a:ext cx="2770632" cy="1005840"/>
          </a:xfrm>
          <a:prstGeom prst="rect">
            <a:avLst/>
          </a:prstGeom>
          <a:noFill/>
          <a:ln/>
        </p:spPr>
        <p:txBody>
          <a:bodyPr wrap="square" lIns="0" tIns="0" rIns="0" bIns="0" rtlCol="0" anchor="ctr"/>
          <a:lstStyle/>
          <a:p>
            <a:pPr indent="0" marL="0">
              <a:lnSpc>
                <a:spcPts val="2100"/>
              </a:lnSpc>
              <a:buNone/>
            </a:pPr>
            <a:r>
              <a:rPr lang="en-US" sz="1300" dirty="0">
                <a:solidFill>
                  <a:srgbClr val="F3ECE2"/>
                </a:solidFill>
                <a:latin typeface="Courier New" pitchFamily="34" charset="0"/>
                <a:ea typeface="Courier New" pitchFamily="34" charset="-122"/>
                <a:cs typeface="Courier New" pitchFamily="34" charset="-120"/>
              </a:rPr>
              <a:t>/api/solve</a:t>
            </a:r>
            <a:endParaRPr lang="en-US" sz="1300" dirty="0"/>
          </a:p>
          <a:p>
            <a:pPr indent="0" marL="0">
              <a:lnSpc>
                <a:spcPts val="2100"/>
              </a:lnSpc>
              <a:buNone/>
            </a:pPr>
            <a:r>
              <a:rPr lang="en-US" sz="1300" dirty="0">
                <a:solidFill>
                  <a:srgbClr val="F3ECE2"/>
                </a:solidFill>
                <a:latin typeface="Courier New" pitchFamily="34" charset="0"/>
                <a:ea typeface="Courier New" pitchFamily="34" charset="-122"/>
                <a:cs typeface="Courier New" pitchFamily="34" charset="-120"/>
              </a:rPr>
              <a:t>/api/status</a:t>
            </a:r>
            <a:endParaRPr lang="en-US" sz="1300" dirty="0"/>
          </a:p>
          <a:p>
            <a:pPr indent="0" marL="0">
              <a:lnSpc>
                <a:spcPts val="2100"/>
              </a:lnSpc>
              <a:buNone/>
            </a:pPr>
            <a:r>
              <a:rPr lang="en-US" sz="1300" dirty="0">
                <a:solidFill>
                  <a:srgbClr val="F3ECE2"/>
                </a:solidFill>
                <a:latin typeface="Courier New" pitchFamily="34" charset="0"/>
                <a:ea typeface="Courier New" pitchFamily="34" charset="-122"/>
                <a:cs typeface="Courier New" pitchFamily="34" charset="-120"/>
              </a:rPr>
              <a:t>/api/extract-report</a:t>
            </a:r>
            <a:endParaRPr lang="en-US" sz="1300" dirty="0"/>
          </a:p>
        </p:txBody>
      </p:sp>
      <p:sp>
        <p:nvSpPr>
          <p:cNvPr id="11" name="Shape 9"/>
          <p:cNvSpPr/>
          <p:nvPr/>
        </p:nvSpPr>
        <p:spPr>
          <a:xfrm>
            <a:off x="8092440" y="2148840"/>
            <a:ext cx="3319272" cy="1874520"/>
          </a:xfrm>
          <a:prstGeom prst="roundRect">
            <a:avLst>
              <a:gd name="adj" fmla="val 1951"/>
            </a:avLst>
          </a:prstGeom>
          <a:solidFill>
            <a:srgbClr val="E6DBCB"/>
          </a:solidFill>
          <a:ln/>
          <a:effectLst>
            <a:outerShdw sx="100000" sy="100000" kx="0" ky="0" algn="bl" rotWithShape="0" blurRad="152400" dist="38100" dir="5400000">
              <a:srgbClr val="000000">
                <a:alpha val="14000"/>
              </a:srgbClr>
            </a:outerShdw>
          </a:effectLst>
        </p:spPr>
      </p:sp>
      <p:sp>
        <p:nvSpPr>
          <p:cNvPr id="12" name="Text 10"/>
          <p:cNvSpPr/>
          <p:nvPr/>
        </p:nvSpPr>
        <p:spPr>
          <a:xfrm>
            <a:off x="8366760" y="2395728"/>
            <a:ext cx="2770632" cy="237744"/>
          </a:xfrm>
          <a:prstGeom prst="rect">
            <a:avLst/>
          </a:prstGeom>
          <a:noFill/>
          <a:ln/>
        </p:spPr>
        <p:txBody>
          <a:bodyPr wrap="square" lIns="0" tIns="0" rIns="0" bIns="0" rtlCol="0" anchor="ctr"/>
          <a:lstStyle/>
          <a:p>
            <a:pPr indent="0" marL="0">
              <a:buNone/>
            </a:pPr>
            <a:r>
              <a:rPr lang="en-US" sz="950" b="1" spc="250" kern="0" dirty="0">
                <a:solidFill>
                  <a:srgbClr val="7A6E64"/>
                </a:solidFill>
                <a:latin typeface="Courier New" pitchFamily="34" charset="0"/>
                <a:ea typeface="Courier New" pitchFamily="34" charset="-122"/>
                <a:cs typeface="Courier New" pitchFamily="34" charset="-120"/>
              </a:rPr>
              <a:t>CREWAI DEPLOYMENT</a:t>
            </a:r>
            <a:endParaRPr lang="en-US" sz="950" dirty="0"/>
          </a:p>
        </p:txBody>
      </p:sp>
      <p:sp>
        <p:nvSpPr>
          <p:cNvPr id="13" name="Text 11"/>
          <p:cNvSpPr/>
          <p:nvPr/>
        </p:nvSpPr>
        <p:spPr>
          <a:xfrm>
            <a:off x="8366760" y="2743200"/>
            <a:ext cx="2770632" cy="1005840"/>
          </a:xfrm>
          <a:prstGeom prst="rect">
            <a:avLst/>
          </a:prstGeom>
          <a:noFill/>
          <a:ln/>
        </p:spPr>
        <p:txBody>
          <a:bodyPr wrap="square" lIns="0" tIns="0" rIns="0" bIns="0" rtlCol="0" anchor="ctr"/>
          <a:lstStyle/>
          <a:p>
            <a:pPr indent="0" marL="0">
              <a:lnSpc>
                <a:spcPts val="2100"/>
              </a:lnSpc>
              <a:buNone/>
            </a:pPr>
            <a:r>
              <a:rPr lang="en-US" sz="1300" dirty="0">
                <a:solidFill>
                  <a:srgbClr val="161210"/>
                </a:solidFill>
                <a:latin typeface="Courier New" pitchFamily="34" charset="0"/>
                <a:ea typeface="Courier New" pitchFamily="34" charset="-122"/>
                <a:cs typeface="Courier New" pitchFamily="34" charset="-120"/>
              </a:rPr>
              <a:t>10-agent crew</a:t>
            </a:r>
            <a:endParaRPr lang="en-US" sz="1300" dirty="0"/>
          </a:p>
          <a:p>
            <a:pPr indent="0" marL="0">
              <a:lnSpc>
                <a:spcPts val="2100"/>
              </a:lnSpc>
              <a:buNone/>
            </a:pPr>
            <a:r>
              <a:rPr lang="en-US" sz="1300" dirty="0">
                <a:solidFill>
                  <a:srgbClr val="161210"/>
                </a:solidFill>
                <a:latin typeface="Courier New" pitchFamily="34" charset="0"/>
                <a:ea typeface="Courier New" pitchFamily="34" charset="-122"/>
                <a:cs typeface="Courier New" pitchFamily="34" charset="-120"/>
              </a:rPr>
              <a:t>/kickoff  ·  /status</a:t>
            </a:r>
            <a:endParaRPr lang="en-US" sz="1300" dirty="0"/>
          </a:p>
        </p:txBody>
      </p:sp>
      <p:sp>
        <p:nvSpPr>
          <p:cNvPr id="14" name="Shape 12"/>
          <p:cNvSpPr/>
          <p:nvPr/>
        </p:nvSpPr>
        <p:spPr>
          <a:xfrm>
            <a:off x="777240" y="4370832"/>
            <a:ext cx="146304" cy="146304"/>
          </a:xfrm>
          <a:prstGeom prst="ellipse">
            <a:avLst/>
          </a:prstGeom>
          <a:solidFill>
            <a:srgbClr val="E2571F"/>
          </a:solidFill>
          <a:ln/>
        </p:spPr>
      </p:sp>
      <p:sp>
        <p:nvSpPr>
          <p:cNvPr id="15" name="Text 13"/>
          <p:cNvSpPr/>
          <p:nvPr/>
        </p:nvSpPr>
        <p:spPr>
          <a:xfrm>
            <a:off x="1106424" y="4315968"/>
            <a:ext cx="3931920" cy="274320"/>
          </a:xfrm>
          <a:prstGeom prst="rect">
            <a:avLst/>
          </a:prstGeom>
          <a:noFill/>
          <a:ln/>
        </p:spPr>
        <p:txBody>
          <a:bodyPr wrap="square" lIns="0" tIns="0" rIns="0" bIns="0" rtlCol="0" anchor="ctr"/>
          <a:lstStyle/>
          <a:p>
            <a:pPr indent="0" marL="0">
              <a:buNone/>
            </a:pPr>
            <a:r>
              <a:rPr lang="en-US" sz="1300" b="1" dirty="0">
                <a:solidFill>
                  <a:srgbClr val="161210"/>
                </a:solidFill>
                <a:latin typeface="Calibri" pitchFamily="34" charset="0"/>
                <a:ea typeface="Calibri" pitchFamily="34" charset="-122"/>
                <a:cs typeface="Calibri" pitchFamily="34" charset="-120"/>
              </a:rPr>
              <a:t>Token never reaches the browser</a:t>
            </a:r>
            <a:endParaRPr lang="en-US" sz="1300" dirty="0"/>
          </a:p>
        </p:txBody>
      </p:sp>
      <p:sp>
        <p:nvSpPr>
          <p:cNvPr id="16" name="Text 14"/>
          <p:cNvSpPr/>
          <p:nvPr/>
        </p:nvSpPr>
        <p:spPr>
          <a:xfrm>
            <a:off x="5120640" y="4315968"/>
            <a:ext cx="6291072" cy="274320"/>
          </a:xfrm>
          <a:prstGeom prst="rect">
            <a:avLst/>
          </a:prstGeom>
          <a:noFill/>
          <a:ln/>
        </p:spPr>
        <p:txBody>
          <a:bodyPr wrap="square" lIns="0" tIns="0" rIns="0" bIns="0" rtlCol="0" anchor="ctr"/>
          <a:lstStyle/>
          <a:p>
            <a:pPr indent="0" marL="0">
              <a:buNone/>
            </a:pPr>
            <a:r>
              <a:rPr lang="en-US" sz="1250" dirty="0">
                <a:solidFill>
                  <a:srgbClr val="7A6E64"/>
                </a:solidFill>
                <a:latin typeface="Calibri" pitchFamily="34" charset="0"/>
                <a:ea typeface="Calibri" pitchFamily="34" charset="-122"/>
                <a:cs typeface="Calibri" pitchFamily="34" charset="-120"/>
              </a:rPr>
              <a:t>It lives only in server-side env. No CORS, no exposure.</a:t>
            </a:r>
            <a:endParaRPr lang="en-US" sz="1250" dirty="0"/>
          </a:p>
        </p:txBody>
      </p:sp>
      <p:sp>
        <p:nvSpPr>
          <p:cNvPr id="17" name="Shape 15"/>
          <p:cNvSpPr/>
          <p:nvPr/>
        </p:nvSpPr>
        <p:spPr>
          <a:xfrm>
            <a:off x="777240" y="4937760"/>
            <a:ext cx="146304" cy="146304"/>
          </a:xfrm>
          <a:prstGeom prst="ellipse">
            <a:avLst/>
          </a:prstGeom>
          <a:solidFill>
            <a:srgbClr val="E2571F"/>
          </a:solidFill>
          <a:ln/>
        </p:spPr>
      </p:sp>
      <p:sp>
        <p:nvSpPr>
          <p:cNvPr id="18" name="Text 16"/>
          <p:cNvSpPr/>
          <p:nvPr/>
        </p:nvSpPr>
        <p:spPr>
          <a:xfrm>
            <a:off x="1106424" y="4882896"/>
            <a:ext cx="3931920" cy="274320"/>
          </a:xfrm>
          <a:prstGeom prst="rect">
            <a:avLst/>
          </a:prstGeom>
          <a:noFill/>
          <a:ln/>
        </p:spPr>
        <p:txBody>
          <a:bodyPr wrap="square" lIns="0" tIns="0" rIns="0" bIns="0" rtlCol="0" anchor="ctr"/>
          <a:lstStyle/>
          <a:p>
            <a:pPr indent="0" marL="0">
              <a:buNone/>
            </a:pPr>
            <a:r>
              <a:rPr lang="en-US" sz="1300" b="1" dirty="0">
                <a:solidFill>
                  <a:srgbClr val="161210"/>
                </a:solidFill>
                <a:latin typeface="Calibri" pitchFamily="34" charset="0"/>
                <a:ea typeface="Calibri" pitchFamily="34" charset="-122"/>
                <a:cs typeface="Calibri" pitchFamily="34" charset="-120"/>
              </a:rPr>
              <a:t>Scanned PDFs are refused</a:t>
            </a:r>
            <a:endParaRPr lang="en-US" sz="1300" dirty="0"/>
          </a:p>
        </p:txBody>
      </p:sp>
      <p:sp>
        <p:nvSpPr>
          <p:cNvPr id="19" name="Text 17"/>
          <p:cNvSpPr/>
          <p:nvPr/>
        </p:nvSpPr>
        <p:spPr>
          <a:xfrm>
            <a:off x="5120640" y="4882896"/>
            <a:ext cx="6291072" cy="274320"/>
          </a:xfrm>
          <a:prstGeom prst="rect">
            <a:avLst/>
          </a:prstGeom>
          <a:noFill/>
          <a:ln/>
        </p:spPr>
        <p:txBody>
          <a:bodyPr wrap="square" lIns="0" tIns="0" rIns="0" bIns="0" rtlCol="0" anchor="ctr"/>
          <a:lstStyle/>
          <a:p>
            <a:pPr indent="0" marL="0">
              <a:buNone/>
            </a:pPr>
            <a:r>
              <a:rPr lang="en-US" sz="1250" dirty="0">
                <a:solidFill>
                  <a:srgbClr val="7A6E64"/>
                </a:solidFill>
                <a:latin typeface="Calibri" pitchFamily="34" charset="0"/>
                <a:ea typeface="Calibri" pitchFamily="34" charset="-122"/>
                <a:cs typeface="Calibri" pitchFamily="34" charset="-120"/>
              </a:rPr>
              <a:t>A silent partial read of a medical document is worse than a clear no.</a:t>
            </a:r>
            <a:endParaRPr lang="en-US" sz="1250" dirty="0"/>
          </a:p>
        </p:txBody>
      </p:sp>
      <p:sp>
        <p:nvSpPr>
          <p:cNvPr id="20" name="Shape 18"/>
          <p:cNvSpPr/>
          <p:nvPr/>
        </p:nvSpPr>
        <p:spPr>
          <a:xfrm>
            <a:off x="777240" y="5504688"/>
            <a:ext cx="146304" cy="146304"/>
          </a:xfrm>
          <a:prstGeom prst="ellipse">
            <a:avLst/>
          </a:prstGeom>
          <a:solidFill>
            <a:srgbClr val="E2571F"/>
          </a:solidFill>
          <a:ln/>
        </p:spPr>
      </p:sp>
      <p:sp>
        <p:nvSpPr>
          <p:cNvPr id="21" name="Text 19"/>
          <p:cNvSpPr/>
          <p:nvPr/>
        </p:nvSpPr>
        <p:spPr>
          <a:xfrm>
            <a:off x="1106424" y="5449824"/>
            <a:ext cx="3931920" cy="274320"/>
          </a:xfrm>
          <a:prstGeom prst="rect">
            <a:avLst/>
          </a:prstGeom>
          <a:noFill/>
          <a:ln/>
        </p:spPr>
        <p:txBody>
          <a:bodyPr wrap="square" lIns="0" tIns="0" rIns="0" bIns="0" rtlCol="0" anchor="ctr"/>
          <a:lstStyle/>
          <a:p>
            <a:pPr indent="0" marL="0">
              <a:buNone/>
            </a:pPr>
            <a:r>
              <a:rPr lang="en-US" sz="1300" b="1" dirty="0">
                <a:solidFill>
                  <a:srgbClr val="161210"/>
                </a:solidFill>
                <a:latin typeface="Calibri" pitchFamily="34" charset="0"/>
                <a:ea typeface="Calibri" pitchFamily="34" charset="-122"/>
                <a:cs typeface="Calibri" pitchFamily="34" charset="-120"/>
              </a:rPr>
              <a:t>Empty result is treated as failure</a:t>
            </a:r>
            <a:endParaRPr lang="en-US" sz="1300" dirty="0"/>
          </a:p>
        </p:txBody>
      </p:sp>
      <p:sp>
        <p:nvSpPr>
          <p:cNvPr id="22" name="Text 20"/>
          <p:cNvSpPr/>
          <p:nvPr/>
        </p:nvSpPr>
        <p:spPr>
          <a:xfrm>
            <a:off x="5120640" y="5449824"/>
            <a:ext cx="6291072" cy="274320"/>
          </a:xfrm>
          <a:prstGeom prst="rect">
            <a:avLst/>
          </a:prstGeom>
          <a:noFill/>
          <a:ln/>
        </p:spPr>
        <p:txBody>
          <a:bodyPr wrap="square" lIns="0" tIns="0" rIns="0" bIns="0" rtlCol="0" anchor="ctr"/>
          <a:lstStyle/>
          <a:p>
            <a:pPr indent="0" marL="0">
              <a:buNone/>
            </a:pPr>
            <a:r>
              <a:rPr lang="en-US" sz="1250" dirty="0">
                <a:solidFill>
                  <a:srgbClr val="7A6E64"/>
                </a:solidFill>
                <a:latin typeface="Calibri" pitchFamily="34" charset="0"/>
                <a:ea typeface="Calibri" pitchFamily="34" charset="-122"/>
                <a:cs typeface="Calibri" pitchFamily="34" charset="-120"/>
              </a:rPr>
              <a:t>A completed run with no answer never renders as success.</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210"/>
        </a:solidFill>
      </p:bgPr>
    </p:bg>
    <p:spTree>
      <p:nvGrpSpPr>
        <p:cNvPr id="1" name=""/>
        <p:cNvGrpSpPr/>
        <p:nvPr/>
      </p:nvGrpSpPr>
      <p:grpSpPr>
        <a:xfrm>
          <a:off x="0" y="0"/>
          <a:ext cx="0" cy="0"/>
          <a:chOff x="0" y="0"/>
          <a:chExt cx="0" cy="0"/>
        </a:xfrm>
      </p:grpSpPr>
      <p:sp>
        <p:nvSpPr>
          <p:cNvPr id="2" name="Text 0"/>
          <p:cNvSpPr/>
          <p:nvPr/>
        </p:nvSpPr>
        <p:spPr>
          <a:xfrm>
            <a:off x="10954512" y="6291072"/>
            <a:ext cx="548640" cy="237744"/>
          </a:xfrm>
          <a:prstGeom prst="rect">
            <a:avLst/>
          </a:prstGeom>
          <a:noFill/>
          <a:ln/>
        </p:spPr>
        <p:txBody>
          <a:bodyPr wrap="square" lIns="0" tIns="0" rIns="0" bIns="0" rtlCol="0" anchor="ctr"/>
          <a:lstStyle/>
          <a:p>
            <a:pPr algn="r" indent="0" marL="0">
              <a:buNone/>
            </a:pPr>
            <a:r>
              <a:rPr lang="en-US" sz="900" dirty="0">
                <a:solidFill>
                  <a:srgbClr val="9A8F86"/>
                </a:solidFill>
                <a:latin typeface="Courier New" pitchFamily="34" charset="0"/>
                <a:ea typeface="Courier New" pitchFamily="34" charset="-122"/>
                <a:cs typeface="Courier New" pitchFamily="34" charset="-120"/>
              </a:rPr>
              <a:t>14</a:t>
            </a:r>
            <a:endParaRPr lang="en-US" sz="900" dirty="0"/>
          </a:p>
        </p:txBody>
      </p:sp>
      <p:sp>
        <p:nvSpPr>
          <p:cNvPr id="3" name="Text 1"/>
          <p:cNvSpPr/>
          <p:nvPr/>
        </p:nvSpPr>
        <p:spPr>
          <a:xfrm>
            <a:off x="777240" y="475488"/>
            <a:ext cx="10634472" cy="237744"/>
          </a:xfrm>
          <a:prstGeom prst="rect">
            <a:avLst/>
          </a:prstGeom>
          <a:noFill/>
          <a:ln/>
        </p:spPr>
        <p:txBody>
          <a:bodyPr wrap="square" lIns="0" tIns="0" rIns="0" bIns="0" rtlCol="0" anchor="ctr"/>
          <a:lstStyle/>
          <a:p>
            <a:pPr indent="0" marL="0">
              <a:buNone/>
            </a:pPr>
            <a:r>
              <a:rPr lang="en-US" sz="950" b="1" spc="400" kern="0" dirty="0">
                <a:solidFill>
                  <a:srgbClr val="E2571F"/>
                </a:solidFill>
                <a:latin typeface="Courier New" pitchFamily="34" charset="0"/>
                <a:ea typeface="Courier New" pitchFamily="34" charset="-122"/>
                <a:cs typeface="Courier New" pitchFamily="34" charset="-120"/>
              </a:rPr>
              <a:t>EFFECTIVE USE OF AGENTS &amp; MODELS</a:t>
            </a:r>
            <a:endParaRPr lang="en-US" sz="950" dirty="0"/>
          </a:p>
        </p:txBody>
      </p:sp>
      <p:sp>
        <p:nvSpPr>
          <p:cNvPr id="4" name="Text 2"/>
          <p:cNvSpPr/>
          <p:nvPr/>
        </p:nvSpPr>
        <p:spPr>
          <a:xfrm>
            <a:off x="777240" y="896112"/>
            <a:ext cx="10634472" cy="1417320"/>
          </a:xfrm>
          <a:prstGeom prst="rect">
            <a:avLst/>
          </a:prstGeom>
          <a:noFill/>
          <a:ln/>
        </p:spPr>
        <p:txBody>
          <a:bodyPr wrap="square" lIns="0" tIns="0" rIns="0" bIns="0" rtlCol="0" anchor="t"/>
          <a:lstStyle/>
          <a:p>
            <a:pPr indent="0" marL="0">
              <a:lnSpc>
                <a:spcPts val="4200"/>
              </a:lnSpc>
              <a:buNone/>
            </a:pPr>
            <a:r>
              <a:rPr lang="en-US" sz="3200" b="1" dirty="0">
                <a:solidFill>
                  <a:srgbClr val="F3ECE2"/>
                </a:solidFill>
                <a:latin typeface="Bookman Old Style" pitchFamily="34" charset="0"/>
                <a:ea typeface="Bookman Old Style" pitchFamily="34" charset="-122"/>
                <a:cs typeface="Bookman Old Style" pitchFamily="34" charset="-120"/>
              </a:rPr>
              <a:t>Strong where the thinking is hard.</a:t>
            </a:r>
            <a:endParaRPr lang="en-US" sz="3200" dirty="0"/>
          </a:p>
          <a:p>
            <a:pPr indent="0" marL="0">
              <a:lnSpc>
                <a:spcPts val="4200"/>
              </a:lnSpc>
              <a:buNone/>
            </a:pPr>
            <a:r>
              <a:rPr lang="en-US" sz="3200" b="1" dirty="0">
                <a:solidFill>
                  <a:srgbClr val="F3ECE2"/>
                </a:solidFill>
                <a:latin typeface="Bookman Old Style" pitchFamily="34" charset="0"/>
                <a:ea typeface="Bookman Old Style" pitchFamily="34" charset="-122"/>
                <a:cs typeface="Bookman Old Style" pitchFamily="34" charset="-120"/>
              </a:rPr>
              <a:t>Lean where it isn't.</a:t>
            </a:r>
            <a:endParaRPr lang="en-US" sz="3200" dirty="0"/>
          </a:p>
        </p:txBody>
      </p:sp>
      <p:sp>
        <p:nvSpPr>
          <p:cNvPr id="5" name="Shape 3"/>
          <p:cNvSpPr/>
          <p:nvPr/>
        </p:nvSpPr>
        <p:spPr>
          <a:xfrm>
            <a:off x="777240" y="2697480"/>
            <a:ext cx="5120640" cy="2286000"/>
          </a:xfrm>
          <a:prstGeom prst="roundRect">
            <a:avLst>
              <a:gd name="adj" fmla="val 1600"/>
            </a:avLst>
          </a:prstGeom>
          <a:solidFill>
            <a:srgbClr val="E2571F"/>
          </a:solidFill>
          <a:ln/>
          <a:effectLst>
            <a:outerShdw sx="100000" sy="100000" kx="0" ky="0" algn="bl" rotWithShape="0" blurRad="152400" dist="38100" dir="5400000">
              <a:srgbClr val="000000">
                <a:alpha val="28000"/>
              </a:srgbClr>
            </a:outerShdw>
          </a:effectLst>
        </p:spPr>
      </p:sp>
      <p:sp>
        <p:nvSpPr>
          <p:cNvPr id="6" name="Text 4"/>
          <p:cNvSpPr/>
          <p:nvPr/>
        </p:nvSpPr>
        <p:spPr>
          <a:xfrm>
            <a:off x="1088136" y="2944368"/>
            <a:ext cx="4480560" cy="237744"/>
          </a:xfrm>
          <a:prstGeom prst="rect">
            <a:avLst/>
          </a:prstGeom>
          <a:noFill/>
          <a:ln/>
        </p:spPr>
        <p:txBody>
          <a:bodyPr wrap="square" lIns="0" tIns="0" rIns="0" bIns="0" rtlCol="0" anchor="ctr"/>
          <a:lstStyle/>
          <a:p>
            <a:pPr indent="0" marL="0">
              <a:buNone/>
            </a:pPr>
            <a:r>
              <a:rPr lang="en-US" sz="950" b="1" spc="300" kern="0" dirty="0">
                <a:solidFill>
                  <a:srgbClr val="F3ECE2"/>
                </a:solidFill>
                <a:latin typeface="Courier New" pitchFamily="34" charset="0"/>
                <a:ea typeface="Courier New" pitchFamily="34" charset="-122"/>
                <a:cs typeface="Courier New" pitchFamily="34" charset="-120"/>
              </a:rPr>
              <a:t>STRONG REASONING</a:t>
            </a:r>
            <a:endParaRPr lang="en-US" sz="950" dirty="0"/>
          </a:p>
        </p:txBody>
      </p:sp>
      <p:sp>
        <p:nvSpPr>
          <p:cNvPr id="7" name="Text 5"/>
          <p:cNvSpPr/>
          <p:nvPr/>
        </p:nvSpPr>
        <p:spPr>
          <a:xfrm>
            <a:off x="1088136" y="3291840"/>
            <a:ext cx="4480560" cy="777240"/>
          </a:xfrm>
          <a:prstGeom prst="rect">
            <a:avLst/>
          </a:prstGeom>
          <a:noFill/>
          <a:ln/>
        </p:spPr>
        <p:txBody>
          <a:bodyPr wrap="square" lIns="0" tIns="0" rIns="0" bIns="0" rtlCol="0" anchor="ctr"/>
          <a:lstStyle/>
          <a:p>
            <a:pPr indent="0" marL="0">
              <a:lnSpc>
                <a:spcPts val="2700"/>
              </a:lnSpc>
              <a:buNone/>
            </a:pPr>
            <a:r>
              <a:rPr lang="en-US" sz="1800" b="1" dirty="0">
                <a:solidFill>
                  <a:srgbClr val="F3ECE2"/>
                </a:solidFill>
                <a:latin typeface="Calibri" pitchFamily="34" charset="0"/>
                <a:ea typeface="Calibri" pitchFamily="34" charset="-122"/>
                <a:cs typeface="Calibri" pitchFamily="34" charset="-120"/>
              </a:rPr>
              <a:t>Report Analyst · Attacker</a:t>
            </a:r>
            <a:endParaRPr lang="en-US" sz="1800" dirty="0"/>
          </a:p>
          <a:p>
            <a:pPr indent="0" marL="0">
              <a:lnSpc>
                <a:spcPts val="2700"/>
              </a:lnSpc>
              <a:buNone/>
            </a:pPr>
            <a:r>
              <a:rPr lang="en-US" sz="1800" b="1" dirty="0">
                <a:solidFill>
                  <a:srgbClr val="F3ECE2"/>
                </a:solidFill>
                <a:latin typeface="Calibri" pitchFamily="34" charset="0"/>
                <a:ea typeface="Calibri" pitchFamily="34" charset="-122"/>
                <a:cs typeface="Calibri" pitchFamily="34" charset="-120"/>
              </a:rPr>
              <a:t>Skeptic · Judge</a:t>
            </a:r>
            <a:endParaRPr lang="en-US" sz="1800" dirty="0"/>
          </a:p>
        </p:txBody>
      </p:sp>
      <p:sp>
        <p:nvSpPr>
          <p:cNvPr id="8" name="Text 6"/>
          <p:cNvSpPr/>
          <p:nvPr/>
        </p:nvSpPr>
        <p:spPr>
          <a:xfrm>
            <a:off x="1088136" y="4160520"/>
            <a:ext cx="4480560" cy="640080"/>
          </a:xfrm>
          <a:prstGeom prst="rect">
            <a:avLst/>
          </a:prstGeom>
          <a:noFill/>
          <a:ln/>
        </p:spPr>
        <p:txBody>
          <a:bodyPr wrap="square" lIns="0" tIns="0" rIns="0" bIns="0" rtlCol="0" anchor="ctr"/>
          <a:lstStyle/>
          <a:p>
            <a:pPr indent="0" marL="0">
              <a:lnSpc>
                <a:spcPts val="1900"/>
              </a:lnSpc>
              <a:buNone/>
            </a:pPr>
            <a:r>
              <a:rPr lang="en-US" sz="1250" dirty="0">
                <a:solidFill>
                  <a:srgbClr val="F6DDD0"/>
                </a:solidFill>
                <a:latin typeface="Calibri" pitchFamily="34" charset="0"/>
                <a:ea typeface="Calibri" pitchFamily="34" charset="-122"/>
                <a:cs typeface="Calibri" pitchFamily="34" charset="-120"/>
              </a:rPr>
              <a:t>Must catch subtle errors, avoid overlapping each other, and separate valid from noise.</a:t>
            </a:r>
            <a:endParaRPr lang="en-US" sz="1250" dirty="0"/>
          </a:p>
        </p:txBody>
      </p:sp>
      <p:sp>
        <p:nvSpPr>
          <p:cNvPr id="9" name="Shape 7"/>
          <p:cNvSpPr/>
          <p:nvPr/>
        </p:nvSpPr>
        <p:spPr>
          <a:xfrm>
            <a:off x="6227064" y="2697480"/>
            <a:ext cx="5184648" cy="2286000"/>
          </a:xfrm>
          <a:prstGeom prst="roundRect">
            <a:avLst>
              <a:gd name="adj" fmla="val 1600"/>
            </a:avLst>
          </a:prstGeom>
          <a:solidFill>
            <a:srgbClr val="221C18"/>
          </a:solidFill>
          <a:ln/>
          <a:effectLst>
            <a:outerShdw sx="100000" sy="100000" kx="0" ky="0" algn="bl" rotWithShape="0" blurRad="152400" dist="38100" dir="5400000">
              <a:srgbClr val="000000">
                <a:alpha val="28000"/>
              </a:srgbClr>
            </a:outerShdw>
          </a:effectLst>
        </p:spPr>
      </p:sp>
      <p:sp>
        <p:nvSpPr>
          <p:cNvPr id="10" name="Text 8"/>
          <p:cNvSpPr/>
          <p:nvPr/>
        </p:nvSpPr>
        <p:spPr>
          <a:xfrm>
            <a:off x="6537960" y="2944368"/>
            <a:ext cx="4572000" cy="237744"/>
          </a:xfrm>
          <a:prstGeom prst="rect">
            <a:avLst/>
          </a:prstGeom>
          <a:noFill/>
          <a:ln/>
        </p:spPr>
        <p:txBody>
          <a:bodyPr wrap="square" lIns="0" tIns="0" rIns="0" bIns="0" rtlCol="0" anchor="ctr"/>
          <a:lstStyle/>
          <a:p>
            <a:pPr indent="0" marL="0">
              <a:buNone/>
            </a:pPr>
            <a:r>
              <a:rPr lang="en-US" sz="950" b="1" spc="300" kern="0" dirty="0">
                <a:solidFill>
                  <a:srgbClr val="9A8F86"/>
                </a:solidFill>
                <a:latin typeface="Courier New" pitchFamily="34" charset="0"/>
                <a:ea typeface="Courier New" pitchFamily="34" charset="-122"/>
                <a:cs typeface="Courier New" pitchFamily="34" charset="-120"/>
              </a:rPr>
              <a:t>FAST / LEAN</a:t>
            </a:r>
            <a:endParaRPr lang="en-US" sz="950" dirty="0"/>
          </a:p>
        </p:txBody>
      </p:sp>
      <p:sp>
        <p:nvSpPr>
          <p:cNvPr id="11" name="Text 9"/>
          <p:cNvSpPr/>
          <p:nvPr/>
        </p:nvSpPr>
        <p:spPr>
          <a:xfrm>
            <a:off x="6537960" y="3291840"/>
            <a:ext cx="4572000" cy="777240"/>
          </a:xfrm>
          <a:prstGeom prst="rect">
            <a:avLst/>
          </a:prstGeom>
          <a:noFill/>
          <a:ln/>
        </p:spPr>
        <p:txBody>
          <a:bodyPr wrap="square" lIns="0" tIns="0" rIns="0" bIns="0" rtlCol="0" anchor="ctr"/>
          <a:lstStyle/>
          <a:p>
            <a:pPr indent="0" marL="0">
              <a:lnSpc>
                <a:spcPts val="2700"/>
              </a:lnSpc>
              <a:buNone/>
            </a:pPr>
            <a:r>
              <a:rPr lang="en-US" sz="1800" b="1" dirty="0">
                <a:solidFill>
                  <a:srgbClr val="F3ECE2"/>
                </a:solidFill>
                <a:latin typeface="Calibri" pitchFamily="34" charset="0"/>
                <a:ea typeface="Calibri" pitchFamily="34" charset="-122"/>
                <a:cs typeface="Calibri" pitchFamily="34" charset="-120"/>
              </a:rPr>
              <a:t>Recruiter · Research Lead</a:t>
            </a:r>
            <a:endParaRPr lang="en-US" sz="1800" dirty="0"/>
          </a:p>
          <a:p>
            <a:pPr indent="0" marL="0">
              <a:lnSpc>
                <a:spcPts val="2700"/>
              </a:lnSpc>
              <a:buNone/>
            </a:pPr>
            <a:r>
              <a:rPr lang="en-US" sz="1800" b="1" dirty="0">
                <a:solidFill>
                  <a:srgbClr val="F3ECE2"/>
                </a:solidFill>
                <a:latin typeface="Calibri" pitchFamily="34" charset="0"/>
                <a:ea typeface="Calibri" pitchFamily="34" charset="-122"/>
                <a:cs typeface="Calibri" pitchFamily="34" charset="-120"/>
              </a:rPr>
              <a:t>Answer Writer ×2 · Defender · Monitor</a:t>
            </a:r>
            <a:endParaRPr lang="en-US" sz="1800" dirty="0"/>
          </a:p>
        </p:txBody>
      </p:sp>
      <p:sp>
        <p:nvSpPr>
          <p:cNvPr id="12" name="Text 10"/>
          <p:cNvSpPr/>
          <p:nvPr/>
        </p:nvSpPr>
        <p:spPr>
          <a:xfrm>
            <a:off x="6537960" y="4160520"/>
            <a:ext cx="4572000" cy="640080"/>
          </a:xfrm>
          <a:prstGeom prst="rect">
            <a:avLst/>
          </a:prstGeom>
          <a:noFill/>
          <a:ln/>
        </p:spPr>
        <p:txBody>
          <a:bodyPr wrap="square" lIns="0" tIns="0" rIns="0" bIns="0" rtlCol="0" anchor="ctr"/>
          <a:lstStyle/>
          <a:p>
            <a:pPr indent="0" marL="0">
              <a:lnSpc>
                <a:spcPts val="1900"/>
              </a:lnSpc>
              <a:buNone/>
            </a:pPr>
            <a:r>
              <a:rPr lang="en-US" sz="1250" dirty="0">
                <a:solidFill>
                  <a:srgbClr val="9A8F86"/>
                </a:solidFill>
                <a:latin typeface="Calibri" pitchFamily="34" charset="0"/>
                <a:ea typeface="Calibri" pitchFamily="34" charset="-122"/>
                <a:cs typeface="Calibri" pitchFamily="34" charset="-120"/>
              </a:rPr>
              <a:t>Execution, synthesis, formatting. A frontier model adds latency and cost, not quality.</a:t>
            </a:r>
            <a:endParaRPr lang="en-US" sz="1250" dirty="0"/>
          </a:p>
        </p:txBody>
      </p:sp>
      <p:sp>
        <p:nvSpPr>
          <p:cNvPr id="13" name="Shape 11"/>
          <p:cNvSpPr/>
          <p:nvPr/>
        </p:nvSpPr>
        <p:spPr>
          <a:xfrm>
            <a:off x="777240" y="5257800"/>
            <a:ext cx="10634472" cy="749808"/>
          </a:xfrm>
          <a:prstGeom prst="roundRect">
            <a:avLst>
              <a:gd name="adj" fmla="val 4878"/>
            </a:avLst>
          </a:prstGeom>
          <a:solidFill>
            <a:srgbClr val="2C2420"/>
          </a:solidFill>
          <a:ln/>
        </p:spPr>
      </p:sp>
      <p:sp>
        <p:nvSpPr>
          <p:cNvPr id="14" name="Text 12"/>
          <p:cNvSpPr/>
          <p:nvPr/>
        </p:nvSpPr>
        <p:spPr>
          <a:xfrm>
            <a:off x="1088136" y="5257800"/>
            <a:ext cx="10012680" cy="749808"/>
          </a:xfrm>
          <a:prstGeom prst="rect">
            <a:avLst/>
          </a:prstGeom>
          <a:noFill/>
          <a:ln/>
        </p:spPr>
        <p:txBody>
          <a:bodyPr wrap="square" lIns="0" tIns="0" rIns="0" bIns="0" rtlCol="0" anchor="ctr"/>
          <a:lstStyle/>
          <a:p>
            <a:pPr indent="0" marL="0">
              <a:buNone/>
            </a:pPr>
            <a:r>
              <a:rPr lang="en-US" sz="1400" i="1" dirty="0">
                <a:solidFill>
                  <a:srgbClr val="E8A33D"/>
                </a:solidFill>
                <a:latin typeface="Calibri" pitchFamily="34" charset="0"/>
                <a:ea typeface="Calibri" pitchFamily="34" charset="-122"/>
                <a:cs typeface="Calibri" pitchFamily="34" charset="-120"/>
              </a:rPr>
              <a:t>On a lean model, the Judge rubber-stamped every objection as VALID. That is the split earning its place.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210"/>
        </a:solidFill>
      </p:bgPr>
    </p:bg>
    <p:spTree>
      <p:nvGrpSpPr>
        <p:cNvPr id="1" name=""/>
        <p:cNvGrpSpPr/>
        <p:nvPr/>
      </p:nvGrpSpPr>
      <p:grpSpPr>
        <a:xfrm>
          <a:off x="0" y="0"/>
          <a:ext cx="0" cy="0"/>
          <a:chOff x="0" y="0"/>
          <a:chExt cx="0" cy="0"/>
        </a:xfrm>
      </p:grpSpPr>
      <p:sp>
        <p:nvSpPr>
          <p:cNvPr id="2" name="Text 0"/>
          <p:cNvSpPr/>
          <p:nvPr/>
        </p:nvSpPr>
        <p:spPr>
          <a:xfrm>
            <a:off x="10954512" y="6291072"/>
            <a:ext cx="548640" cy="237744"/>
          </a:xfrm>
          <a:prstGeom prst="rect">
            <a:avLst/>
          </a:prstGeom>
          <a:noFill/>
          <a:ln/>
        </p:spPr>
        <p:txBody>
          <a:bodyPr wrap="square" lIns="0" tIns="0" rIns="0" bIns="0" rtlCol="0" anchor="ctr"/>
          <a:lstStyle/>
          <a:p>
            <a:pPr algn="r" indent="0" marL="0">
              <a:buNone/>
            </a:pPr>
            <a:r>
              <a:rPr lang="en-US" sz="900" dirty="0">
                <a:solidFill>
                  <a:srgbClr val="9A8F86"/>
                </a:solidFill>
                <a:latin typeface="Courier New" pitchFamily="34" charset="0"/>
                <a:ea typeface="Courier New" pitchFamily="34" charset="-122"/>
                <a:cs typeface="Courier New" pitchFamily="34" charset="-120"/>
              </a:rPr>
              <a:t>15</a:t>
            </a:r>
            <a:endParaRPr lang="en-US" sz="900" dirty="0"/>
          </a:p>
        </p:txBody>
      </p:sp>
      <p:sp>
        <p:nvSpPr>
          <p:cNvPr id="3" name="Text 1"/>
          <p:cNvSpPr/>
          <p:nvPr/>
        </p:nvSpPr>
        <p:spPr>
          <a:xfrm>
            <a:off x="777240" y="475488"/>
            <a:ext cx="10634472" cy="237744"/>
          </a:xfrm>
          <a:prstGeom prst="rect">
            <a:avLst/>
          </a:prstGeom>
          <a:noFill/>
          <a:ln/>
        </p:spPr>
        <p:txBody>
          <a:bodyPr wrap="square" lIns="0" tIns="0" rIns="0" bIns="0" rtlCol="0" anchor="ctr"/>
          <a:lstStyle/>
          <a:p>
            <a:pPr indent="0" marL="0">
              <a:buNone/>
            </a:pPr>
            <a:r>
              <a:rPr lang="en-US" sz="950" b="1" spc="400" kern="0" dirty="0">
                <a:solidFill>
                  <a:srgbClr val="E2571F"/>
                </a:solidFill>
                <a:latin typeface="Courier New" pitchFamily="34" charset="0"/>
                <a:ea typeface="Courier New" pitchFamily="34" charset="-122"/>
                <a:cs typeface="Courier New" pitchFamily="34" charset="-120"/>
              </a:rPr>
              <a:t>BUILT IN STUDIO · DEPLOYED</a:t>
            </a:r>
            <a:endParaRPr lang="en-US" sz="950" dirty="0"/>
          </a:p>
        </p:txBody>
      </p:sp>
      <p:sp>
        <p:nvSpPr>
          <p:cNvPr id="4" name="Text 2"/>
          <p:cNvSpPr/>
          <p:nvPr/>
        </p:nvSpPr>
        <p:spPr>
          <a:xfrm>
            <a:off x="777240" y="896112"/>
            <a:ext cx="10634472" cy="914400"/>
          </a:xfrm>
          <a:prstGeom prst="rect">
            <a:avLst/>
          </a:prstGeom>
          <a:noFill/>
          <a:ln/>
        </p:spPr>
        <p:txBody>
          <a:bodyPr wrap="square" lIns="0" tIns="0" rIns="0" bIns="0" rtlCol="0" anchor="t"/>
          <a:lstStyle/>
          <a:p>
            <a:pPr indent="0" marL="0">
              <a:buNone/>
            </a:pPr>
            <a:r>
              <a:rPr lang="en-US" sz="3400" b="1" dirty="0">
                <a:solidFill>
                  <a:srgbClr val="F3ECE2"/>
                </a:solidFill>
                <a:latin typeface="Bookman Old Style" pitchFamily="34" charset="0"/>
                <a:ea typeface="Bookman Old Style" pitchFamily="34" charset="-122"/>
                <a:cs typeface="Bookman Old Style" pitchFamily="34" charset="-120"/>
              </a:rPr>
              <a:t>Built on the canvas. Live right now.</a:t>
            </a:r>
            <a:endParaRPr lang="en-US" sz="3400" dirty="0"/>
          </a:p>
        </p:txBody>
      </p:sp>
      <p:sp>
        <p:nvSpPr>
          <p:cNvPr id="5" name="Shape 3"/>
          <p:cNvSpPr/>
          <p:nvPr/>
        </p:nvSpPr>
        <p:spPr>
          <a:xfrm>
            <a:off x="777240" y="2286000"/>
            <a:ext cx="3319272" cy="2240280"/>
          </a:xfrm>
          <a:prstGeom prst="roundRect">
            <a:avLst>
              <a:gd name="adj" fmla="val 1633"/>
            </a:avLst>
          </a:prstGeom>
          <a:solidFill>
            <a:srgbClr val="221C18"/>
          </a:solidFill>
          <a:ln/>
          <a:effectLst>
            <a:outerShdw sx="100000" sy="100000" kx="0" ky="0" algn="bl" rotWithShape="0" blurRad="152400" dist="38100" dir="5400000">
              <a:srgbClr val="000000">
                <a:alpha val="28000"/>
              </a:srgbClr>
            </a:outerShdw>
          </a:effectLst>
        </p:spPr>
      </p:sp>
      <p:sp>
        <p:nvSpPr>
          <p:cNvPr id="6" name="Text 4"/>
          <p:cNvSpPr/>
          <p:nvPr/>
        </p:nvSpPr>
        <p:spPr>
          <a:xfrm>
            <a:off x="1069848" y="2578608"/>
            <a:ext cx="2734056" cy="822960"/>
          </a:xfrm>
          <a:prstGeom prst="rect">
            <a:avLst/>
          </a:prstGeom>
          <a:noFill/>
          <a:ln/>
        </p:spPr>
        <p:txBody>
          <a:bodyPr wrap="square" lIns="0" tIns="0" rIns="0" bIns="0" rtlCol="0" anchor="ctr"/>
          <a:lstStyle/>
          <a:p>
            <a:pPr indent="0" marL="0">
              <a:buNone/>
            </a:pPr>
            <a:r>
              <a:rPr lang="en-US" sz="4200" b="1" dirty="0">
                <a:solidFill>
                  <a:srgbClr val="F3ECE2"/>
                </a:solidFill>
                <a:latin typeface="Bookman Old Style" pitchFamily="34" charset="0"/>
                <a:ea typeface="Bookman Old Style" pitchFamily="34" charset="-122"/>
                <a:cs typeface="Bookman Old Style" pitchFamily="34" charset="-120"/>
              </a:rPr>
              <a:t>10</a:t>
            </a:r>
            <a:endParaRPr lang="en-US" sz="4200" dirty="0"/>
          </a:p>
        </p:txBody>
      </p:sp>
      <p:sp>
        <p:nvSpPr>
          <p:cNvPr id="7" name="Text 5"/>
          <p:cNvSpPr/>
          <p:nvPr/>
        </p:nvSpPr>
        <p:spPr>
          <a:xfrm>
            <a:off x="1069848" y="3493008"/>
            <a:ext cx="2734056" cy="777240"/>
          </a:xfrm>
          <a:prstGeom prst="rect">
            <a:avLst/>
          </a:prstGeom>
          <a:noFill/>
          <a:ln/>
        </p:spPr>
        <p:txBody>
          <a:bodyPr wrap="square" lIns="0" tIns="0" rIns="0" bIns="0" rtlCol="0" anchor="ctr"/>
          <a:lstStyle/>
          <a:p>
            <a:pPr indent="0" marL="0">
              <a:lnSpc>
                <a:spcPts val="2000"/>
              </a:lnSpc>
              <a:buNone/>
            </a:pPr>
            <a:r>
              <a:rPr lang="en-US" sz="1350" dirty="0">
                <a:solidFill>
                  <a:srgbClr val="9A8F86"/>
                </a:solidFill>
                <a:latin typeface="Calibri" pitchFamily="34" charset="0"/>
                <a:ea typeface="Calibri" pitchFamily="34" charset="-122"/>
                <a:cs typeface="Calibri" pitchFamily="34" charset="-120"/>
              </a:rPr>
              <a:t>agents wired on the</a:t>
            </a:r>
            <a:endParaRPr lang="en-US" sz="1350" dirty="0"/>
          </a:p>
          <a:p>
            <a:pPr indent="0" marL="0">
              <a:lnSpc>
                <a:spcPts val="2000"/>
              </a:lnSpc>
              <a:buNone/>
            </a:pPr>
            <a:r>
              <a:rPr lang="en-US" sz="1350" dirty="0">
                <a:solidFill>
                  <a:srgbClr val="9A8F86"/>
                </a:solidFill>
                <a:latin typeface="Calibri" pitchFamily="34" charset="0"/>
                <a:ea typeface="Calibri" pitchFamily="34" charset="-122"/>
                <a:cs typeface="Calibri" pitchFamily="34" charset="-120"/>
              </a:rPr>
              <a:t>CrewAI Studio canvas</a:t>
            </a:r>
            <a:endParaRPr lang="en-US" sz="1350" dirty="0"/>
          </a:p>
        </p:txBody>
      </p:sp>
      <p:sp>
        <p:nvSpPr>
          <p:cNvPr id="8" name="Shape 6"/>
          <p:cNvSpPr/>
          <p:nvPr/>
        </p:nvSpPr>
        <p:spPr>
          <a:xfrm>
            <a:off x="4434840" y="2286000"/>
            <a:ext cx="3319272" cy="2240280"/>
          </a:xfrm>
          <a:prstGeom prst="roundRect">
            <a:avLst>
              <a:gd name="adj" fmla="val 1633"/>
            </a:avLst>
          </a:prstGeom>
          <a:solidFill>
            <a:srgbClr val="221C18"/>
          </a:solidFill>
          <a:ln/>
          <a:effectLst>
            <a:outerShdw sx="100000" sy="100000" kx="0" ky="0" algn="bl" rotWithShape="0" blurRad="152400" dist="38100" dir="5400000">
              <a:srgbClr val="000000">
                <a:alpha val="28000"/>
              </a:srgbClr>
            </a:outerShdw>
          </a:effectLst>
        </p:spPr>
      </p:sp>
      <p:sp>
        <p:nvSpPr>
          <p:cNvPr id="9" name="Text 7"/>
          <p:cNvSpPr/>
          <p:nvPr/>
        </p:nvSpPr>
        <p:spPr>
          <a:xfrm>
            <a:off x="4727448" y="2578608"/>
            <a:ext cx="2734056" cy="822960"/>
          </a:xfrm>
          <a:prstGeom prst="rect">
            <a:avLst/>
          </a:prstGeom>
          <a:noFill/>
          <a:ln/>
        </p:spPr>
        <p:txBody>
          <a:bodyPr wrap="square" lIns="0" tIns="0" rIns="0" bIns="0" rtlCol="0" anchor="ctr"/>
          <a:lstStyle/>
          <a:p>
            <a:pPr indent="0" marL="0">
              <a:buNone/>
            </a:pPr>
            <a:r>
              <a:rPr lang="en-US" sz="4200" b="1" dirty="0">
                <a:solidFill>
                  <a:srgbClr val="F3ECE2"/>
                </a:solidFill>
                <a:latin typeface="Bookman Old Style" pitchFamily="34" charset="0"/>
                <a:ea typeface="Bookman Old Style" pitchFamily="34" charset="-122"/>
                <a:cs typeface="Bookman Old Style" pitchFamily="34" charset="-120"/>
              </a:rPr>
              <a:t>~60s</a:t>
            </a:r>
            <a:endParaRPr lang="en-US" sz="4200" dirty="0"/>
          </a:p>
        </p:txBody>
      </p:sp>
      <p:sp>
        <p:nvSpPr>
          <p:cNvPr id="10" name="Text 8"/>
          <p:cNvSpPr/>
          <p:nvPr/>
        </p:nvSpPr>
        <p:spPr>
          <a:xfrm>
            <a:off x="4727448" y="3493008"/>
            <a:ext cx="2734056" cy="777240"/>
          </a:xfrm>
          <a:prstGeom prst="rect">
            <a:avLst/>
          </a:prstGeom>
          <a:noFill/>
          <a:ln/>
        </p:spPr>
        <p:txBody>
          <a:bodyPr wrap="square" lIns="0" tIns="0" rIns="0" bIns="0" rtlCol="0" anchor="ctr"/>
          <a:lstStyle/>
          <a:p>
            <a:pPr indent="0" marL="0">
              <a:lnSpc>
                <a:spcPts val="2000"/>
              </a:lnSpc>
              <a:buNone/>
            </a:pPr>
            <a:r>
              <a:rPr lang="en-US" sz="1350" dirty="0">
                <a:solidFill>
                  <a:srgbClr val="9A8F86"/>
                </a:solidFill>
                <a:latin typeface="Calibri" pitchFamily="34" charset="0"/>
                <a:ea typeface="Calibri" pitchFamily="34" charset="-122"/>
                <a:cs typeface="Calibri" pitchFamily="34" charset="-120"/>
              </a:rPr>
              <a:t>end-to-end run,</a:t>
            </a:r>
            <a:endParaRPr lang="en-US" sz="1350" dirty="0"/>
          </a:p>
          <a:p>
            <a:pPr indent="0" marL="0">
              <a:lnSpc>
                <a:spcPts val="2000"/>
              </a:lnSpc>
              <a:buNone/>
            </a:pPr>
            <a:r>
              <a:rPr lang="en-US" sz="1350" dirty="0">
                <a:solidFill>
                  <a:srgbClr val="9A8F86"/>
                </a:solidFill>
                <a:latin typeface="Calibri" pitchFamily="34" charset="0"/>
                <a:ea typeface="Calibri" pitchFamily="34" charset="-122"/>
                <a:cs typeface="Calibri" pitchFamily="34" charset="-120"/>
              </a:rPr>
              <a:t>proven repeatedly</a:t>
            </a:r>
            <a:endParaRPr lang="en-US" sz="1350" dirty="0"/>
          </a:p>
        </p:txBody>
      </p:sp>
      <p:sp>
        <p:nvSpPr>
          <p:cNvPr id="11" name="Shape 9"/>
          <p:cNvSpPr/>
          <p:nvPr/>
        </p:nvSpPr>
        <p:spPr>
          <a:xfrm>
            <a:off x="8092440" y="2286000"/>
            <a:ext cx="3319272" cy="2240280"/>
          </a:xfrm>
          <a:prstGeom prst="roundRect">
            <a:avLst>
              <a:gd name="adj" fmla="val 1633"/>
            </a:avLst>
          </a:prstGeom>
          <a:solidFill>
            <a:srgbClr val="E2571F"/>
          </a:solidFill>
          <a:ln/>
          <a:effectLst>
            <a:outerShdw sx="100000" sy="100000" kx="0" ky="0" algn="bl" rotWithShape="0" blurRad="152400" dist="38100" dir="5400000">
              <a:srgbClr val="000000">
                <a:alpha val="28000"/>
              </a:srgbClr>
            </a:outerShdw>
          </a:effectLst>
        </p:spPr>
      </p:sp>
      <p:sp>
        <p:nvSpPr>
          <p:cNvPr id="12" name="Text 10"/>
          <p:cNvSpPr/>
          <p:nvPr/>
        </p:nvSpPr>
        <p:spPr>
          <a:xfrm>
            <a:off x="8385048" y="2578608"/>
            <a:ext cx="2734056" cy="822960"/>
          </a:xfrm>
          <a:prstGeom prst="rect">
            <a:avLst/>
          </a:prstGeom>
          <a:noFill/>
          <a:ln/>
        </p:spPr>
        <p:txBody>
          <a:bodyPr wrap="square" lIns="0" tIns="0" rIns="0" bIns="0" rtlCol="0" anchor="ctr"/>
          <a:lstStyle/>
          <a:p>
            <a:pPr indent="0" marL="0">
              <a:buNone/>
            </a:pPr>
            <a:r>
              <a:rPr lang="en-US" sz="4200" b="1" dirty="0">
                <a:solidFill>
                  <a:srgbClr val="F3ECE2"/>
                </a:solidFill>
                <a:latin typeface="Bookman Old Style" pitchFamily="34" charset="0"/>
                <a:ea typeface="Bookman Old Style" pitchFamily="34" charset="-122"/>
                <a:cs typeface="Bookman Old Style" pitchFamily="34" charset="-120"/>
              </a:rPr>
              <a:t>LIVE</a:t>
            </a:r>
            <a:endParaRPr lang="en-US" sz="4200" dirty="0"/>
          </a:p>
        </p:txBody>
      </p:sp>
      <p:sp>
        <p:nvSpPr>
          <p:cNvPr id="13" name="Text 11"/>
          <p:cNvSpPr/>
          <p:nvPr/>
        </p:nvSpPr>
        <p:spPr>
          <a:xfrm>
            <a:off x="8385048" y="3493008"/>
            <a:ext cx="2734056" cy="777240"/>
          </a:xfrm>
          <a:prstGeom prst="rect">
            <a:avLst/>
          </a:prstGeom>
          <a:noFill/>
          <a:ln/>
        </p:spPr>
        <p:txBody>
          <a:bodyPr wrap="square" lIns="0" tIns="0" rIns="0" bIns="0" rtlCol="0" anchor="ctr"/>
          <a:lstStyle/>
          <a:p>
            <a:pPr indent="0" marL="0">
              <a:lnSpc>
                <a:spcPts val="2000"/>
              </a:lnSpc>
              <a:buNone/>
            </a:pPr>
            <a:r>
              <a:rPr lang="en-US" sz="1350" dirty="0">
                <a:solidFill>
                  <a:srgbClr val="F6DDD0"/>
                </a:solidFill>
                <a:latin typeface="Calibri" pitchFamily="34" charset="0"/>
                <a:ea typeface="Calibri" pitchFamily="34" charset="-122"/>
                <a:cs typeface="Calibri" pitchFamily="34" charset="-120"/>
              </a:rPr>
              <a:t>hosted crew plus a</a:t>
            </a:r>
            <a:endParaRPr lang="en-US" sz="1350" dirty="0"/>
          </a:p>
          <a:p>
            <a:pPr indent="0" marL="0">
              <a:lnSpc>
                <a:spcPts val="2000"/>
              </a:lnSpc>
              <a:buNone/>
            </a:pPr>
            <a:r>
              <a:rPr lang="en-US" sz="1350" dirty="0">
                <a:solidFill>
                  <a:srgbClr val="F6DDD0"/>
                </a:solidFill>
                <a:latin typeface="Calibri" pitchFamily="34" charset="0"/>
                <a:ea typeface="Calibri" pitchFamily="34" charset="-122"/>
                <a:cs typeface="Calibri" pitchFamily="34" charset="-120"/>
              </a:rPr>
              <a:t>deployed front end</a:t>
            </a:r>
            <a:endParaRPr lang="en-US" sz="1350" dirty="0"/>
          </a:p>
        </p:txBody>
      </p:sp>
      <p:sp>
        <p:nvSpPr>
          <p:cNvPr id="14" name="Text 12"/>
          <p:cNvSpPr/>
          <p:nvPr/>
        </p:nvSpPr>
        <p:spPr>
          <a:xfrm>
            <a:off x="777240" y="4846320"/>
            <a:ext cx="10634472" cy="365760"/>
          </a:xfrm>
          <a:prstGeom prst="rect">
            <a:avLst/>
          </a:prstGeom>
          <a:noFill/>
          <a:ln/>
        </p:spPr>
        <p:txBody>
          <a:bodyPr wrap="square" lIns="0" tIns="0" rIns="0" bIns="0" rtlCol="0" anchor="ctr"/>
          <a:lstStyle/>
          <a:p>
            <a:pPr indent="0" marL="0">
              <a:buNone/>
            </a:pPr>
            <a:r>
              <a:rPr lang="en-US" sz="1500" dirty="0">
                <a:solidFill>
                  <a:srgbClr val="9A8F86"/>
                </a:solidFill>
                <a:latin typeface="Calibri" pitchFamily="34" charset="0"/>
                <a:ea typeface="Calibri" pitchFamily="34" charset="-122"/>
                <a:cs typeface="Calibri" pitchFamily="34" charset="-120"/>
              </a:rPr>
              <a:t>Agents, tasks, context wiring and per-node model selection — all on the Studio canvas.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ECE2"/>
        </a:solidFill>
      </p:bgPr>
    </p:bg>
    <p:spTree>
      <p:nvGrpSpPr>
        <p:cNvPr id="1" name=""/>
        <p:cNvGrpSpPr/>
        <p:nvPr/>
      </p:nvGrpSpPr>
      <p:grpSpPr>
        <a:xfrm>
          <a:off x="0" y="0"/>
          <a:ext cx="0" cy="0"/>
          <a:chOff x="0" y="0"/>
          <a:chExt cx="0" cy="0"/>
        </a:xfrm>
      </p:grpSpPr>
      <p:sp>
        <p:nvSpPr>
          <p:cNvPr id="2" name="Text 0"/>
          <p:cNvSpPr/>
          <p:nvPr/>
        </p:nvSpPr>
        <p:spPr>
          <a:xfrm>
            <a:off x="10954512" y="6291072"/>
            <a:ext cx="548640" cy="237744"/>
          </a:xfrm>
          <a:prstGeom prst="rect">
            <a:avLst/>
          </a:prstGeom>
          <a:noFill/>
          <a:ln/>
        </p:spPr>
        <p:txBody>
          <a:bodyPr wrap="square" lIns="0" tIns="0" rIns="0" bIns="0" rtlCol="0" anchor="ctr"/>
          <a:lstStyle/>
          <a:p>
            <a:pPr algn="r" indent="0" marL="0">
              <a:buNone/>
            </a:pPr>
            <a:r>
              <a:rPr lang="en-US" sz="900" dirty="0">
                <a:solidFill>
                  <a:srgbClr val="7A6E64"/>
                </a:solidFill>
                <a:latin typeface="Courier New" pitchFamily="34" charset="0"/>
                <a:ea typeface="Courier New" pitchFamily="34" charset="-122"/>
                <a:cs typeface="Courier New" pitchFamily="34" charset="-120"/>
              </a:rPr>
              <a:t>16</a:t>
            </a:r>
            <a:endParaRPr lang="en-US" sz="900" dirty="0"/>
          </a:p>
        </p:txBody>
      </p:sp>
      <p:sp>
        <p:nvSpPr>
          <p:cNvPr id="3" name="Text 1"/>
          <p:cNvSpPr/>
          <p:nvPr/>
        </p:nvSpPr>
        <p:spPr>
          <a:xfrm>
            <a:off x="777240" y="475488"/>
            <a:ext cx="10634472" cy="237744"/>
          </a:xfrm>
          <a:prstGeom prst="rect">
            <a:avLst/>
          </a:prstGeom>
          <a:noFill/>
          <a:ln/>
        </p:spPr>
        <p:txBody>
          <a:bodyPr wrap="square" lIns="0" tIns="0" rIns="0" bIns="0" rtlCol="0" anchor="ctr"/>
          <a:lstStyle/>
          <a:p>
            <a:pPr indent="0" marL="0">
              <a:buNone/>
            </a:pPr>
            <a:r>
              <a:rPr lang="en-US" sz="950" b="1" spc="400" kern="0" dirty="0">
                <a:solidFill>
                  <a:srgbClr val="E2571F"/>
                </a:solidFill>
                <a:latin typeface="Courier New" pitchFamily="34" charset="0"/>
                <a:ea typeface="Courier New" pitchFamily="34" charset="-122"/>
                <a:cs typeface="Courier New" pitchFamily="34" charset="-120"/>
              </a:rPr>
              <a:t>GENERALITY</a:t>
            </a:r>
            <a:endParaRPr lang="en-US" sz="950" dirty="0"/>
          </a:p>
        </p:txBody>
      </p:sp>
      <p:sp>
        <p:nvSpPr>
          <p:cNvPr id="4" name="Text 2"/>
          <p:cNvSpPr/>
          <p:nvPr/>
        </p:nvSpPr>
        <p:spPr>
          <a:xfrm>
            <a:off x="777240" y="896112"/>
            <a:ext cx="10634472" cy="914400"/>
          </a:xfrm>
          <a:prstGeom prst="rect">
            <a:avLst/>
          </a:prstGeom>
          <a:noFill/>
          <a:ln/>
        </p:spPr>
        <p:txBody>
          <a:bodyPr wrap="square" lIns="0" tIns="0" rIns="0" bIns="0" rtlCol="0" anchor="t"/>
          <a:lstStyle/>
          <a:p>
            <a:pPr indent="0" marL="0">
              <a:buNone/>
            </a:pPr>
            <a:r>
              <a:rPr lang="en-US" sz="3400" b="1" dirty="0">
                <a:solidFill>
                  <a:srgbClr val="161210"/>
                </a:solidFill>
                <a:latin typeface="Bookman Old Style" pitchFamily="34" charset="0"/>
                <a:ea typeface="Bookman Old Style" pitchFamily="34" charset="-122"/>
                <a:cs typeface="Bookman Old Style" pitchFamily="34" charset="-120"/>
              </a:rPr>
              <a:t>Same system. Zero reconfiguration.</a:t>
            </a:r>
            <a:endParaRPr lang="en-US" sz="3400" dirty="0"/>
          </a:p>
        </p:txBody>
      </p:sp>
      <p:sp>
        <p:nvSpPr>
          <p:cNvPr id="5" name="Text 3"/>
          <p:cNvSpPr/>
          <p:nvPr/>
        </p:nvSpPr>
        <p:spPr>
          <a:xfrm>
            <a:off x="1088136" y="2103120"/>
            <a:ext cx="3657600" cy="219456"/>
          </a:xfrm>
          <a:prstGeom prst="rect">
            <a:avLst/>
          </a:prstGeom>
          <a:noFill/>
          <a:ln/>
        </p:spPr>
        <p:txBody>
          <a:bodyPr wrap="square" lIns="0" tIns="0" rIns="0" bIns="0" rtlCol="0" anchor="ctr"/>
          <a:lstStyle/>
          <a:p>
            <a:pPr indent="0" marL="0">
              <a:buNone/>
            </a:pPr>
            <a:r>
              <a:rPr lang="en-US" sz="950" b="1" spc="300" kern="0" dirty="0">
                <a:solidFill>
                  <a:srgbClr val="7A6E64"/>
                </a:solidFill>
                <a:latin typeface="Courier New" pitchFamily="34" charset="0"/>
                <a:ea typeface="Courier New" pitchFamily="34" charset="-122"/>
                <a:cs typeface="Courier New" pitchFamily="34" charset="-120"/>
              </a:rPr>
              <a:t>INPUT</a:t>
            </a:r>
            <a:endParaRPr lang="en-US" sz="950" dirty="0"/>
          </a:p>
        </p:txBody>
      </p:sp>
      <p:sp>
        <p:nvSpPr>
          <p:cNvPr id="6" name="Text 4"/>
          <p:cNvSpPr/>
          <p:nvPr/>
        </p:nvSpPr>
        <p:spPr>
          <a:xfrm>
            <a:off x="5074920" y="2103120"/>
            <a:ext cx="6400800" cy="219456"/>
          </a:xfrm>
          <a:prstGeom prst="rect">
            <a:avLst/>
          </a:prstGeom>
          <a:noFill/>
          <a:ln/>
        </p:spPr>
        <p:txBody>
          <a:bodyPr wrap="square" lIns="0" tIns="0" rIns="0" bIns="0" rtlCol="0" anchor="ctr"/>
          <a:lstStyle/>
          <a:p>
            <a:pPr indent="0" marL="0">
              <a:buNone/>
            </a:pPr>
            <a:r>
              <a:rPr lang="en-US" sz="950" b="1" spc="300" kern="0" dirty="0">
                <a:solidFill>
                  <a:srgbClr val="7A6E64"/>
                </a:solidFill>
                <a:latin typeface="Courier New" pitchFamily="34" charset="0"/>
                <a:ea typeface="Courier New" pitchFamily="34" charset="-122"/>
                <a:cs typeface="Courier New" pitchFamily="34" charset="-120"/>
              </a:rPr>
              <a:t>THE TEAM IT BUILT, UNPROMPTED</a:t>
            </a:r>
            <a:endParaRPr lang="en-US" sz="950" dirty="0"/>
          </a:p>
        </p:txBody>
      </p:sp>
      <p:sp>
        <p:nvSpPr>
          <p:cNvPr id="7" name="Shape 5"/>
          <p:cNvSpPr/>
          <p:nvPr/>
        </p:nvSpPr>
        <p:spPr>
          <a:xfrm>
            <a:off x="777240" y="2487168"/>
            <a:ext cx="10634472" cy="868680"/>
          </a:xfrm>
          <a:prstGeom prst="roundRect">
            <a:avLst>
              <a:gd name="adj" fmla="val 4211"/>
            </a:avLst>
          </a:prstGeom>
          <a:solidFill>
            <a:srgbClr val="E6DBCB"/>
          </a:solidFill>
          <a:ln/>
          <a:effectLst>
            <a:outerShdw sx="100000" sy="100000" kx="0" ky="0" algn="bl" rotWithShape="0" blurRad="152400" dist="38100" dir="5400000">
              <a:srgbClr val="000000">
                <a:alpha val="12000"/>
              </a:srgbClr>
            </a:outerShdw>
          </a:effectLst>
        </p:spPr>
      </p:sp>
      <p:sp>
        <p:nvSpPr>
          <p:cNvPr id="8" name="Text 6"/>
          <p:cNvSpPr/>
          <p:nvPr/>
        </p:nvSpPr>
        <p:spPr>
          <a:xfrm>
            <a:off x="1088136" y="2724912"/>
            <a:ext cx="3749040" cy="402336"/>
          </a:xfrm>
          <a:prstGeom prst="rect">
            <a:avLst/>
          </a:prstGeom>
          <a:noFill/>
          <a:ln/>
        </p:spPr>
        <p:txBody>
          <a:bodyPr wrap="square" lIns="0" tIns="0" rIns="0" bIns="0" rtlCol="0" anchor="ctr"/>
          <a:lstStyle/>
          <a:p>
            <a:pPr indent="0" marL="0">
              <a:buNone/>
            </a:pPr>
            <a:r>
              <a:rPr lang="en-US" sz="1500" b="1" dirty="0">
                <a:solidFill>
                  <a:srgbClr val="161210"/>
                </a:solidFill>
                <a:latin typeface="Calibri" pitchFamily="34" charset="0"/>
                <a:ea typeface="Calibri" pitchFamily="34" charset="-122"/>
                <a:cs typeface="Calibri" pitchFamily="34" charset="-120"/>
              </a:rPr>
              <a:t>Car purchase, $30k cap</a:t>
            </a:r>
            <a:endParaRPr lang="en-US" sz="1500" dirty="0"/>
          </a:p>
        </p:txBody>
      </p:sp>
      <p:sp>
        <p:nvSpPr>
          <p:cNvPr id="9" name="Text 7"/>
          <p:cNvSpPr/>
          <p:nvPr/>
        </p:nvSpPr>
        <p:spPr>
          <a:xfrm>
            <a:off x="5074920" y="2724912"/>
            <a:ext cx="6035040" cy="402336"/>
          </a:xfrm>
          <a:prstGeom prst="rect">
            <a:avLst/>
          </a:prstGeom>
          <a:noFill/>
          <a:ln/>
        </p:spPr>
        <p:txBody>
          <a:bodyPr wrap="square" lIns="0" tIns="0" rIns="0" bIns="0" rtlCol="0" anchor="ctr"/>
          <a:lstStyle/>
          <a:p>
            <a:pPr indent="0" marL="0">
              <a:buNone/>
            </a:pPr>
            <a:r>
              <a:rPr lang="en-US" sz="1350" dirty="0">
                <a:solidFill>
                  <a:srgbClr val="7A6E64"/>
                </a:solidFill>
                <a:latin typeface="Calibri" pitchFamily="34" charset="0"/>
                <a:ea typeface="Calibri" pitchFamily="34" charset="-122"/>
                <a:cs typeface="Calibri" pitchFamily="34" charset="-120"/>
              </a:rPr>
              <a:t>Automotive analyst · Cost modeller · Commuter-use specialist</a:t>
            </a:r>
            <a:endParaRPr lang="en-US" sz="1350" dirty="0"/>
          </a:p>
        </p:txBody>
      </p:sp>
      <p:sp>
        <p:nvSpPr>
          <p:cNvPr id="10" name="Shape 8"/>
          <p:cNvSpPr/>
          <p:nvPr/>
        </p:nvSpPr>
        <p:spPr>
          <a:xfrm>
            <a:off x="777240" y="3511296"/>
            <a:ext cx="10634472" cy="868680"/>
          </a:xfrm>
          <a:prstGeom prst="roundRect">
            <a:avLst>
              <a:gd name="adj" fmla="val 4211"/>
            </a:avLst>
          </a:prstGeom>
          <a:solidFill>
            <a:srgbClr val="E6DBCB"/>
          </a:solidFill>
          <a:ln/>
          <a:effectLst>
            <a:outerShdw sx="100000" sy="100000" kx="0" ky="0" algn="bl" rotWithShape="0" blurRad="152400" dist="38100" dir="5400000">
              <a:srgbClr val="000000">
                <a:alpha val="12000"/>
              </a:srgbClr>
            </a:outerShdw>
          </a:effectLst>
        </p:spPr>
      </p:sp>
      <p:sp>
        <p:nvSpPr>
          <p:cNvPr id="11" name="Text 9"/>
          <p:cNvSpPr/>
          <p:nvPr/>
        </p:nvSpPr>
        <p:spPr>
          <a:xfrm>
            <a:off x="1088136" y="3749040"/>
            <a:ext cx="3749040" cy="402336"/>
          </a:xfrm>
          <a:prstGeom prst="rect">
            <a:avLst/>
          </a:prstGeom>
          <a:noFill/>
          <a:ln/>
        </p:spPr>
        <p:txBody>
          <a:bodyPr wrap="square" lIns="0" tIns="0" rIns="0" bIns="0" rtlCol="0" anchor="ctr"/>
          <a:lstStyle/>
          <a:p>
            <a:pPr indent="0" marL="0">
              <a:buNone/>
            </a:pPr>
            <a:r>
              <a:rPr lang="en-US" sz="1500" b="1" dirty="0">
                <a:solidFill>
                  <a:srgbClr val="161210"/>
                </a:solidFill>
                <a:latin typeface="Calibri" pitchFamily="34" charset="0"/>
                <a:ea typeface="Calibri" pitchFamily="34" charset="-122"/>
                <a:cs typeface="Calibri" pitchFamily="34" charset="-120"/>
              </a:rPr>
              <a:t>Inbound B2B sales lead</a:t>
            </a:r>
            <a:endParaRPr lang="en-US" sz="1500" dirty="0"/>
          </a:p>
        </p:txBody>
      </p:sp>
      <p:sp>
        <p:nvSpPr>
          <p:cNvPr id="12" name="Text 10"/>
          <p:cNvSpPr/>
          <p:nvPr/>
        </p:nvSpPr>
        <p:spPr>
          <a:xfrm>
            <a:off x="5074920" y="3749040"/>
            <a:ext cx="6035040" cy="402336"/>
          </a:xfrm>
          <a:prstGeom prst="rect">
            <a:avLst/>
          </a:prstGeom>
          <a:noFill/>
          <a:ln/>
        </p:spPr>
        <p:txBody>
          <a:bodyPr wrap="square" lIns="0" tIns="0" rIns="0" bIns="0" rtlCol="0" anchor="ctr"/>
          <a:lstStyle/>
          <a:p>
            <a:pPr indent="0" marL="0">
              <a:buNone/>
            </a:pPr>
            <a:r>
              <a:rPr lang="en-US" sz="1350" dirty="0">
                <a:solidFill>
                  <a:srgbClr val="7A6E64"/>
                </a:solidFill>
                <a:latin typeface="Calibri" pitchFamily="34" charset="0"/>
                <a:ea typeface="Calibri" pitchFamily="34" charset="-122"/>
                <a:cs typeface="Calibri" pitchFamily="34" charset="-120"/>
              </a:rPr>
              <a:t>Sales strategist · ICP analyst · Deal-risk assessor</a:t>
            </a:r>
            <a:endParaRPr lang="en-US" sz="1350" dirty="0"/>
          </a:p>
        </p:txBody>
      </p:sp>
      <p:sp>
        <p:nvSpPr>
          <p:cNvPr id="13" name="Shape 11"/>
          <p:cNvSpPr/>
          <p:nvPr/>
        </p:nvSpPr>
        <p:spPr>
          <a:xfrm>
            <a:off x="777240" y="4535424"/>
            <a:ext cx="10634472" cy="868680"/>
          </a:xfrm>
          <a:prstGeom prst="roundRect">
            <a:avLst>
              <a:gd name="adj" fmla="val 4211"/>
            </a:avLst>
          </a:prstGeom>
          <a:solidFill>
            <a:srgbClr val="161210"/>
          </a:solidFill>
          <a:ln/>
          <a:effectLst>
            <a:outerShdw sx="100000" sy="100000" kx="0" ky="0" algn="bl" rotWithShape="0" blurRad="152400" dist="38100" dir="5400000">
              <a:srgbClr val="000000">
                <a:alpha val="12000"/>
              </a:srgbClr>
            </a:outerShdw>
          </a:effectLst>
        </p:spPr>
      </p:sp>
      <p:sp>
        <p:nvSpPr>
          <p:cNvPr id="14" name="Text 12"/>
          <p:cNvSpPr/>
          <p:nvPr/>
        </p:nvSpPr>
        <p:spPr>
          <a:xfrm>
            <a:off x="1088136" y="4773168"/>
            <a:ext cx="3749040" cy="402336"/>
          </a:xfrm>
          <a:prstGeom prst="rect">
            <a:avLst/>
          </a:prstGeom>
          <a:noFill/>
          <a:ln/>
        </p:spPr>
        <p:txBody>
          <a:bodyPr wrap="square" lIns="0" tIns="0" rIns="0" bIns="0" rtlCol="0" anchor="ctr"/>
          <a:lstStyle/>
          <a:p>
            <a:pPr indent="0" marL="0">
              <a:buNone/>
            </a:pPr>
            <a:r>
              <a:rPr lang="en-US" sz="1500" b="1" dirty="0">
                <a:solidFill>
                  <a:srgbClr val="F3ECE2"/>
                </a:solidFill>
                <a:latin typeface="Calibri" pitchFamily="34" charset="0"/>
                <a:ea typeface="Calibri" pitchFamily="34" charset="-122"/>
                <a:cs typeface="Calibri" pitchFamily="34" charset="-120"/>
              </a:rPr>
              <a:t>Diagnostic report</a:t>
            </a:r>
            <a:endParaRPr lang="en-US" sz="1500" dirty="0"/>
          </a:p>
        </p:txBody>
      </p:sp>
      <p:sp>
        <p:nvSpPr>
          <p:cNvPr id="15" name="Text 13"/>
          <p:cNvSpPr/>
          <p:nvPr/>
        </p:nvSpPr>
        <p:spPr>
          <a:xfrm>
            <a:off x="5074920" y="4773168"/>
            <a:ext cx="6035040" cy="402336"/>
          </a:xfrm>
          <a:prstGeom prst="rect">
            <a:avLst/>
          </a:prstGeom>
          <a:noFill/>
          <a:ln/>
        </p:spPr>
        <p:txBody>
          <a:bodyPr wrap="square" lIns="0" tIns="0" rIns="0" bIns="0" rtlCol="0" anchor="ctr"/>
          <a:lstStyle/>
          <a:p>
            <a:pPr indent="0" marL="0">
              <a:buNone/>
            </a:pPr>
            <a:r>
              <a:rPr lang="en-US" sz="1350" dirty="0">
                <a:solidFill>
                  <a:srgbClr val="E8A33D"/>
                </a:solidFill>
                <a:latin typeface="Calibri" pitchFamily="34" charset="0"/>
                <a:ea typeface="Calibri" pitchFamily="34" charset="-122"/>
                <a:cs typeface="Calibri" pitchFamily="34" charset="-120"/>
              </a:rPr>
              <a:t>Clinical specialists, framed from the report itself</a:t>
            </a:r>
            <a:endParaRPr lang="en-US" sz="1350" dirty="0"/>
          </a:p>
        </p:txBody>
      </p:sp>
      <p:sp>
        <p:nvSpPr>
          <p:cNvPr id="16" name="Text 14"/>
          <p:cNvSpPr/>
          <p:nvPr/>
        </p:nvSpPr>
        <p:spPr>
          <a:xfrm>
            <a:off x="777240" y="5669280"/>
            <a:ext cx="10634472" cy="365760"/>
          </a:xfrm>
          <a:prstGeom prst="rect">
            <a:avLst/>
          </a:prstGeom>
          <a:noFill/>
          <a:ln/>
        </p:spPr>
        <p:txBody>
          <a:bodyPr wrap="square" lIns="0" tIns="0" rIns="0" bIns="0" rtlCol="0" anchor="ctr"/>
          <a:lstStyle/>
          <a:p>
            <a:pPr indent="0" marL="0">
              <a:buNone/>
            </a:pPr>
            <a:r>
              <a:rPr lang="en-US" sz="1500" i="1" dirty="0">
                <a:solidFill>
                  <a:srgbClr val="7A6E64"/>
                </a:solidFill>
                <a:latin typeface="Calibri" pitchFamily="34" charset="0"/>
                <a:ea typeface="Calibri" pitchFamily="34" charset="-122"/>
                <a:cs typeface="Calibri" pitchFamily="34" charset="-120"/>
              </a:rPr>
              <a:t>Healthcare is the beachhead, not the boundary.</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210"/>
        </a:solidFill>
      </p:bgPr>
    </p:bg>
    <p:spTree>
      <p:nvGrpSpPr>
        <p:cNvPr id="1" name=""/>
        <p:cNvGrpSpPr/>
        <p:nvPr/>
      </p:nvGrpSpPr>
      <p:grpSpPr>
        <a:xfrm>
          <a:off x="0" y="0"/>
          <a:ext cx="0" cy="0"/>
          <a:chOff x="0" y="0"/>
          <a:chExt cx="0" cy="0"/>
        </a:xfrm>
      </p:grpSpPr>
      <p:sp>
        <p:nvSpPr>
          <p:cNvPr id="2" name="Text 0"/>
          <p:cNvSpPr/>
          <p:nvPr/>
        </p:nvSpPr>
        <p:spPr>
          <a:xfrm>
            <a:off x="10954512" y="6291072"/>
            <a:ext cx="548640" cy="237744"/>
          </a:xfrm>
          <a:prstGeom prst="rect">
            <a:avLst/>
          </a:prstGeom>
          <a:noFill/>
          <a:ln/>
        </p:spPr>
        <p:txBody>
          <a:bodyPr wrap="square" lIns="0" tIns="0" rIns="0" bIns="0" rtlCol="0" anchor="ctr"/>
          <a:lstStyle/>
          <a:p>
            <a:pPr algn="r" indent="0" marL="0">
              <a:buNone/>
            </a:pPr>
            <a:r>
              <a:rPr lang="en-US" sz="900" dirty="0">
                <a:solidFill>
                  <a:srgbClr val="9A8F86"/>
                </a:solidFill>
                <a:latin typeface="Courier New" pitchFamily="34" charset="0"/>
                <a:ea typeface="Courier New" pitchFamily="34" charset="-122"/>
                <a:cs typeface="Courier New" pitchFamily="34" charset="-120"/>
              </a:rPr>
              <a:t>17</a:t>
            </a:r>
            <a:endParaRPr lang="en-US" sz="900" dirty="0"/>
          </a:p>
        </p:txBody>
      </p:sp>
      <p:sp>
        <p:nvSpPr>
          <p:cNvPr id="3" name="Text 1"/>
          <p:cNvSpPr/>
          <p:nvPr/>
        </p:nvSpPr>
        <p:spPr>
          <a:xfrm>
            <a:off x="777240" y="475488"/>
            <a:ext cx="10634472" cy="237744"/>
          </a:xfrm>
          <a:prstGeom prst="rect">
            <a:avLst/>
          </a:prstGeom>
          <a:noFill/>
          <a:ln/>
        </p:spPr>
        <p:txBody>
          <a:bodyPr wrap="square" lIns="0" tIns="0" rIns="0" bIns="0" rtlCol="0" anchor="ctr"/>
          <a:lstStyle/>
          <a:p>
            <a:pPr indent="0" marL="0">
              <a:buNone/>
            </a:pPr>
            <a:r>
              <a:rPr lang="en-US" sz="950" b="1" spc="400" kern="0" dirty="0">
                <a:solidFill>
                  <a:srgbClr val="E2571F"/>
                </a:solidFill>
                <a:latin typeface="Courier New" pitchFamily="34" charset="0"/>
                <a:ea typeface="Courier New" pitchFamily="34" charset="-122"/>
                <a:cs typeface="Courier New" pitchFamily="34" charset="-120"/>
              </a:rPr>
              <a:t>WHY IT WINS</a:t>
            </a:r>
            <a:endParaRPr lang="en-US" sz="950" dirty="0"/>
          </a:p>
        </p:txBody>
      </p:sp>
      <p:sp>
        <p:nvSpPr>
          <p:cNvPr id="4" name="Text 2"/>
          <p:cNvSpPr/>
          <p:nvPr/>
        </p:nvSpPr>
        <p:spPr>
          <a:xfrm>
            <a:off x="777240" y="896112"/>
            <a:ext cx="10634472" cy="914400"/>
          </a:xfrm>
          <a:prstGeom prst="rect">
            <a:avLst/>
          </a:prstGeom>
          <a:noFill/>
          <a:ln/>
        </p:spPr>
        <p:txBody>
          <a:bodyPr wrap="square" lIns="0" tIns="0" rIns="0" bIns="0" rtlCol="0" anchor="t"/>
          <a:lstStyle/>
          <a:p>
            <a:pPr indent="0" marL="0">
              <a:buNone/>
            </a:pPr>
            <a:r>
              <a:rPr lang="en-US" sz="3400" b="1" dirty="0">
                <a:solidFill>
                  <a:srgbClr val="F3ECE2"/>
                </a:solidFill>
                <a:latin typeface="Bookman Old Style" pitchFamily="34" charset="0"/>
                <a:ea typeface="Bookman Old Style" pitchFamily="34" charset="-122"/>
                <a:cs typeface="Bookman Old Style" pitchFamily="34" charset="-120"/>
              </a:rPr>
              <a:t>Against the criteria</a:t>
            </a:r>
            <a:endParaRPr lang="en-US" sz="3400" dirty="0"/>
          </a:p>
        </p:txBody>
      </p:sp>
      <p:sp>
        <p:nvSpPr>
          <p:cNvPr id="5" name="Shape 3"/>
          <p:cNvSpPr/>
          <p:nvPr/>
        </p:nvSpPr>
        <p:spPr>
          <a:xfrm>
            <a:off x="777240" y="2194560"/>
            <a:ext cx="10634472" cy="1005840"/>
          </a:xfrm>
          <a:prstGeom prst="roundRect">
            <a:avLst>
              <a:gd name="adj" fmla="val 3636"/>
            </a:avLst>
          </a:prstGeom>
          <a:solidFill>
            <a:srgbClr val="E2571F"/>
          </a:solidFill>
          <a:ln/>
          <a:effectLst>
            <a:outerShdw sx="100000" sy="100000" kx="0" ky="0" algn="bl" rotWithShape="0" blurRad="152400" dist="38100" dir="5400000">
              <a:srgbClr val="000000">
                <a:alpha val="28000"/>
              </a:srgbClr>
            </a:outerShdw>
          </a:effectLst>
        </p:spPr>
      </p:sp>
      <p:sp>
        <p:nvSpPr>
          <p:cNvPr id="6" name="Text 4"/>
          <p:cNvSpPr/>
          <p:nvPr/>
        </p:nvSpPr>
        <p:spPr>
          <a:xfrm>
            <a:off x="1106424" y="2414016"/>
            <a:ext cx="1371600" cy="566928"/>
          </a:xfrm>
          <a:prstGeom prst="rect">
            <a:avLst/>
          </a:prstGeom>
          <a:noFill/>
          <a:ln/>
        </p:spPr>
        <p:txBody>
          <a:bodyPr wrap="square" lIns="0" tIns="0" rIns="0" bIns="0" rtlCol="0" anchor="ctr"/>
          <a:lstStyle/>
          <a:p>
            <a:pPr indent="0" marL="0">
              <a:buNone/>
            </a:pPr>
            <a:r>
              <a:rPr lang="en-US" sz="3000" b="1" dirty="0">
                <a:solidFill>
                  <a:srgbClr val="F3ECE2"/>
                </a:solidFill>
                <a:latin typeface="Bookman Old Style" pitchFamily="34" charset="0"/>
                <a:ea typeface="Bookman Old Style" pitchFamily="34" charset="-122"/>
                <a:cs typeface="Bookman Old Style" pitchFamily="34" charset="-120"/>
              </a:rPr>
              <a:t>40%</a:t>
            </a:r>
            <a:endParaRPr lang="en-US" sz="3000" dirty="0"/>
          </a:p>
        </p:txBody>
      </p:sp>
      <p:sp>
        <p:nvSpPr>
          <p:cNvPr id="7" name="Text 5"/>
          <p:cNvSpPr/>
          <p:nvPr/>
        </p:nvSpPr>
        <p:spPr>
          <a:xfrm>
            <a:off x="2697480" y="2414016"/>
            <a:ext cx="2834640" cy="566928"/>
          </a:xfrm>
          <a:prstGeom prst="rect">
            <a:avLst/>
          </a:prstGeom>
          <a:noFill/>
          <a:ln/>
        </p:spPr>
        <p:txBody>
          <a:bodyPr wrap="square" lIns="0" tIns="0" rIns="0" bIns="0" rtlCol="0" anchor="ctr"/>
          <a:lstStyle/>
          <a:p>
            <a:pPr indent="0" marL="0">
              <a:buNone/>
            </a:pPr>
            <a:r>
              <a:rPr lang="en-US" sz="1800" b="1" dirty="0">
                <a:solidFill>
                  <a:srgbClr val="F3ECE2"/>
                </a:solidFill>
                <a:latin typeface="Calibri" pitchFamily="34" charset="0"/>
                <a:ea typeface="Calibri" pitchFamily="34" charset="-122"/>
                <a:cs typeface="Calibri" pitchFamily="34" charset="-120"/>
              </a:rPr>
              <a:t>It works</a:t>
            </a:r>
            <a:endParaRPr lang="en-US" sz="1800" dirty="0"/>
          </a:p>
        </p:txBody>
      </p:sp>
      <p:sp>
        <p:nvSpPr>
          <p:cNvPr id="8" name="Text 6"/>
          <p:cNvSpPr/>
          <p:nvPr/>
        </p:nvSpPr>
        <p:spPr>
          <a:xfrm>
            <a:off x="5623560" y="2414016"/>
            <a:ext cx="5486400" cy="566928"/>
          </a:xfrm>
          <a:prstGeom prst="rect">
            <a:avLst/>
          </a:prstGeom>
          <a:noFill/>
          <a:ln/>
        </p:spPr>
        <p:txBody>
          <a:bodyPr wrap="square" lIns="0" tIns="0" rIns="0" bIns="0" rtlCol="0" anchor="ctr"/>
          <a:lstStyle/>
          <a:p>
            <a:pPr indent="0" marL="0">
              <a:buNone/>
            </a:pPr>
            <a:r>
              <a:rPr lang="en-US" sz="1350" dirty="0">
                <a:solidFill>
                  <a:srgbClr val="F6DDD0"/>
                </a:solidFill>
                <a:latin typeface="Calibri" pitchFamily="34" charset="0"/>
                <a:ea typeface="Calibri" pitchFamily="34" charset="-122"/>
                <a:cs typeface="Calibri" pitchFamily="34" charset="-120"/>
              </a:rPr>
              <a:t>Live demo, real input, end to end, about sixty seconds</a:t>
            </a:r>
            <a:endParaRPr lang="en-US" sz="1350" dirty="0"/>
          </a:p>
        </p:txBody>
      </p:sp>
      <p:sp>
        <p:nvSpPr>
          <p:cNvPr id="9" name="Shape 7"/>
          <p:cNvSpPr/>
          <p:nvPr/>
        </p:nvSpPr>
        <p:spPr>
          <a:xfrm>
            <a:off x="777240" y="3364992"/>
            <a:ext cx="10634472" cy="1005840"/>
          </a:xfrm>
          <a:prstGeom prst="roundRect">
            <a:avLst>
              <a:gd name="adj" fmla="val 3636"/>
            </a:avLst>
          </a:prstGeom>
          <a:solidFill>
            <a:srgbClr val="221C18"/>
          </a:solidFill>
          <a:ln/>
          <a:effectLst>
            <a:outerShdw sx="100000" sy="100000" kx="0" ky="0" algn="bl" rotWithShape="0" blurRad="152400" dist="38100" dir="5400000">
              <a:srgbClr val="000000">
                <a:alpha val="28000"/>
              </a:srgbClr>
            </a:outerShdw>
          </a:effectLst>
        </p:spPr>
      </p:sp>
      <p:sp>
        <p:nvSpPr>
          <p:cNvPr id="10" name="Text 8"/>
          <p:cNvSpPr/>
          <p:nvPr/>
        </p:nvSpPr>
        <p:spPr>
          <a:xfrm>
            <a:off x="1106424" y="3584448"/>
            <a:ext cx="1371600" cy="566928"/>
          </a:xfrm>
          <a:prstGeom prst="rect">
            <a:avLst/>
          </a:prstGeom>
          <a:noFill/>
          <a:ln/>
        </p:spPr>
        <p:txBody>
          <a:bodyPr wrap="square" lIns="0" tIns="0" rIns="0" bIns="0" rtlCol="0" anchor="ctr"/>
          <a:lstStyle/>
          <a:p>
            <a:pPr indent="0" marL="0">
              <a:buNone/>
            </a:pPr>
            <a:r>
              <a:rPr lang="en-US" sz="3000" b="1" dirty="0">
                <a:solidFill>
                  <a:srgbClr val="E8A33D"/>
                </a:solidFill>
                <a:latin typeface="Bookman Old Style" pitchFamily="34" charset="0"/>
                <a:ea typeface="Bookman Old Style" pitchFamily="34" charset="-122"/>
                <a:cs typeface="Bookman Old Style" pitchFamily="34" charset="-120"/>
              </a:rPr>
              <a:t>30%</a:t>
            </a:r>
            <a:endParaRPr lang="en-US" sz="3000" dirty="0"/>
          </a:p>
        </p:txBody>
      </p:sp>
      <p:sp>
        <p:nvSpPr>
          <p:cNvPr id="11" name="Text 9"/>
          <p:cNvSpPr/>
          <p:nvPr/>
        </p:nvSpPr>
        <p:spPr>
          <a:xfrm>
            <a:off x="2697480" y="3584448"/>
            <a:ext cx="2834640" cy="566928"/>
          </a:xfrm>
          <a:prstGeom prst="rect">
            <a:avLst/>
          </a:prstGeom>
          <a:noFill/>
          <a:ln/>
        </p:spPr>
        <p:txBody>
          <a:bodyPr wrap="square" lIns="0" tIns="0" rIns="0" bIns="0" rtlCol="0" anchor="ctr"/>
          <a:lstStyle/>
          <a:p>
            <a:pPr indent="0" marL="0">
              <a:buNone/>
            </a:pPr>
            <a:r>
              <a:rPr lang="en-US" sz="1800" b="1" dirty="0">
                <a:solidFill>
                  <a:srgbClr val="F3ECE2"/>
                </a:solidFill>
                <a:latin typeface="Calibri" pitchFamily="34" charset="0"/>
                <a:ea typeface="Calibri" pitchFamily="34" charset="-122"/>
                <a:cs typeface="Calibri" pitchFamily="34" charset="-120"/>
              </a:rPr>
              <a:t>Ambition</a:t>
            </a:r>
            <a:endParaRPr lang="en-US" sz="1800" dirty="0"/>
          </a:p>
        </p:txBody>
      </p:sp>
      <p:sp>
        <p:nvSpPr>
          <p:cNvPr id="12" name="Text 10"/>
          <p:cNvSpPr/>
          <p:nvPr/>
        </p:nvSpPr>
        <p:spPr>
          <a:xfrm>
            <a:off x="5623560" y="3584448"/>
            <a:ext cx="5486400" cy="566928"/>
          </a:xfrm>
          <a:prstGeom prst="rect">
            <a:avLst/>
          </a:prstGeom>
          <a:noFill/>
          <a:ln/>
        </p:spPr>
        <p:txBody>
          <a:bodyPr wrap="square" lIns="0" tIns="0" rIns="0" bIns="0" rtlCol="0" anchor="ctr"/>
          <a:lstStyle/>
          <a:p>
            <a:pPr indent="0" marL="0">
              <a:buNone/>
            </a:pPr>
            <a:r>
              <a:rPr lang="en-US" sz="1350" dirty="0">
                <a:solidFill>
                  <a:srgbClr val="9A8F86"/>
                </a:solidFill>
                <a:latin typeface="Calibri" pitchFamily="34" charset="0"/>
                <a:ea typeface="Calibri" pitchFamily="34" charset="-122"/>
                <a:cs typeface="Calibri" pitchFamily="34" charset="-120"/>
              </a:rPr>
              <a:t>Ten agents, four stacked patterns, per-role model strategy</a:t>
            </a:r>
            <a:endParaRPr lang="en-US" sz="1350" dirty="0"/>
          </a:p>
        </p:txBody>
      </p:sp>
      <p:sp>
        <p:nvSpPr>
          <p:cNvPr id="13" name="Shape 11"/>
          <p:cNvSpPr/>
          <p:nvPr/>
        </p:nvSpPr>
        <p:spPr>
          <a:xfrm>
            <a:off x="777240" y="4535424"/>
            <a:ext cx="10634472" cy="1005840"/>
          </a:xfrm>
          <a:prstGeom prst="roundRect">
            <a:avLst>
              <a:gd name="adj" fmla="val 3636"/>
            </a:avLst>
          </a:prstGeom>
          <a:solidFill>
            <a:srgbClr val="221C18"/>
          </a:solidFill>
          <a:ln/>
          <a:effectLst>
            <a:outerShdw sx="100000" sy="100000" kx="0" ky="0" algn="bl" rotWithShape="0" blurRad="152400" dist="38100" dir="5400000">
              <a:srgbClr val="000000">
                <a:alpha val="28000"/>
              </a:srgbClr>
            </a:outerShdw>
          </a:effectLst>
        </p:spPr>
      </p:sp>
      <p:sp>
        <p:nvSpPr>
          <p:cNvPr id="14" name="Text 12"/>
          <p:cNvSpPr/>
          <p:nvPr/>
        </p:nvSpPr>
        <p:spPr>
          <a:xfrm>
            <a:off x="1106424" y="4754880"/>
            <a:ext cx="1371600" cy="566928"/>
          </a:xfrm>
          <a:prstGeom prst="rect">
            <a:avLst/>
          </a:prstGeom>
          <a:noFill/>
          <a:ln/>
        </p:spPr>
        <p:txBody>
          <a:bodyPr wrap="square" lIns="0" tIns="0" rIns="0" bIns="0" rtlCol="0" anchor="ctr"/>
          <a:lstStyle/>
          <a:p>
            <a:pPr indent="0" marL="0">
              <a:buNone/>
            </a:pPr>
            <a:r>
              <a:rPr lang="en-US" sz="3000" b="1" dirty="0">
                <a:solidFill>
                  <a:srgbClr val="E8A33D"/>
                </a:solidFill>
                <a:latin typeface="Bookman Old Style" pitchFamily="34" charset="0"/>
                <a:ea typeface="Bookman Old Style" pitchFamily="34" charset="-122"/>
                <a:cs typeface="Bookman Old Style" pitchFamily="34" charset="-120"/>
              </a:rPr>
              <a:t>30%</a:t>
            </a:r>
            <a:endParaRPr lang="en-US" sz="3000" dirty="0"/>
          </a:p>
        </p:txBody>
      </p:sp>
      <p:sp>
        <p:nvSpPr>
          <p:cNvPr id="15" name="Text 13"/>
          <p:cNvSpPr/>
          <p:nvPr/>
        </p:nvSpPr>
        <p:spPr>
          <a:xfrm>
            <a:off x="2697480" y="4754880"/>
            <a:ext cx="2834640" cy="566928"/>
          </a:xfrm>
          <a:prstGeom prst="rect">
            <a:avLst/>
          </a:prstGeom>
          <a:noFill/>
          <a:ln/>
        </p:spPr>
        <p:txBody>
          <a:bodyPr wrap="square" lIns="0" tIns="0" rIns="0" bIns="0" rtlCol="0" anchor="ctr"/>
          <a:lstStyle/>
          <a:p>
            <a:pPr indent="0" marL="0">
              <a:buNone/>
            </a:pPr>
            <a:r>
              <a:rPr lang="en-US" sz="1800" b="1" dirty="0">
                <a:solidFill>
                  <a:srgbClr val="F3ECE2"/>
                </a:solidFill>
                <a:latin typeface="Calibri" pitchFamily="34" charset="0"/>
                <a:ea typeface="Calibri" pitchFamily="34" charset="-122"/>
                <a:cs typeface="Calibri" pitchFamily="34" charset="-120"/>
              </a:rPr>
              <a:t>Studio usage</a:t>
            </a:r>
            <a:endParaRPr lang="en-US" sz="1800" dirty="0"/>
          </a:p>
        </p:txBody>
      </p:sp>
      <p:sp>
        <p:nvSpPr>
          <p:cNvPr id="16" name="Text 14"/>
          <p:cNvSpPr/>
          <p:nvPr/>
        </p:nvSpPr>
        <p:spPr>
          <a:xfrm>
            <a:off x="5623560" y="4754880"/>
            <a:ext cx="5486400" cy="566928"/>
          </a:xfrm>
          <a:prstGeom prst="rect">
            <a:avLst/>
          </a:prstGeom>
          <a:noFill/>
          <a:ln/>
        </p:spPr>
        <p:txBody>
          <a:bodyPr wrap="square" lIns="0" tIns="0" rIns="0" bIns="0" rtlCol="0" anchor="ctr"/>
          <a:lstStyle/>
          <a:p>
            <a:pPr indent="0" marL="0">
              <a:buNone/>
            </a:pPr>
            <a:r>
              <a:rPr lang="en-US" sz="1350" dirty="0">
                <a:solidFill>
                  <a:srgbClr val="9A8F86"/>
                </a:solidFill>
                <a:latin typeface="Calibri" pitchFamily="34" charset="0"/>
                <a:ea typeface="Calibri" pitchFamily="34" charset="-122"/>
                <a:cs typeface="Calibri" pitchFamily="34" charset="-120"/>
              </a:rPr>
              <a:t>Full system built on the canvas and deployed</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210"/>
        </a:solidFill>
      </p:bgPr>
    </p:bg>
    <p:spTree>
      <p:nvGrpSpPr>
        <p:cNvPr id="1" name=""/>
        <p:cNvGrpSpPr/>
        <p:nvPr/>
      </p:nvGrpSpPr>
      <p:grpSpPr>
        <a:xfrm>
          <a:off x="0" y="0"/>
          <a:ext cx="0" cy="0"/>
          <a:chOff x="0" y="0"/>
          <a:chExt cx="0" cy="0"/>
        </a:xfrm>
      </p:grpSpPr>
      <p:sp>
        <p:nvSpPr>
          <p:cNvPr id="2" name="Text 0"/>
          <p:cNvSpPr/>
          <p:nvPr/>
        </p:nvSpPr>
        <p:spPr>
          <a:xfrm>
            <a:off x="10954512" y="6291072"/>
            <a:ext cx="548640" cy="237744"/>
          </a:xfrm>
          <a:prstGeom prst="rect">
            <a:avLst/>
          </a:prstGeom>
          <a:noFill/>
          <a:ln/>
        </p:spPr>
        <p:txBody>
          <a:bodyPr wrap="square" lIns="0" tIns="0" rIns="0" bIns="0" rtlCol="0" anchor="ctr"/>
          <a:lstStyle/>
          <a:p>
            <a:pPr algn="r" indent="0" marL="0">
              <a:buNone/>
            </a:pPr>
            <a:r>
              <a:rPr lang="en-US" sz="900" dirty="0">
                <a:solidFill>
                  <a:srgbClr val="9A8F86"/>
                </a:solidFill>
                <a:latin typeface="Courier New" pitchFamily="34" charset="0"/>
                <a:ea typeface="Courier New" pitchFamily="34" charset="-122"/>
                <a:cs typeface="Courier New" pitchFamily="34" charset="-120"/>
              </a:rPr>
              <a:t>18</a:t>
            </a:r>
            <a:endParaRPr lang="en-US" sz="900" dirty="0"/>
          </a:p>
        </p:txBody>
      </p:sp>
      <p:sp>
        <p:nvSpPr>
          <p:cNvPr id="3" name="Text 1"/>
          <p:cNvSpPr/>
          <p:nvPr/>
        </p:nvSpPr>
        <p:spPr>
          <a:xfrm>
            <a:off x="777240" y="475488"/>
            <a:ext cx="10634472" cy="237744"/>
          </a:xfrm>
          <a:prstGeom prst="rect">
            <a:avLst/>
          </a:prstGeom>
          <a:noFill/>
          <a:ln/>
        </p:spPr>
        <p:txBody>
          <a:bodyPr wrap="square" lIns="0" tIns="0" rIns="0" bIns="0" rtlCol="0" anchor="ctr"/>
          <a:lstStyle/>
          <a:p>
            <a:pPr indent="0" marL="0">
              <a:buNone/>
            </a:pPr>
            <a:r>
              <a:rPr lang="en-US" sz="950" b="1" spc="400" kern="0" dirty="0">
                <a:solidFill>
                  <a:srgbClr val="E2571F"/>
                </a:solidFill>
                <a:latin typeface="Courier New" pitchFamily="34" charset="0"/>
                <a:ea typeface="Courier New" pitchFamily="34" charset="-122"/>
                <a:cs typeface="Courier New" pitchFamily="34" charset="-120"/>
              </a:rPr>
              <a:t>IMPACT</a:t>
            </a:r>
            <a:endParaRPr lang="en-US" sz="950" dirty="0"/>
          </a:p>
        </p:txBody>
      </p:sp>
      <p:sp>
        <p:nvSpPr>
          <p:cNvPr id="4" name="Text 2"/>
          <p:cNvSpPr/>
          <p:nvPr/>
        </p:nvSpPr>
        <p:spPr>
          <a:xfrm>
            <a:off x="777240" y="896112"/>
            <a:ext cx="10634472" cy="914400"/>
          </a:xfrm>
          <a:prstGeom prst="rect">
            <a:avLst/>
          </a:prstGeom>
          <a:noFill/>
          <a:ln/>
        </p:spPr>
        <p:txBody>
          <a:bodyPr wrap="square" lIns="0" tIns="0" rIns="0" bIns="0" rtlCol="0" anchor="t"/>
          <a:lstStyle/>
          <a:p>
            <a:pPr indent="0" marL="0">
              <a:buNone/>
            </a:pPr>
            <a:r>
              <a:rPr lang="en-US" sz="3800" b="1" dirty="0">
                <a:solidFill>
                  <a:srgbClr val="F3ECE2"/>
                </a:solidFill>
                <a:latin typeface="Bookman Old Style" pitchFamily="34" charset="0"/>
                <a:ea typeface="Bookman Old Style" pitchFamily="34" charset="-122"/>
                <a:cs typeface="Bookman Old Style" pitchFamily="34" charset="-120"/>
              </a:rPr>
              <a:t>The missing control</a:t>
            </a:r>
            <a:endParaRPr lang="en-US" sz="3800" dirty="0"/>
          </a:p>
        </p:txBody>
      </p:sp>
      <p:sp>
        <p:nvSpPr>
          <p:cNvPr id="5" name="Text 3"/>
          <p:cNvSpPr/>
          <p:nvPr/>
        </p:nvSpPr>
        <p:spPr>
          <a:xfrm>
            <a:off x="777240" y="1965960"/>
            <a:ext cx="10332720" cy="1783080"/>
          </a:xfrm>
          <a:prstGeom prst="rect">
            <a:avLst/>
          </a:prstGeom>
          <a:noFill/>
          <a:ln/>
        </p:spPr>
        <p:txBody>
          <a:bodyPr wrap="square" lIns="0" tIns="0" rIns="0" bIns="0" rtlCol="0" anchor="ctr"/>
          <a:lstStyle/>
          <a:p>
            <a:pPr indent="0" marL="0">
              <a:lnSpc>
                <a:spcPts val="2600"/>
              </a:lnSpc>
              <a:buNone/>
            </a:pPr>
            <a:r>
              <a:rPr lang="en-US" sz="1650" dirty="0">
                <a:solidFill>
                  <a:srgbClr val="9A8F86"/>
                </a:solidFill>
                <a:latin typeface="Calibri" pitchFamily="34" charset="0"/>
                <a:ea typeface="Calibri" pitchFamily="34" charset="-122"/>
                <a:cs typeface="Calibri" pitchFamily="34" charset="-120"/>
              </a:rPr>
              <a:t>Diagnostic error causes roughly 795,000 deaths or permanent disabilities a year, and studies attribute a large share to cognitive error — reasoning that nobody challenged.</a:t>
            </a:r>
            <a:endParaRPr lang="en-US" sz="1650" dirty="0"/>
          </a:p>
          <a:p>
            <a:pPr indent="0" marL="0">
              <a:lnSpc>
                <a:spcPts val="2600"/>
              </a:lnSpc>
              <a:buNone/>
            </a:pPr>
            <a:endParaRPr lang="en-US" sz="1650" dirty="0"/>
          </a:p>
          <a:p>
            <a:pPr indent="0" marL="0">
              <a:lnSpc>
                <a:spcPts val="2600"/>
              </a:lnSpc>
              <a:buNone/>
            </a:pPr>
            <a:r>
              <a:rPr lang="en-US" sz="1650" dirty="0">
                <a:solidFill>
                  <a:srgbClr val="9A8F86"/>
                </a:solidFill>
                <a:latin typeface="Calibri" pitchFamily="34" charset="0"/>
                <a:ea typeface="Calibri" pitchFamily="34" charset="-122"/>
                <a:cs typeface="Calibri" pitchFamily="34" charset="-120"/>
              </a:rPr>
              <a:t>An automatic adversarial review layer on every AI-assisted read is the control the FDA's guidance already assumes exists.</a:t>
            </a:r>
            <a:endParaRPr lang="en-US" sz="1650" dirty="0"/>
          </a:p>
        </p:txBody>
      </p:sp>
      <p:sp>
        <p:nvSpPr>
          <p:cNvPr id="6" name="Shape 4"/>
          <p:cNvSpPr/>
          <p:nvPr/>
        </p:nvSpPr>
        <p:spPr>
          <a:xfrm>
            <a:off x="777240" y="4114800"/>
            <a:ext cx="2834640" cy="1097280"/>
          </a:xfrm>
          <a:prstGeom prst="roundRect">
            <a:avLst>
              <a:gd name="adj" fmla="val 3333"/>
            </a:avLst>
          </a:prstGeom>
          <a:solidFill>
            <a:srgbClr val="E2571F"/>
          </a:solidFill>
          <a:ln/>
          <a:effectLst>
            <a:outerShdw sx="100000" sy="100000" kx="0" ky="0" algn="bl" rotWithShape="0" blurRad="152400" dist="38100" dir="5400000">
              <a:srgbClr val="000000">
                <a:alpha val="28000"/>
              </a:srgbClr>
            </a:outerShdw>
          </a:effectLst>
        </p:spPr>
      </p:sp>
      <p:sp>
        <p:nvSpPr>
          <p:cNvPr id="7" name="Text 5"/>
          <p:cNvSpPr/>
          <p:nvPr/>
        </p:nvSpPr>
        <p:spPr>
          <a:xfrm>
            <a:off x="1051560" y="4114800"/>
            <a:ext cx="2377440" cy="1097280"/>
          </a:xfrm>
          <a:prstGeom prst="rect">
            <a:avLst/>
          </a:prstGeom>
          <a:noFill/>
          <a:ln/>
        </p:spPr>
        <p:txBody>
          <a:bodyPr wrap="square" lIns="0" tIns="0" rIns="0" bIns="0" rtlCol="0" anchor="ctr"/>
          <a:lstStyle/>
          <a:p>
            <a:pPr indent="0" marL="0">
              <a:lnSpc>
                <a:spcPts val="2000"/>
              </a:lnSpc>
              <a:buNone/>
            </a:pPr>
            <a:r>
              <a:rPr lang="en-US" sz="1400" b="1" dirty="0">
                <a:solidFill>
                  <a:srgbClr val="F3ECE2"/>
                </a:solidFill>
                <a:latin typeface="Calibri" pitchFamily="34" charset="0"/>
                <a:ea typeface="Calibri" pitchFamily="34" charset="-122"/>
                <a:cs typeface="Calibri" pitchFamily="34" charset="-120"/>
              </a:rPr>
              <a:t>HEALTHCARE</a:t>
            </a:r>
            <a:endParaRPr lang="en-US" sz="1400" dirty="0"/>
          </a:p>
          <a:p>
            <a:pPr indent="0" marL="0">
              <a:lnSpc>
                <a:spcPts val="2000"/>
              </a:lnSpc>
              <a:buNone/>
            </a:pPr>
            <a:r>
              <a:rPr lang="en-US" sz="1400" b="1" dirty="0">
                <a:solidFill>
                  <a:srgbClr val="F3ECE2"/>
                </a:solidFill>
                <a:latin typeface="Calibri" pitchFamily="34" charset="0"/>
                <a:ea typeface="Calibri" pitchFamily="34" charset="-122"/>
                <a:cs typeface="Calibri" pitchFamily="34" charset="-120"/>
              </a:rPr>
              <a:t>beachhead</a:t>
            </a:r>
            <a:endParaRPr lang="en-US" sz="1400" dirty="0"/>
          </a:p>
        </p:txBody>
      </p:sp>
      <p:sp>
        <p:nvSpPr>
          <p:cNvPr id="8" name="Shape 6"/>
          <p:cNvSpPr/>
          <p:nvPr/>
        </p:nvSpPr>
        <p:spPr>
          <a:xfrm>
            <a:off x="3977640" y="4114800"/>
            <a:ext cx="1755648" cy="1097280"/>
          </a:xfrm>
          <a:prstGeom prst="roundRect">
            <a:avLst>
              <a:gd name="adj" fmla="val 3333"/>
            </a:avLst>
          </a:prstGeom>
          <a:solidFill>
            <a:srgbClr val="221C18"/>
          </a:solidFill>
          <a:ln/>
        </p:spPr>
      </p:sp>
      <p:sp>
        <p:nvSpPr>
          <p:cNvPr id="9" name="Text 7"/>
          <p:cNvSpPr/>
          <p:nvPr/>
        </p:nvSpPr>
        <p:spPr>
          <a:xfrm>
            <a:off x="3977640" y="4114800"/>
            <a:ext cx="1755648" cy="1097280"/>
          </a:xfrm>
          <a:prstGeom prst="rect">
            <a:avLst/>
          </a:prstGeom>
          <a:noFill/>
          <a:ln/>
        </p:spPr>
        <p:txBody>
          <a:bodyPr wrap="square" lIns="0" tIns="0" rIns="0" bIns="0" rtlCol="0" anchor="ctr"/>
          <a:lstStyle/>
          <a:p>
            <a:pPr algn="ctr" indent="0" marL="0">
              <a:buNone/>
            </a:pPr>
            <a:r>
              <a:rPr lang="en-US" sz="1400" dirty="0">
                <a:solidFill>
                  <a:srgbClr val="9A8F86"/>
                </a:solidFill>
                <a:latin typeface="Calibri" pitchFamily="34" charset="0"/>
                <a:ea typeface="Calibri" pitchFamily="34" charset="-122"/>
                <a:cs typeface="Calibri" pitchFamily="34" charset="-120"/>
              </a:rPr>
              <a:t>Law</a:t>
            </a:r>
            <a:endParaRPr lang="en-US" sz="1400" dirty="0"/>
          </a:p>
        </p:txBody>
      </p:sp>
      <p:sp>
        <p:nvSpPr>
          <p:cNvPr id="10" name="Shape 8"/>
          <p:cNvSpPr/>
          <p:nvPr/>
        </p:nvSpPr>
        <p:spPr>
          <a:xfrm>
            <a:off x="5907024" y="4114800"/>
            <a:ext cx="1755648" cy="1097280"/>
          </a:xfrm>
          <a:prstGeom prst="roundRect">
            <a:avLst>
              <a:gd name="adj" fmla="val 3333"/>
            </a:avLst>
          </a:prstGeom>
          <a:solidFill>
            <a:srgbClr val="221C18"/>
          </a:solidFill>
          <a:ln/>
        </p:spPr>
      </p:sp>
      <p:sp>
        <p:nvSpPr>
          <p:cNvPr id="11" name="Text 9"/>
          <p:cNvSpPr/>
          <p:nvPr/>
        </p:nvSpPr>
        <p:spPr>
          <a:xfrm>
            <a:off x="5907024" y="4114800"/>
            <a:ext cx="1755648" cy="1097280"/>
          </a:xfrm>
          <a:prstGeom prst="rect">
            <a:avLst/>
          </a:prstGeom>
          <a:noFill/>
          <a:ln/>
        </p:spPr>
        <p:txBody>
          <a:bodyPr wrap="square" lIns="0" tIns="0" rIns="0" bIns="0" rtlCol="0" anchor="ctr"/>
          <a:lstStyle/>
          <a:p>
            <a:pPr algn="ctr" indent="0" marL="0">
              <a:buNone/>
            </a:pPr>
            <a:r>
              <a:rPr lang="en-US" sz="1400" dirty="0">
                <a:solidFill>
                  <a:srgbClr val="9A8F86"/>
                </a:solidFill>
                <a:latin typeface="Calibri" pitchFamily="34" charset="0"/>
                <a:ea typeface="Calibri" pitchFamily="34" charset="-122"/>
                <a:cs typeface="Calibri" pitchFamily="34" charset="-120"/>
              </a:rPr>
              <a:t>Finance</a:t>
            </a:r>
            <a:endParaRPr lang="en-US" sz="1400" dirty="0"/>
          </a:p>
        </p:txBody>
      </p:sp>
      <p:sp>
        <p:nvSpPr>
          <p:cNvPr id="12" name="Shape 10"/>
          <p:cNvSpPr/>
          <p:nvPr/>
        </p:nvSpPr>
        <p:spPr>
          <a:xfrm>
            <a:off x="7836408" y="4114800"/>
            <a:ext cx="1755648" cy="1097280"/>
          </a:xfrm>
          <a:prstGeom prst="roundRect">
            <a:avLst>
              <a:gd name="adj" fmla="val 3333"/>
            </a:avLst>
          </a:prstGeom>
          <a:solidFill>
            <a:srgbClr val="221C18"/>
          </a:solidFill>
          <a:ln/>
        </p:spPr>
      </p:sp>
      <p:sp>
        <p:nvSpPr>
          <p:cNvPr id="13" name="Text 11"/>
          <p:cNvSpPr/>
          <p:nvPr/>
        </p:nvSpPr>
        <p:spPr>
          <a:xfrm>
            <a:off x="7836408" y="4114800"/>
            <a:ext cx="1755648" cy="1097280"/>
          </a:xfrm>
          <a:prstGeom prst="rect">
            <a:avLst/>
          </a:prstGeom>
          <a:noFill/>
          <a:ln/>
        </p:spPr>
        <p:txBody>
          <a:bodyPr wrap="square" lIns="0" tIns="0" rIns="0" bIns="0" rtlCol="0" anchor="ctr"/>
          <a:lstStyle/>
          <a:p>
            <a:pPr algn="ctr" indent="0" marL="0">
              <a:buNone/>
            </a:pPr>
            <a:r>
              <a:rPr lang="en-US" sz="1400" dirty="0">
                <a:solidFill>
                  <a:srgbClr val="9A8F86"/>
                </a:solidFill>
                <a:latin typeface="Calibri" pitchFamily="34" charset="0"/>
                <a:ea typeface="Calibri" pitchFamily="34" charset="-122"/>
                <a:cs typeface="Calibri" pitchFamily="34" charset="-120"/>
              </a:rPr>
              <a:t>Insurance</a:t>
            </a:r>
            <a:endParaRPr lang="en-US" sz="1400" dirty="0"/>
          </a:p>
        </p:txBody>
      </p:sp>
      <p:sp>
        <p:nvSpPr>
          <p:cNvPr id="14" name="Shape 12"/>
          <p:cNvSpPr/>
          <p:nvPr/>
        </p:nvSpPr>
        <p:spPr>
          <a:xfrm>
            <a:off x="9765792" y="4114800"/>
            <a:ext cx="1755648" cy="1097280"/>
          </a:xfrm>
          <a:prstGeom prst="roundRect">
            <a:avLst>
              <a:gd name="adj" fmla="val 3333"/>
            </a:avLst>
          </a:prstGeom>
          <a:solidFill>
            <a:srgbClr val="221C18"/>
          </a:solidFill>
          <a:ln/>
        </p:spPr>
      </p:sp>
      <p:sp>
        <p:nvSpPr>
          <p:cNvPr id="15" name="Text 13"/>
          <p:cNvSpPr/>
          <p:nvPr/>
        </p:nvSpPr>
        <p:spPr>
          <a:xfrm>
            <a:off x="9765792" y="4114800"/>
            <a:ext cx="1755648" cy="1097280"/>
          </a:xfrm>
          <a:prstGeom prst="rect">
            <a:avLst/>
          </a:prstGeom>
          <a:noFill/>
          <a:ln/>
        </p:spPr>
        <p:txBody>
          <a:bodyPr wrap="square" lIns="0" tIns="0" rIns="0" bIns="0" rtlCol="0" anchor="ctr"/>
          <a:lstStyle/>
          <a:p>
            <a:pPr algn="ctr" indent="0" marL="0">
              <a:buNone/>
            </a:pPr>
            <a:r>
              <a:rPr lang="en-US" sz="1400" dirty="0">
                <a:solidFill>
                  <a:srgbClr val="9A8F86"/>
                </a:solidFill>
                <a:latin typeface="Calibri" pitchFamily="34" charset="0"/>
                <a:ea typeface="Calibri" pitchFamily="34" charset="-122"/>
                <a:cs typeface="Calibri" pitchFamily="34" charset="-120"/>
              </a:rPr>
              <a:t>Defense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ECE2"/>
        </a:solidFill>
      </p:bgPr>
    </p:bg>
    <p:spTree>
      <p:nvGrpSpPr>
        <p:cNvPr id="1" name=""/>
        <p:cNvGrpSpPr/>
        <p:nvPr/>
      </p:nvGrpSpPr>
      <p:grpSpPr>
        <a:xfrm>
          <a:off x="0" y="0"/>
          <a:ext cx="0" cy="0"/>
          <a:chOff x="0" y="0"/>
          <a:chExt cx="0" cy="0"/>
        </a:xfrm>
      </p:grpSpPr>
      <p:sp>
        <p:nvSpPr>
          <p:cNvPr id="2" name="Text 0"/>
          <p:cNvSpPr/>
          <p:nvPr/>
        </p:nvSpPr>
        <p:spPr>
          <a:xfrm>
            <a:off x="10954512" y="6291072"/>
            <a:ext cx="548640" cy="237744"/>
          </a:xfrm>
          <a:prstGeom prst="rect">
            <a:avLst/>
          </a:prstGeom>
          <a:noFill/>
          <a:ln/>
        </p:spPr>
        <p:txBody>
          <a:bodyPr wrap="square" lIns="0" tIns="0" rIns="0" bIns="0" rtlCol="0" anchor="ctr"/>
          <a:lstStyle/>
          <a:p>
            <a:pPr algn="r" indent="0" marL="0">
              <a:buNone/>
            </a:pPr>
            <a:r>
              <a:rPr lang="en-US" sz="900" dirty="0">
                <a:solidFill>
                  <a:srgbClr val="7A6E64"/>
                </a:solidFill>
                <a:latin typeface="Courier New" pitchFamily="34" charset="0"/>
                <a:ea typeface="Courier New" pitchFamily="34" charset="-122"/>
                <a:cs typeface="Courier New" pitchFamily="34" charset="-120"/>
              </a:rPr>
              <a:t>19</a:t>
            </a:r>
            <a:endParaRPr lang="en-US" sz="900" dirty="0"/>
          </a:p>
        </p:txBody>
      </p:sp>
      <p:sp>
        <p:nvSpPr>
          <p:cNvPr id="3" name="Text 1"/>
          <p:cNvSpPr/>
          <p:nvPr/>
        </p:nvSpPr>
        <p:spPr>
          <a:xfrm>
            <a:off x="777240" y="475488"/>
            <a:ext cx="10634472" cy="237744"/>
          </a:xfrm>
          <a:prstGeom prst="rect">
            <a:avLst/>
          </a:prstGeom>
          <a:noFill/>
          <a:ln/>
        </p:spPr>
        <p:txBody>
          <a:bodyPr wrap="square" lIns="0" tIns="0" rIns="0" bIns="0" rtlCol="0" anchor="ctr"/>
          <a:lstStyle/>
          <a:p>
            <a:pPr indent="0" marL="0">
              <a:buNone/>
            </a:pPr>
            <a:r>
              <a:rPr lang="en-US" sz="950" b="1" spc="400" kern="0" dirty="0">
                <a:solidFill>
                  <a:srgbClr val="E2571F"/>
                </a:solidFill>
                <a:latin typeface="Courier New" pitchFamily="34" charset="0"/>
                <a:ea typeface="Courier New" pitchFamily="34" charset="-122"/>
                <a:cs typeface="Courier New" pitchFamily="34" charset="-120"/>
              </a:rPr>
              <a:t>WHAT'S NEXT</a:t>
            </a:r>
            <a:endParaRPr lang="en-US" sz="950" dirty="0"/>
          </a:p>
        </p:txBody>
      </p:sp>
      <p:sp>
        <p:nvSpPr>
          <p:cNvPr id="4" name="Text 2"/>
          <p:cNvSpPr/>
          <p:nvPr/>
        </p:nvSpPr>
        <p:spPr>
          <a:xfrm>
            <a:off x="777240" y="896112"/>
            <a:ext cx="10634472" cy="914400"/>
          </a:xfrm>
          <a:prstGeom prst="rect">
            <a:avLst/>
          </a:prstGeom>
          <a:noFill/>
          <a:ln/>
        </p:spPr>
        <p:txBody>
          <a:bodyPr wrap="square" lIns="0" tIns="0" rIns="0" bIns="0" rtlCol="0" anchor="t"/>
          <a:lstStyle/>
          <a:p>
            <a:pPr indent="0" marL="0">
              <a:buNone/>
            </a:pPr>
            <a:r>
              <a:rPr lang="en-US" sz="3600" b="1" dirty="0">
                <a:solidFill>
                  <a:srgbClr val="161210"/>
                </a:solidFill>
                <a:latin typeface="Bookman Old Style" pitchFamily="34" charset="0"/>
                <a:ea typeface="Bookman Old Style" pitchFamily="34" charset="-122"/>
                <a:cs typeface="Bookman Old Style" pitchFamily="34" charset="-120"/>
              </a:rPr>
              <a:t>From pattern to proof</a:t>
            </a:r>
            <a:endParaRPr lang="en-US" sz="3600" dirty="0"/>
          </a:p>
        </p:txBody>
      </p:sp>
      <p:sp>
        <p:nvSpPr>
          <p:cNvPr id="5" name="Shape 3"/>
          <p:cNvSpPr/>
          <p:nvPr/>
        </p:nvSpPr>
        <p:spPr>
          <a:xfrm>
            <a:off x="777240" y="2194560"/>
            <a:ext cx="5120640" cy="1188720"/>
          </a:xfrm>
          <a:prstGeom prst="roundRect">
            <a:avLst>
              <a:gd name="adj" fmla="val 3077"/>
            </a:avLst>
          </a:prstGeom>
          <a:solidFill>
            <a:srgbClr val="E6DBCB"/>
          </a:solidFill>
          <a:ln/>
          <a:effectLst>
            <a:outerShdw sx="100000" sy="100000" kx="0" ky="0" algn="bl" rotWithShape="0" blurRad="152400" dist="38100" dir="5400000">
              <a:srgbClr val="000000">
                <a:alpha val="13000"/>
              </a:srgbClr>
            </a:outerShdw>
          </a:effectLst>
        </p:spPr>
      </p:sp>
      <p:sp>
        <p:nvSpPr>
          <p:cNvPr id="6" name="Text 4"/>
          <p:cNvSpPr/>
          <p:nvPr/>
        </p:nvSpPr>
        <p:spPr>
          <a:xfrm>
            <a:off x="1069848" y="2377440"/>
            <a:ext cx="4535424" cy="365760"/>
          </a:xfrm>
          <a:prstGeom prst="rect">
            <a:avLst/>
          </a:prstGeom>
          <a:noFill/>
          <a:ln/>
        </p:spPr>
        <p:txBody>
          <a:bodyPr wrap="square" lIns="0" tIns="0" rIns="0" bIns="0" rtlCol="0" anchor="ctr"/>
          <a:lstStyle/>
          <a:p>
            <a:pPr indent="0" marL="0">
              <a:buNone/>
            </a:pPr>
            <a:r>
              <a:rPr lang="en-US" sz="1650" b="1" dirty="0">
                <a:solidFill>
                  <a:srgbClr val="161210"/>
                </a:solidFill>
                <a:latin typeface="Calibri" pitchFamily="34" charset="0"/>
                <a:ea typeface="Calibri" pitchFamily="34" charset="-122"/>
                <a:cs typeface="Calibri" pitchFamily="34" charset="-120"/>
              </a:rPr>
              <a:t>Clinical pilot</a:t>
            </a:r>
            <a:endParaRPr lang="en-US" sz="1650" dirty="0"/>
          </a:p>
        </p:txBody>
      </p:sp>
      <p:sp>
        <p:nvSpPr>
          <p:cNvPr id="7" name="Text 5"/>
          <p:cNvSpPr/>
          <p:nvPr/>
        </p:nvSpPr>
        <p:spPr>
          <a:xfrm>
            <a:off x="1069848" y="2779776"/>
            <a:ext cx="4535424" cy="438912"/>
          </a:xfrm>
          <a:prstGeom prst="rect">
            <a:avLst/>
          </a:prstGeom>
          <a:noFill/>
          <a:ln/>
        </p:spPr>
        <p:txBody>
          <a:bodyPr wrap="square" lIns="0" tIns="0" rIns="0" bIns="0" rtlCol="0" anchor="ctr"/>
          <a:lstStyle/>
          <a:p>
            <a:pPr indent="0" marL="0">
              <a:lnSpc>
                <a:spcPts val="1900"/>
              </a:lnSpc>
              <a:buNone/>
            </a:pPr>
            <a:r>
              <a:rPr lang="en-US" sz="1300" dirty="0">
                <a:solidFill>
                  <a:srgbClr val="7A6E64"/>
                </a:solidFill>
                <a:latin typeface="Calibri" pitchFamily="34" charset="0"/>
                <a:ea typeface="Calibri" pitchFamily="34" charset="-122"/>
                <a:cs typeface="Calibri" pitchFamily="34" charset="-120"/>
              </a:rPr>
              <a:t>Retrospective cases measured against known outcomes</a:t>
            </a:r>
            <a:endParaRPr lang="en-US" sz="1300" dirty="0"/>
          </a:p>
        </p:txBody>
      </p:sp>
      <p:sp>
        <p:nvSpPr>
          <p:cNvPr id="8" name="Shape 6"/>
          <p:cNvSpPr/>
          <p:nvPr/>
        </p:nvSpPr>
        <p:spPr>
          <a:xfrm>
            <a:off x="6291072" y="2194560"/>
            <a:ext cx="5120640" cy="1188720"/>
          </a:xfrm>
          <a:prstGeom prst="roundRect">
            <a:avLst>
              <a:gd name="adj" fmla="val 3077"/>
            </a:avLst>
          </a:prstGeom>
          <a:solidFill>
            <a:srgbClr val="E6DBCB"/>
          </a:solidFill>
          <a:ln/>
          <a:effectLst>
            <a:outerShdw sx="100000" sy="100000" kx="0" ky="0" algn="bl" rotWithShape="0" blurRad="152400" dist="38100" dir="5400000">
              <a:srgbClr val="000000">
                <a:alpha val="13000"/>
              </a:srgbClr>
            </a:outerShdw>
          </a:effectLst>
        </p:spPr>
      </p:sp>
      <p:sp>
        <p:nvSpPr>
          <p:cNvPr id="9" name="Text 7"/>
          <p:cNvSpPr/>
          <p:nvPr/>
        </p:nvSpPr>
        <p:spPr>
          <a:xfrm>
            <a:off x="6583680" y="2377440"/>
            <a:ext cx="4535424" cy="365760"/>
          </a:xfrm>
          <a:prstGeom prst="rect">
            <a:avLst/>
          </a:prstGeom>
          <a:noFill/>
          <a:ln/>
        </p:spPr>
        <p:txBody>
          <a:bodyPr wrap="square" lIns="0" tIns="0" rIns="0" bIns="0" rtlCol="0" anchor="ctr"/>
          <a:lstStyle/>
          <a:p>
            <a:pPr indent="0" marL="0">
              <a:buNone/>
            </a:pPr>
            <a:r>
              <a:rPr lang="en-US" sz="1650" b="1" dirty="0">
                <a:solidFill>
                  <a:srgbClr val="161210"/>
                </a:solidFill>
                <a:latin typeface="Calibri" pitchFamily="34" charset="0"/>
                <a:ea typeface="Calibri" pitchFamily="34" charset="-122"/>
                <a:cs typeface="Calibri" pitchFamily="34" charset="-120"/>
              </a:rPr>
              <a:t>FHIR / EHR integration</a:t>
            </a:r>
            <a:endParaRPr lang="en-US" sz="1650" dirty="0"/>
          </a:p>
        </p:txBody>
      </p:sp>
      <p:sp>
        <p:nvSpPr>
          <p:cNvPr id="10" name="Text 8"/>
          <p:cNvSpPr/>
          <p:nvPr/>
        </p:nvSpPr>
        <p:spPr>
          <a:xfrm>
            <a:off x="6583680" y="2779776"/>
            <a:ext cx="4535424" cy="438912"/>
          </a:xfrm>
          <a:prstGeom prst="rect">
            <a:avLst/>
          </a:prstGeom>
          <a:noFill/>
          <a:ln/>
        </p:spPr>
        <p:txBody>
          <a:bodyPr wrap="square" lIns="0" tIns="0" rIns="0" bIns="0" rtlCol="0" anchor="ctr"/>
          <a:lstStyle/>
          <a:p>
            <a:pPr indent="0" marL="0">
              <a:lnSpc>
                <a:spcPts val="1900"/>
              </a:lnSpc>
              <a:buNone/>
            </a:pPr>
            <a:r>
              <a:rPr lang="en-US" sz="1300" dirty="0">
                <a:solidFill>
                  <a:srgbClr val="7A6E64"/>
                </a:solidFill>
                <a:latin typeface="Calibri" pitchFamily="34" charset="0"/>
                <a:ea typeface="Calibri" pitchFamily="34" charset="-122"/>
                <a:cs typeface="Calibri" pitchFamily="34" charset="-120"/>
              </a:rPr>
              <a:t>Reports flow in automatically — no copy and paste</a:t>
            </a:r>
            <a:endParaRPr lang="en-US" sz="1300" dirty="0"/>
          </a:p>
        </p:txBody>
      </p:sp>
      <p:sp>
        <p:nvSpPr>
          <p:cNvPr id="11" name="Shape 9"/>
          <p:cNvSpPr/>
          <p:nvPr/>
        </p:nvSpPr>
        <p:spPr>
          <a:xfrm>
            <a:off x="777240" y="3694176"/>
            <a:ext cx="5120640" cy="1188720"/>
          </a:xfrm>
          <a:prstGeom prst="roundRect">
            <a:avLst>
              <a:gd name="adj" fmla="val 3077"/>
            </a:avLst>
          </a:prstGeom>
          <a:solidFill>
            <a:srgbClr val="E8A33D"/>
          </a:solidFill>
          <a:ln/>
          <a:effectLst>
            <a:outerShdw sx="100000" sy="100000" kx="0" ky="0" algn="bl" rotWithShape="0" blurRad="152400" dist="38100" dir="5400000">
              <a:srgbClr val="000000">
                <a:alpha val="13000"/>
              </a:srgbClr>
            </a:outerShdw>
          </a:effectLst>
        </p:spPr>
      </p:sp>
      <p:sp>
        <p:nvSpPr>
          <p:cNvPr id="12" name="Text 10"/>
          <p:cNvSpPr/>
          <p:nvPr/>
        </p:nvSpPr>
        <p:spPr>
          <a:xfrm>
            <a:off x="1069848" y="3877056"/>
            <a:ext cx="4535424" cy="365760"/>
          </a:xfrm>
          <a:prstGeom prst="rect">
            <a:avLst/>
          </a:prstGeom>
          <a:noFill/>
          <a:ln/>
        </p:spPr>
        <p:txBody>
          <a:bodyPr wrap="square" lIns="0" tIns="0" rIns="0" bIns="0" rtlCol="0" anchor="ctr"/>
          <a:lstStyle/>
          <a:p>
            <a:pPr indent="0" marL="0">
              <a:buNone/>
            </a:pPr>
            <a:r>
              <a:rPr lang="en-US" sz="1650" b="1" dirty="0">
                <a:solidFill>
                  <a:srgbClr val="161210"/>
                </a:solidFill>
                <a:latin typeface="Calibri" pitchFamily="34" charset="0"/>
                <a:ea typeface="Calibri" pitchFamily="34" charset="-122"/>
                <a:cs typeface="Calibri" pitchFamily="34" charset="-120"/>
              </a:rPr>
              <a:t>Calibration study</a:t>
            </a:r>
            <a:endParaRPr lang="en-US" sz="1650" dirty="0"/>
          </a:p>
        </p:txBody>
      </p:sp>
      <p:sp>
        <p:nvSpPr>
          <p:cNvPr id="13" name="Text 11"/>
          <p:cNvSpPr/>
          <p:nvPr/>
        </p:nvSpPr>
        <p:spPr>
          <a:xfrm>
            <a:off x="1069848" y="4279392"/>
            <a:ext cx="4535424" cy="438912"/>
          </a:xfrm>
          <a:prstGeom prst="rect">
            <a:avLst/>
          </a:prstGeom>
          <a:noFill/>
          <a:ln/>
        </p:spPr>
        <p:txBody>
          <a:bodyPr wrap="square" lIns="0" tIns="0" rIns="0" bIns="0" rtlCol="0" anchor="ctr"/>
          <a:lstStyle/>
          <a:p>
            <a:pPr indent="0" marL="0">
              <a:lnSpc>
                <a:spcPts val="1900"/>
              </a:lnSpc>
              <a:buNone/>
            </a:pPr>
            <a:r>
              <a:rPr lang="en-US" sz="1300" dirty="0">
                <a:solidFill>
                  <a:srgbClr val="6B5525"/>
                </a:solidFill>
                <a:latin typeface="Calibri" pitchFamily="34" charset="0"/>
                <a:ea typeface="Calibri" pitchFamily="34" charset="-122"/>
                <a:cs typeface="Calibri" pitchFamily="34" charset="-120"/>
              </a:rPr>
              <a:t>Does the trust score actually track correctness?</a:t>
            </a:r>
            <a:endParaRPr lang="en-US" sz="1300" dirty="0"/>
          </a:p>
        </p:txBody>
      </p:sp>
      <p:sp>
        <p:nvSpPr>
          <p:cNvPr id="14" name="Shape 12"/>
          <p:cNvSpPr/>
          <p:nvPr/>
        </p:nvSpPr>
        <p:spPr>
          <a:xfrm>
            <a:off x="6291072" y="3694176"/>
            <a:ext cx="5120640" cy="1188720"/>
          </a:xfrm>
          <a:prstGeom prst="roundRect">
            <a:avLst>
              <a:gd name="adj" fmla="val 3077"/>
            </a:avLst>
          </a:prstGeom>
          <a:solidFill>
            <a:srgbClr val="E6DBCB"/>
          </a:solidFill>
          <a:ln/>
          <a:effectLst>
            <a:outerShdw sx="100000" sy="100000" kx="0" ky="0" algn="bl" rotWithShape="0" blurRad="152400" dist="38100" dir="5400000">
              <a:srgbClr val="000000">
                <a:alpha val="13000"/>
              </a:srgbClr>
            </a:outerShdw>
          </a:effectLst>
        </p:spPr>
      </p:sp>
      <p:sp>
        <p:nvSpPr>
          <p:cNvPr id="15" name="Text 13"/>
          <p:cNvSpPr/>
          <p:nvPr/>
        </p:nvSpPr>
        <p:spPr>
          <a:xfrm>
            <a:off x="6583680" y="3877056"/>
            <a:ext cx="4535424" cy="365760"/>
          </a:xfrm>
          <a:prstGeom prst="rect">
            <a:avLst/>
          </a:prstGeom>
          <a:noFill/>
          <a:ln/>
        </p:spPr>
        <p:txBody>
          <a:bodyPr wrap="square" lIns="0" tIns="0" rIns="0" bIns="0" rtlCol="0" anchor="ctr"/>
          <a:lstStyle/>
          <a:p>
            <a:pPr indent="0" marL="0">
              <a:buNone/>
            </a:pPr>
            <a:r>
              <a:rPr lang="en-US" sz="1650" b="1" dirty="0">
                <a:solidFill>
                  <a:srgbClr val="161210"/>
                </a:solidFill>
                <a:latin typeface="Calibri" pitchFamily="34" charset="0"/>
                <a:ea typeface="Calibri" pitchFamily="34" charset="-122"/>
                <a:cs typeface="Calibri" pitchFamily="34" charset="-120"/>
              </a:rPr>
              <a:t>Other domains</a:t>
            </a:r>
            <a:endParaRPr lang="en-US" sz="1650" dirty="0"/>
          </a:p>
        </p:txBody>
      </p:sp>
      <p:sp>
        <p:nvSpPr>
          <p:cNvPr id="16" name="Text 14"/>
          <p:cNvSpPr/>
          <p:nvPr/>
        </p:nvSpPr>
        <p:spPr>
          <a:xfrm>
            <a:off x="6583680" y="4279392"/>
            <a:ext cx="4535424" cy="438912"/>
          </a:xfrm>
          <a:prstGeom prst="rect">
            <a:avLst/>
          </a:prstGeom>
          <a:noFill/>
          <a:ln/>
        </p:spPr>
        <p:txBody>
          <a:bodyPr wrap="square" lIns="0" tIns="0" rIns="0" bIns="0" rtlCol="0" anchor="ctr"/>
          <a:lstStyle/>
          <a:p>
            <a:pPr indent="0" marL="0">
              <a:lnSpc>
                <a:spcPts val="1900"/>
              </a:lnSpc>
              <a:buNone/>
            </a:pPr>
            <a:r>
              <a:rPr lang="en-US" sz="1300" dirty="0">
                <a:solidFill>
                  <a:srgbClr val="7A6E64"/>
                </a:solidFill>
                <a:latin typeface="Calibri" pitchFamily="34" charset="0"/>
                <a:ea typeface="Calibri" pitchFamily="34" charset="-122"/>
                <a:cs typeface="Calibri" pitchFamily="34" charset="-120"/>
              </a:rPr>
              <a:t>The same review layer for law, finance, insurance</a:t>
            </a:r>
            <a:endParaRPr lang="en-US" sz="1300" dirty="0"/>
          </a:p>
        </p:txBody>
      </p:sp>
      <p:sp>
        <p:nvSpPr>
          <p:cNvPr id="17" name="Text 15"/>
          <p:cNvSpPr/>
          <p:nvPr/>
        </p:nvSpPr>
        <p:spPr>
          <a:xfrm>
            <a:off x="777240" y="5577840"/>
            <a:ext cx="10634472" cy="365760"/>
          </a:xfrm>
          <a:prstGeom prst="rect">
            <a:avLst/>
          </a:prstGeom>
          <a:noFill/>
          <a:ln/>
        </p:spPr>
        <p:txBody>
          <a:bodyPr wrap="square" lIns="0" tIns="0" rIns="0" bIns="0" rtlCol="0" anchor="ctr"/>
          <a:lstStyle/>
          <a:p>
            <a:pPr indent="0" marL="0">
              <a:buNone/>
            </a:pPr>
            <a:r>
              <a:rPr lang="en-US" sz="1450" i="1" dirty="0">
                <a:solidFill>
                  <a:srgbClr val="7A6E64"/>
                </a:solidFill>
                <a:latin typeface="Calibri" pitchFamily="34" charset="0"/>
                <a:ea typeface="Calibri" pitchFamily="34" charset="-122"/>
                <a:cs typeface="Calibri" pitchFamily="34" charset="-120"/>
              </a:rPr>
              <a:t>A demonstrated review pattern with a healthcare beachhead — not a medical device.</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1210"/>
        </a:solidFill>
      </p:bgPr>
    </p:bg>
    <p:spTree>
      <p:nvGrpSpPr>
        <p:cNvPr id="1" name=""/>
        <p:cNvGrpSpPr/>
        <p:nvPr/>
      </p:nvGrpSpPr>
      <p:grpSpPr>
        <a:xfrm>
          <a:off x="0" y="0"/>
          <a:ext cx="0" cy="0"/>
          <a:chOff x="0" y="0"/>
          <a:chExt cx="0" cy="0"/>
        </a:xfrm>
      </p:grpSpPr>
      <p:sp>
        <p:nvSpPr>
          <p:cNvPr id="2" name="Text 0"/>
          <p:cNvSpPr/>
          <p:nvPr/>
        </p:nvSpPr>
        <p:spPr>
          <a:xfrm>
            <a:off x="777240" y="1691640"/>
            <a:ext cx="10634472" cy="320040"/>
          </a:xfrm>
          <a:prstGeom prst="rect">
            <a:avLst/>
          </a:prstGeom>
          <a:noFill/>
          <a:ln/>
        </p:spPr>
        <p:txBody>
          <a:bodyPr wrap="square" lIns="0" tIns="0" rIns="0" bIns="0" rtlCol="0" anchor="ctr"/>
          <a:lstStyle/>
          <a:p>
            <a:pPr indent="0" marL="0">
              <a:buNone/>
            </a:pPr>
            <a:r>
              <a:rPr lang="en-US" sz="1100" b="1" spc="600" kern="0" dirty="0">
                <a:solidFill>
                  <a:srgbClr val="E2571F"/>
                </a:solidFill>
                <a:latin typeface="Courier New" pitchFamily="34" charset="0"/>
                <a:ea typeface="Courier New" pitchFamily="34" charset="-122"/>
                <a:cs typeface="Courier New" pitchFamily="34" charset="-120"/>
              </a:rPr>
              <a:t>CRUCIBLE</a:t>
            </a:r>
            <a:endParaRPr lang="en-US" sz="1100" dirty="0"/>
          </a:p>
        </p:txBody>
      </p:sp>
      <p:sp>
        <p:nvSpPr>
          <p:cNvPr id="3" name="Text 1"/>
          <p:cNvSpPr/>
          <p:nvPr/>
        </p:nvSpPr>
        <p:spPr>
          <a:xfrm>
            <a:off x="777240" y="2240280"/>
            <a:ext cx="10424160" cy="1920240"/>
          </a:xfrm>
          <a:prstGeom prst="rect">
            <a:avLst/>
          </a:prstGeom>
          <a:noFill/>
          <a:ln/>
        </p:spPr>
        <p:txBody>
          <a:bodyPr wrap="square" lIns="0" tIns="0" rIns="0" bIns="0" rtlCol="0" anchor="ctr"/>
          <a:lstStyle/>
          <a:p>
            <a:pPr indent="0" marL="0">
              <a:lnSpc>
                <a:spcPts val="7000"/>
              </a:lnSpc>
              <a:buNone/>
            </a:pPr>
            <a:r>
              <a:rPr lang="en-US" sz="5600" b="1" dirty="0">
                <a:solidFill>
                  <a:srgbClr val="F3ECE2"/>
                </a:solidFill>
                <a:latin typeface="Bookman Old Style" pitchFamily="34" charset="0"/>
                <a:ea typeface="Bookman Old Style" pitchFamily="34" charset="-122"/>
                <a:cs typeface="Bookman Old Style" pitchFamily="34" charset="-120"/>
              </a:rPr>
              <a:t>An AI that doubts itself</a:t>
            </a:r>
            <a:endParaRPr lang="en-US" sz="5600" dirty="0"/>
          </a:p>
          <a:p>
            <a:pPr indent="0" marL="0">
              <a:lnSpc>
                <a:spcPts val="7000"/>
              </a:lnSpc>
              <a:buNone/>
            </a:pPr>
            <a:r>
              <a:rPr lang="en-US" sz="5600" b="1" dirty="0">
                <a:solidFill>
                  <a:srgbClr val="F3ECE2"/>
                </a:solidFill>
                <a:latin typeface="Bookman Old Style" pitchFamily="34" charset="0"/>
                <a:ea typeface="Bookman Old Style" pitchFamily="34" charset="-122"/>
                <a:cs typeface="Bookman Old Style" pitchFamily="34" charset="-120"/>
              </a:rPr>
              <a:t>on purpose.</a:t>
            </a:r>
            <a:endParaRPr lang="en-US" sz="5600" dirty="0"/>
          </a:p>
        </p:txBody>
      </p:sp>
      <p:sp>
        <p:nvSpPr>
          <p:cNvPr id="4" name="Text 2"/>
          <p:cNvSpPr/>
          <p:nvPr/>
        </p:nvSpPr>
        <p:spPr>
          <a:xfrm>
            <a:off x="777240" y="4434840"/>
            <a:ext cx="10058400" cy="548640"/>
          </a:xfrm>
          <a:prstGeom prst="rect">
            <a:avLst/>
          </a:prstGeom>
          <a:noFill/>
          <a:ln/>
        </p:spPr>
        <p:txBody>
          <a:bodyPr wrap="square" lIns="0" tIns="0" rIns="0" bIns="0" rtlCol="0" anchor="ctr"/>
          <a:lstStyle/>
          <a:p>
            <a:pPr indent="0" marL="0">
              <a:buNone/>
            </a:pPr>
            <a:r>
              <a:rPr lang="en-US" sz="2100" i="1" dirty="0">
                <a:solidFill>
                  <a:srgbClr val="E8A33D"/>
                </a:solidFill>
                <a:latin typeface="Bookman Old Style" pitchFamily="34" charset="0"/>
                <a:ea typeface="Bookman Old Style" pitchFamily="34" charset="-122"/>
                <a:cs typeface="Bookman Old Style" pitchFamily="34" charset="-120"/>
              </a:rPr>
              <a:t>And that is the one thing that makes it safe to act.</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Crucible — Tested by Fire</dc:title>
  <dc:subject>PptxGenJS Presentation</dc:subject>
  <dc:creator>Crucible</dc:creator>
  <cp:lastModifiedBy>Crucible</cp:lastModifiedBy>
  <cp:revision>1</cp:revision>
  <dcterms:created xsi:type="dcterms:W3CDTF">2026-07-26T21:39:53Z</dcterms:created>
  <dcterms:modified xsi:type="dcterms:W3CDTF">2026-07-26T21:39:53Z</dcterms:modified>
</cp:coreProperties>
</file>